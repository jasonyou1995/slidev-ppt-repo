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3.xml" ContentType="application/vnd.openxmlformats-officedocument.theme+xml"/>
  <Override PartName="/ppt/slideLayouts/slideLayout11.xml" ContentType="application/vnd.openxmlformats-officedocument.presentationml.slideLayout+xml"/>
  <Override PartName="/ppt/theme/theme4.xml" ContentType="application/vnd.openxmlformats-officedocument.theme+xml"/>
  <Override PartName="/ppt/slideLayouts/slideLayout1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media/image8.jpg" ContentType="image/jp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62" r:id="rId2"/>
    <p:sldMasterId id="2147483668" r:id="rId3"/>
    <p:sldMasterId id="2147483666" r:id="rId4"/>
    <p:sldMasterId id="2147483678" r:id="rId5"/>
  </p:sldMasterIdLst>
  <p:notesMasterIdLst>
    <p:notesMasterId r:id="rId52"/>
  </p:notesMasterIdLst>
  <p:sldIdLst>
    <p:sldId id="257" r:id="rId6"/>
    <p:sldId id="434" r:id="rId7"/>
    <p:sldId id="509" r:id="rId8"/>
    <p:sldId id="510" r:id="rId9"/>
    <p:sldId id="511" r:id="rId10"/>
    <p:sldId id="512" r:id="rId11"/>
    <p:sldId id="513" r:id="rId12"/>
    <p:sldId id="514" r:id="rId13"/>
    <p:sldId id="515" r:id="rId14"/>
    <p:sldId id="516" r:id="rId15"/>
    <p:sldId id="517" r:id="rId16"/>
    <p:sldId id="518" r:id="rId17"/>
    <p:sldId id="435" r:id="rId18"/>
    <p:sldId id="482" r:id="rId19"/>
    <p:sldId id="486" r:id="rId20"/>
    <p:sldId id="436" r:id="rId21"/>
    <p:sldId id="437" r:id="rId22"/>
    <p:sldId id="487" r:id="rId23"/>
    <p:sldId id="483" r:id="rId24"/>
    <p:sldId id="488" r:id="rId25"/>
    <p:sldId id="484" r:id="rId26"/>
    <p:sldId id="485" r:id="rId27"/>
    <p:sldId id="490" r:id="rId28"/>
    <p:sldId id="489" r:id="rId29"/>
    <p:sldId id="491" r:id="rId30"/>
    <p:sldId id="492" r:id="rId31"/>
    <p:sldId id="493" r:id="rId32"/>
    <p:sldId id="494" r:id="rId33"/>
    <p:sldId id="495" r:id="rId34"/>
    <p:sldId id="496" r:id="rId35"/>
    <p:sldId id="498" r:id="rId36"/>
    <p:sldId id="497" r:id="rId37"/>
    <p:sldId id="499" r:id="rId38"/>
    <p:sldId id="500" r:id="rId39"/>
    <p:sldId id="501" r:id="rId40"/>
    <p:sldId id="502" r:id="rId41"/>
    <p:sldId id="503" r:id="rId42"/>
    <p:sldId id="504" r:id="rId43"/>
    <p:sldId id="505" r:id="rId44"/>
    <p:sldId id="506" r:id="rId45"/>
    <p:sldId id="507" r:id="rId46"/>
    <p:sldId id="508" r:id="rId47"/>
    <p:sldId id="519" r:id="rId48"/>
    <p:sldId id="520" r:id="rId49"/>
    <p:sldId id="521" r:id="rId50"/>
    <p:sldId id="522" r:id="rId51"/>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3A1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950" autoAdjust="0"/>
    <p:restoredTop sz="86658" autoAdjust="0"/>
  </p:normalViewPr>
  <p:slideViewPr>
    <p:cSldViewPr snapToGrid="0" snapToObjects="1">
      <p:cViewPr varScale="1">
        <p:scale>
          <a:sx n="111" d="100"/>
          <a:sy n="111" d="100"/>
        </p:scale>
        <p:origin x="60" y="108"/>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presProps" Target="presProps.xml"/><Relationship Id="rId5" Type="http://schemas.openxmlformats.org/officeDocument/2006/relationships/slideMaster" Target="slideMasters/slideMaster5.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tableStyles" Target="tableStyle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99960F-B807-A74F-B8DB-1D1D0F93A012}" type="datetimeFigureOut">
              <a:rPr lang="en-US" smtClean="0"/>
              <a:t>11/19/2025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003B5B-1BF2-1E4B-BC6C-E658910A5D94}" type="slidenum">
              <a:rPr lang="en-US" smtClean="0"/>
              <a:t>‹#›</a:t>
            </a:fld>
            <a:endParaRPr lang="en-US"/>
          </a:p>
        </p:txBody>
      </p:sp>
    </p:spTree>
    <p:extLst>
      <p:ext uri="{BB962C8B-B14F-4D97-AF65-F5344CB8AC3E}">
        <p14:creationId xmlns:p14="http://schemas.microsoft.com/office/powerpoint/2010/main" val="6807497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over">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143000" y="841772"/>
            <a:ext cx="6858000" cy="1790700"/>
          </a:xfrm>
          <a:prstGeom prst="rect">
            <a:avLst/>
          </a:prstGeom>
        </p:spPr>
        <p:txBody>
          <a:bodyPr anchor="b"/>
          <a:lstStyle>
            <a:lvl1pPr algn="ctr">
              <a:defRPr sz="4800" b="1">
                <a:solidFill>
                  <a:srgbClr val="C00000"/>
                </a:solidFill>
                <a:latin typeface="Arial" panose="020B0604020202020204" pitchFamily="34" charset="0"/>
                <a:cs typeface="Arial" panose="020B0604020202020204" pitchFamily="34" charset="0"/>
              </a:defRPr>
            </a:lvl1pPr>
          </a:lstStyle>
          <a:p>
            <a:r>
              <a:rPr lang="en-US" dirty="0"/>
              <a:t>Cover</a:t>
            </a:r>
          </a:p>
        </p:txBody>
      </p:sp>
      <p:sp>
        <p:nvSpPr>
          <p:cNvPr id="3" name="Subtitle 2"/>
          <p:cNvSpPr>
            <a:spLocks noGrp="1"/>
          </p:cNvSpPr>
          <p:nvPr>
            <p:ph type="subTitle" idx="1" hasCustomPrompt="1"/>
          </p:nvPr>
        </p:nvSpPr>
        <p:spPr>
          <a:xfrm>
            <a:off x="1143000" y="3257155"/>
            <a:ext cx="6858000" cy="1241822"/>
          </a:xfrm>
          <a:prstGeom prst="rect">
            <a:avLst/>
          </a:prstGeom>
        </p:spPr>
        <p:txBody>
          <a:bodyPr/>
          <a:lstStyle>
            <a:lvl1pPr marL="0" indent="0" algn="ctr">
              <a:buNone/>
              <a:defRPr sz="2000">
                <a:solidFill>
                  <a:srgbClr val="0070C0"/>
                </a:solidFill>
                <a:latin typeface="Arial" panose="020B0604020202020204" pitchFamily="34" charset="0"/>
                <a:cs typeface="Arial" panose="020B0604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July 2019</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conten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97212" y="0"/>
            <a:ext cx="6858000" cy="721536"/>
          </a:xfrm>
          <a:prstGeom prst="rect">
            <a:avLst/>
          </a:prstGeom>
        </p:spPr>
        <p:txBody>
          <a:bodyPr anchor="b"/>
          <a:lstStyle>
            <a:lvl1pPr algn="l">
              <a:defRPr sz="3000" b="1">
                <a:solidFill>
                  <a:srgbClr val="C00000"/>
                </a:solidFill>
                <a:latin typeface="Arial" panose="020B0604020202020204" pitchFamily="34" charset="0"/>
                <a:cs typeface="Arial" panose="020B0604020202020204" pitchFamily="34" charset="0"/>
              </a:defRPr>
            </a:lvl1pPr>
          </a:lstStyle>
          <a:p>
            <a:r>
              <a:rPr lang="en-US" dirty="0"/>
              <a:t>Heading</a:t>
            </a:r>
          </a:p>
        </p:txBody>
      </p:sp>
      <p:sp>
        <p:nvSpPr>
          <p:cNvPr id="3" name="Subtitle 2"/>
          <p:cNvSpPr>
            <a:spLocks noGrp="1"/>
          </p:cNvSpPr>
          <p:nvPr>
            <p:ph type="subTitle" idx="1" hasCustomPrompt="1"/>
          </p:nvPr>
        </p:nvSpPr>
        <p:spPr>
          <a:xfrm>
            <a:off x="397212" y="1028770"/>
            <a:ext cx="6858000" cy="1241425"/>
          </a:xfrm>
          <a:prstGeom prst="rect">
            <a:avLst/>
          </a:prstGeom>
        </p:spPr>
        <p:txBody>
          <a:bodyPr>
            <a:normAutofit/>
          </a:bodyPr>
          <a:lstStyle>
            <a:lvl1pPr marL="0" indent="0" algn="l">
              <a:buNone/>
              <a:defRPr sz="1600">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Content</a:t>
            </a:r>
          </a:p>
        </p:txBody>
      </p:sp>
      <p:sp>
        <p:nvSpPr>
          <p:cNvPr id="4" name="Slide Number Placeholder 3"/>
          <p:cNvSpPr>
            <a:spLocks noGrp="1"/>
          </p:cNvSpPr>
          <p:nvPr>
            <p:ph type="sldNum" sz="quarter" idx="10"/>
          </p:nvPr>
        </p:nvSpPr>
        <p:spPr/>
        <p:txBody>
          <a:bodyPr/>
          <a:lstStyle/>
          <a:p>
            <a:fld id="{AED1564D-4C26-2844-B3F0-6EEECE2A376E}" type="slidenum">
              <a:rPr lang="en-US" smtClean="0"/>
              <a:pPr/>
              <a:t>‹#›</a:t>
            </a:fld>
            <a:endParaRPr lang="en-US" dirty="0"/>
          </a:p>
        </p:txBody>
      </p:sp>
    </p:spTree>
    <p:extLst>
      <p:ext uri="{BB962C8B-B14F-4D97-AF65-F5344CB8AC3E}">
        <p14:creationId xmlns:p14="http://schemas.microsoft.com/office/powerpoint/2010/main" val="4999213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content2">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71272" y="77821"/>
            <a:ext cx="8266890" cy="673573"/>
          </a:xfrm>
          <a:prstGeom prst="rect">
            <a:avLst/>
          </a:prstGeom>
        </p:spPr>
        <p:txBody>
          <a:bodyPr anchor="b"/>
          <a:lstStyle>
            <a:lvl1pPr algn="l">
              <a:defRPr sz="3000" b="1" i="0">
                <a:solidFill>
                  <a:srgbClr val="C00000"/>
                </a:solidFill>
                <a:latin typeface="Arial" panose="020B0604020202020204" pitchFamily="34" charset="0"/>
                <a:ea typeface="Arial" panose="020B0604020202020204" pitchFamily="34" charset="0"/>
                <a:cs typeface="Arial" panose="020B0604020202020204" pitchFamily="34" charset="0"/>
              </a:defRPr>
            </a:lvl1pPr>
          </a:lstStyle>
          <a:p>
            <a:r>
              <a:rPr lang="en-US" dirty="0"/>
              <a:t>Heading here</a:t>
            </a:r>
          </a:p>
        </p:txBody>
      </p:sp>
      <p:sp>
        <p:nvSpPr>
          <p:cNvPr id="3" name="Subtitle 2"/>
          <p:cNvSpPr>
            <a:spLocks noGrp="1"/>
          </p:cNvSpPr>
          <p:nvPr>
            <p:ph type="subTitle" idx="1" hasCustomPrompt="1"/>
          </p:nvPr>
        </p:nvSpPr>
        <p:spPr>
          <a:xfrm>
            <a:off x="371272" y="989857"/>
            <a:ext cx="8266890" cy="1241425"/>
          </a:xfrm>
          <a:prstGeom prst="rect">
            <a:avLst/>
          </a:prstGeom>
        </p:spPr>
        <p:txBody>
          <a:bodyPr/>
          <a:lstStyle>
            <a:lvl1pPr marL="0" indent="0" algn="l">
              <a:buNone/>
              <a:defRPr sz="1600">
                <a:latin typeface="Arial" panose="020B0604020202020204" pitchFamily="34" charset="0"/>
                <a:ea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Content here</a:t>
            </a:r>
          </a:p>
        </p:txBody>
      </p:sp>
    </p:spTree>
    <p:extLst>
      <p:ext uri="{BB962C8B-B14F-4D97-AF65-F5344CB8AC3E}">
        <p14:creationId xmlns:p14="http://schemas.microsoft.com/office/powerpoint/2010/main" val="15696127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75735" y="274639"/>
            <a:ext cx="8281882" cy="665702"/>
          </a:xfrm>
          <a:prstGeom prst="rect">
            <a:avLst/>
          </a:prstGeom>
        </p:spPr>
        <p:txBody>
          <a:bodyPr/>
          <a:lstStyle>
            <a:lvl1pPr>
              <a:defRPr sz="3000" b="1" i="0">
                <a:solidFill>
                  <a:srgbClr val="C00000"/>
                </a:solidFill>
                <a:latin typeface="Arial" panose="020B0604020202020204" pitchFamily="34" charset="0"/>
                <a:ea typeface="Arial" panose="020B0604020202020204" pitchFamily="34" charset="0"/>
                <a:cs typeface="Arial" panose="020B0604020202020204" pitchFamily="34" charset="0"/>
              </a:defRPr>
            </a:lvl1pPr>
          </a:lstStyle>
          <a:p>
            <a:r>
              <a:rPr lang="en-US" dirty="0"/>
              <a:t>Heading here</a:t>
            </a:r>
          </a:p>
        </p:txBody>
      </p:sp>
      <p:sp>
        <p:nvSpPr>
          <p:cNvPr id="3" name="Content Placeholder 2"/>
          <p:cNvSpPr>
            <a:spLocks noGrp="1"/>
          </p:cNvSpPr>
          <p:nvPr>
            <p:ph idx="1"/>
          </p:nvPr>
        </p:nvSpPr>
        <p:spPr>
          <a:xfrm>
            <a:off x="447067" y="1032787"/>
            <a:ext cx="8210550" cy="3262312"/>
          </a:xfrm>
          <a:prstGeom prst="rect">
            <a:avLst/>
          </a:prstGeo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916972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23888" y="3441700"/>
            <a:ext cx="7886700" cy="1125538"/>
          </a:xfrm>
          <a:prstGeom prst="rect">
            <a:avLst/>
          </a:prstGeom>
        </p:spPr>
        <p:txBody>
          <a:bodyPr/>
          <a:lstStyle>
            <a:lvl1pPr marL="0" indent="0">
              <a:buNone/>
              <a:defRPr sz="2400">
                <a:solidFill>
                  <a:schemeClr val="tx1">
                    <a:tint val="75000"/>
                  </a:schemeClr>
                </a:solidFill>
                <a:latin typeface="Arial" panose="020B0604020202020204" pitchFamily="34" charset="0"/>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Title 6"/>
          <p:cNvSpPr>
            <a:spLocks noGrp="1"/>
          </p:cNvSpPr>
          <p:nvPr>
            <p:ph type="title"/>
          </p:nvPr>
        </p:nvSpPr>
        <p:spPr>
          <a:xfrm>
            <a:off x="492463" y="897208"/>
            <a:ext cx="7886700" cy="993775"/>
          </a:xfrm>
          <a:prstGeom prst="rect">
            <a:avLst/>
          </a:prstGeom>
        </p:spPr>
        <p:txBody>
          <a:bodyPr/>
          <a:lstStyle>
            <a:lvl1pPr>
              <a:defRPr>
                <a:latin typeface="Arial" panose="020B0604020202020204" pitchFamily="34" charset="0"/>
                <a:cs typeface="Arial"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246533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274638"/>
            <a:ext cx="7886700" cy="993775"/>
          </a:xfrm>
          <a:prstGeom prst="rect">
            <a:avLst/>
          </a:prstGeom>
        </p:spPr>
        <p:txBody>
          <a:bodyPr/>
          <a:lstStyle>
            <a:lvl1pPr>
              <a:defRPr>
                <a:latin typeface="Arial" panose="020B0604020202020204" pitchFamily="34" charset="0"/>
                <a:cs typeface="Arial" panose="020B0604020202020204" pitchFamily="34" charset="0"/>
              </a:defRPr>
            </a:lvl1pPr>
          </a:lstStyle>
          <a:p>
            <a:r>
              <a:rPr lang="en-US" dirty="0"/>
              <a:t>Click to edit Master title style</a:t>
            </a:r>
          </a:p>
        </p:txBody>
      </p:sp>
      <p:sp>
        <p:nvSpPr>
          <p:cNvPr id="3" name="Content Placeholder 2"/>
          <p:cNvSpPr>
            <a:spLocks noGrp="1"/>
          </p:cNvSpPr>
          <p:nvPr>
            <p:ph sz="half" idx="1"/>
          </p:nvPr>
        </p:nvSpPr>
        <p:spPr>
          <a:xfrm>
            <a:off x="628650" y="1370013"/>
            <a:ext cx="3867150" cy="3262312"/>
          </a:xfrm>
          <a:prstGeom prst="rect">
            <a:avLst/>
          </a:prstGeo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70013"/>
            <a:ext cx="3867150" cy="3262312"/>
          </a:xfrm>
          <a:prstGeom prst="rect">
            <a:avLst/>
          </a:prstGeo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28650" y="4767263"/>
            <a:ext cx="2057400" cy="274637"/>
          </a:xfrm>
          <a:prstGeom prst="rect">
            <a:avLst/>
          </a:prstGeom>
        </p:spPr>
        <p:txBody>
          <a:bodyPr/>
          <a:lstStyle/>
          <a:p>
            <a:endParaRPr lang="en-US"/>
          </a:p>
        </p:txBody>
      </p:sp>
      <p:sp>
        <p:nvSpPr>
          <p:cNvPr id="6" name="Footer Placeholder 5"/>
          <p:cNvSpPr>
            <a:spLocks noGrp="1"/>
          </p:cNvSpPr>
          <p:nvPr>
            <p:ph type="ftr" sz="quarter" idx="11"/>
          </p:nvPr>
        </p:nvSpPr>
        <p:spPr>
          <a:xfrm>
            <a:off x="3028950" y="4767263"/>
            <a:ext cx="3086100" cy="274637"/>
          </a:xfrm>
          <a:prstGeom prst="rect">
            <a:avLst/>
          </a:prstGeom>
        </p:spPr>
        <p:txBody>
          <a:bodyPr/>
          <a:lstStyle/>
          <a:p>
            <a:endParaRPr lang="en-US"/>
          </a:p>
        </p:txBody>
      </p:sp>
      <p:sp>
        <p:nvSpPr>
          <p:cNvPr id="7" name="Slide Number Placeholder 6"/>
          <p:cNvSpPr>
            <a:spLocks noGrp="1"/>
          </p:cNvSpPr>
          <p:nvPr>
            <p:ph type="sldNum" sz="quarter" idx="12"/>
          </p:nvPr>
        </p:nvSpPr>
        <p:spPr>
          <a:xfrm>
            <a:off x="6457950" y="4767263"/>
            <a:ext cx="2057400" cy="274637"/>
          </a:xfrm>
          <a:prstGeom prst="rect">
            <a:avLst/>
          </a:prstGeom>
        </p:spPr>
        <p:txBody>
          <a:bodyPr/>
          <a:lstStyle/>
          <a:p>
            <a:fld id="{F2996C1C-9902-BC4F-91AE-B30B38FC55CC}" type="slidenum">
              <a:rPr lang="en-US" smtClean="0"/>
              <a:t>‹#›</a:t>
            </a:fld>
            <a:endParaRPr lang="en-US"/>
          </a:p>
        </p:txBody>
      </p:sp>
    </p:spTree>
    <p:extLst>
      <p:ext uri="{BB962C8B-B14F-4D97-AF65-F5344CB8AC3E}">
        <p14:creationId xmlns:p14="http://schemas.microsoft.com/office/powerpoint/2010/main" val="9899239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6809" y="673640"/>
            <a:ext cx="2949575" cy="1031943"/>
          </a:xfrm>
          <a:prstGeom prst="rect">
            <a:avLst/>
          </a:prstGeom>
        </p:spPr>
        <p:txBody>
          <a:bodyPr anchor="b"/>
          <a:lstStyle>
            <a:lvl1pPr>
              <a:defRPr sz="2400" b="0" i="0">
                <a:latin typeface="Corbel" charset="0"/>
                <a:ea typeface="Corbel" charset="0"/>
                <a:cs typeface="Corbel" charset="0"/>
              </a:defRPr>
            </a:lvl1pPr>
          </a:lstStyle>
          <a:p>
            <a:r>
              <a:rPr lang="en-US" dirty="0"/>
              <a:t>Click to edit Master title style</a:t>
            </a:r>
          </a:p>
        </p:txBody>
      </p:sp>
      <p:sp>
        <p:nvSpPr>
          <p:cNvPr id="3" name="Picture Placeholder 2"/>
          <p:cNvSpPr>
            <a:spLocks noGrp="1"/>
          </p:cNvSpPr>
          <p:nvPr>
            <p:ph type="pic" idx="1" hasCustomPrompt="1"/>
          </p:nvPr>
        </p:nvSpPr>
        <p:spPr>
          <a:xfrm>
            <a:off x="3809967" y="871065"/>
            <a:ext cx="4847650" cy="331182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Photo here</a:t>
            </a:r>
          </a:p>
        </p:txBody>
      </p:sp>
      <p:sp>
        <p:nvSpPr>
          <p:cNvPr id="4" name="Text Placeholder 3"/>
          <p:cNvSpPr>
            <a:spLocks noGrp="1"/>
          </p:cNvSpPr>
          <p:nvPr>
            <p:ph type="body" sz="half" idx="2"/>
          </p:nvPr>
        </p:nvSpPr>
        <p:spPr>
          <a:xfrm>
            <a:off x="396809" y="187379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20767558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ontent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63388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11/19/2025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9556769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00" b="1" i="0">
                <a:solidFill>
                  <a:schemeClr val="tx1"/>
                </a:solidFill>
                <a:latin typeface="Rockwell Condensed"/>
                <a:cs typeface="Rockwell Condensed"/>
              </a:defRPr>
            </a:lvl1pPr>
          </a:lstStyle>
          <a:p>
            <a:endParaRPr/>
          </a:p>
        </p:txBody>
      </p:sp>
      <p:sp>
        <p:nvSpPr>
          <p:cNvPr id="3" name="Holder 3"/>
          <p:cNvSpPr>
            <a:spLocks noGrp="1"/>
          </p:cNvSpPr>
          <p:nvPr>
            <p:ph sz="half" idx="2"/>
          </p:nvPr>
        </p:nvSpPr>
        <p:spPr>
          <a:xfrm>
            <a:off x="457200" y="1183005"/>
            <a:ext cx="3977640" cy="387798"/>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87798"/>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11/19/2025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8063819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ending pag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841375"/>
            <a:ext cx="8981872" cy="1790700"/>
          </a:xfrm>
          <a:prstGeom prst="rect">
            <a:avLst/>
          </a:prstGeom>
        </p:spPr>
        <p:txBody>
          <a:bodyPr anchor="b"/>
          <a:lstStyle>
            <a:lvl1pPr algn="ctr">
              <a:defRPr sz="4800" b="1" i="0">
                <a:solidFill>
                  <a:srgbClr val="C00000"/>
                </a:solidFill>
                <a:latin typeface="Arial" panose="020B0604020202020204" pitchFamily="34" charset="0"/>
                <a:ea typeface="Arial" panose="020B0604020202020204" pitchFamily="34" charset="0"/>
                <a:cs typeface="Arial" panose="020B0604020202020204" pitchFamily="34" charset="0"/>
              </a:defRPr>
            </a:lvl1pPr>
          </a:lstStyle>
          <a:p>
            <a:r>
              <a:rPr lang="en-US" dirty="0"/>
              <a:t>Thank You</a:t>
            </a:r>
          </a:p>
        </p:txBody>
      </p:sp>
    </p:spTree>
    <p:extLst>
      <p:ext uri="{BB962C8B-B14F-4D97-AF65-F5344CB8AC3E}">
        <p14:creationId xmlns:p14="http://schemas.microsoft.com/office/powerpoint/2010/main" val="1891092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643837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theme" Target="../theme/theme2.xml"/><Relationship Id="rId1" Type="http://schemas.openxmlformats.org/officeDocument/2006/relationships/slideLayout" Target="../slideLayouts/slideLayout2.xml"/><Relationship Id="rId4" Type="http://schemas.openxmlformats.org/officeDocument/2006/relationships/image" Target="../media/image3.jp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image" Target="../media/image3.jpg"/><Relationship Id="rId5" Type="http://schemas.openxmlformats.org/officeDocument/2006/relationships/slideLayout" Target="../slideLayouts/slideLayout7.xml"/><Relationship Id="rId10" Type="http://schemas.openxmlformats.org/officeDocument/2006/relationships/image" Target="../media/image4.jpg"/><Relationship Id="rId4" Type="http://schemas.openxmlformats.org/officeDocument/2006/relationships/slideLayout" Target="../slideLayouts/slideLayout6.xml"/><Relationship Id="rId9"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theme" Target="../theme/theme4.xml"/><Relationship Id="rId1" Type="http://schemas.openxmlformats.org/officeDocument/2006/relationships/slideLayout" Target="../slideLayouts/slideLayout11.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 y="7422"/>
            <a:ext cx="9144000" cy="893825"/>
          </a:xfrm>
          <a:prstGeom prst="rect">
            <a:avLst/>
          </a:prstGeom>
        </p:spPr>
      </p:pic>
    </p:spTree>
    <p:extLst>
      <p:ext uri="{BB962C8B-B14F-4D97-AF65-F5344CB8AC3E}">
        <p14:creationId xmlns:p14="http://schemas.microsoft.com/office/powerpoint/2010/main" val="1403870387"/>
      </p:ext>
    </p:extLst>
  </p:cSld>
  <p:clrMap bg1="lt1" tx1="dk1" bg2="lt2" tx2="dk2" accent1="accent1" accent2="accent2" accent3="accent3" accent4="accent4" accent5="accent5" accent6="accent6" hlink="hlink" folHlink="folHlink"/>
  <p:sldLayoutIdLst>
    <p:sldLayoutId id="2147483661" r:id="rId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 y="694286"/>
            <a:ext cx="9144000" cy="162387"/>
          </a:xfrm>
          <a:prstGeom prst="rect">
            <a:avLst/>
          </a:prstGeom>
        </p:spPr>
      </p:pic>
      <p:pic>
        <p:nvPicPr>
          <p:cNvPr id="9" name="Picture 8"/>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285" y="4345666"/>
            <a:ext cx="9142715" cy="788755"/>
          </a:xfrm>
          <a:prstGeom prst="rect">
            <a:avLst/>
          </a:prstGeom>
        </p:spPr>
      </p:pic>
      <p:sp>
        <p:nvSpPr>
          <p:cNvPr id="4" name="Slide Number Placeholder 3"/>
          <p:cNvSpPr>
            <a:spLocks noGrp="1"/>
          </p:cNvSpPr>
          <p:nvPr>
            <p:ph type="sldNum" sz="quarter" idx="4"/>
          </p:nvPr>
        </p:nvSpPr>
        <p:spPr>
          <a:xfrm>
            <a:off x="8242569" y="638160"/>
            <a:ext cx="525699" cy="274637"/>
          </a:xfrm>
          <a:prstGeom prst="rect">
            <a:avLst/>
          </a:prstGeom>
        </p:spPr>
        <p:txBody>
          <a:bodyPr vert="horz" lIns="91440" tIns="45720" rIns="91440" bIns="45720" rtlCol="0" anchor="ctr"/>
          <a:lstStyle>
            <a:lvl1pPr algn="r">
              <a:defRPr sz="1400" b="1">
                <a:solidFill>
                  <a:schemeClr val="tx1">
                    <a:tint val="75000"/>
                  </a:schemeClr>
                </a:solidFill>
              </a:defRPr>
            </a:lvl1pPr>
          </a:lstStyle>
          <a:p>
            <a:fld id="{AED1564D-4C26-2844-B3F0-6EEECE2A376E}" type="slidenum">
              <a:rPr lang="en-US" smtClean="0"/>
              <a:pPr/>
              <a:t>‹#›</a:t>
            </a:fld>
            <a:endParaRPr lang="en-US" dirty="0"/>
          </a:p>
        </p:txBody>
      </p:sp>
    </p:spTree>
    <p:extLst>
      <p:ext uri="{BB962C8B-B14F-4D97-AF65-F5344CB8AC3E}">
        <p14:creationId xmlns:p14="http://schemas.microsoft.com/office/powerpoint/2010/main" val="986821927"/>
      </p:ext>
    </p:extLst>
  </p:cSld>
  <p:clrMap bg1="lt1" tx1="dk1" bg2="lt2" tx2="dk2" accent1="accent1" accent2="accent2" accent3="accent3" accent4="accent4" accent5="accent5" accent6="accent6" hlink="hlink" folHlink="folHlink"/>
  <p:sldLayoutIdLst>
    <p:sldLayoutId id="2147483663"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1285" y="694286"/>
            <a:ext cx="9143679" cy="162380"/>
          </a:xfrm>
          <a:prstGeom prst="rect">
            <a:avLst/>
          </a:prstGeom>
        </p:spPr>
      </p:pic>
      <p:pic>
        <p:nvPicPr>
          <p:cNvPr id="8" name="Picture 7"/>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1285" y="4345666"/>
            <a:ext cx="9142715" cy="788755"/>
          </a:xfrm>
          <a:prstGeom prst="rect">
            <a:avLst/>
          </a:prstGeom>
        </p:spPr>
      </p:pic>
    </p:spTree>
    <p:extLst>
      <p:ext uri="{BB962C8B-B14F-4D97-AF65-F5344CB8AC3E}">
        <p14:creationId xmlns:p14="http://schemas.microsoft.com/office/powerpoint/2010/main" val="847868365"/>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7" r:id="rId5"/>
    <p:sldLayoutId id="2147483675" r:id="rId6"/>
    <p:sldLayoutId id="2147483681" r:id="rId7"/>
    <p:sldLayoutId id="2147483682" r:id="rId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285" y="4345302"/>
            <a:ext cx="9142715" cy="788755"/>
          </a:xfrm>
          <a:prstGeom prst="rect">
            <a:avLst/>
          </a:prstGeom>
        </p:spPr>
      </p:pic>
    </p:spTree>
    <p:extLst>
      <p:ext uri="{BB962C8B-B14F-4D97-AF65-F5344CB8AC3E}">
        <p14:creationId xmlns:p14="http://schemas.microsoft.com/office/powerpoint/2010/main" val="792204898"/>
      </p:ext>
    </p:extLst>
  </p:cSld>
  <p:clrMap bg1="lt1" tx1="dk1" bg2="lt2" tx2="dk2" accent1="accent1" accent2="accent2" accent3="accent3" accent4="accent4" accent5="accent5" accent6="accent6" hlink="hlink" folHlink="folHlink"/>
  <p:sldLayoutIdLst>
    <p:sldLayoutId id="2147483667"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EC291D0-66A8-40A2-A1F0-4F9C8393006E}"/>
              </a:ext>
            </a:extLst>
          </p:cNvPr>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B62132D-EACA-4746-A658-F5872469F034}"/>
              </a:ext>
            </a:extLst>
          </p:cNvPr>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B51D25-B4D0-4194-B15A-ED7934F3540B}"/>
              </a:ext>
            </a:extLst>
          </p:cNvPr>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fld id="{8F6C6A68-5DFF-4244-8AB7-1A0E42852C31}" type="datetimeFigureOut">
              <a:rPr lang="en-US" smtClean="0"/>
              <a:t>11/19/2025</a:t>
            </a:fld>
            <a:endParaRPr lang="en-US"/>
          </a:p>
        </p:txBody>
      </p:sp>
      <p:sp>
        <p:nvSpPr>
          <p:cNvPr id="5" name="Footer Placeholder 4">
            <a:extLst>
              <a:ext uri="{FF2B5EF4-FFF2-40B4-BE49-F238E27FC236}">
                <a16:creationId xmlns:a16="http://schemas.microsoft.com/office/drawing/2014/main" id="{49ABF636-EDB4-404E-8AA5-D22F750DE069}"/>
              </a:ext>
            </a:extLst>
          </p:cNvPr>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A575B24-AD30-41FE-BCE1-BB0C021A3B12}"/>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3519B407-F67B-4A9E-ABFB-CAF0F3116853}" type="slidenum">
              <a:rPr lang="en-US" smtClean="0"/>
              <a:t>‹#›</a:t>
            </a:fld>
            <a:endParaRPr lang="en-US"/>
          </a:p>
        </p:txBody>
      </p:sp>
    </p:spTree>
    <p:extLst>
      <p:ext uri="{BB962C8B-B14F-4D97-AF65-F5344CB8AC3E}">
        <p14:creationId xmlns:p14="http://schemas.microsoft.com/office/powerpoint/2010/main" val="3391603509"/>
      </p:ext>
    </p:extLst>
  </p:cSld>
  <p:clrMap bg1="lt1" tx1="dk1" bg2="lt2" tx2="dk2" accent1="accent1" accent2="accent2" accent3="accent3" accent4="accent4" accent5="accent5" accent6="accent6" hlink="hlink" folHlink="folHlink"/>
  <p:sldLayoutIdLst>
    <p:sldLayoutId id="214748367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hyperlink" Target="https://raw.githubusercontent.com/stedy/Machine-Learning-with-R-datasets/master/insurance.csv" TargetMode="Externa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193401"/>
            <a:ext cx="7486650" cy="746127"/>
          </a:xfrm>
        </p:spPr>
        <p:txBody>
          <a:bodyPr/>
          <a:lstStyle/>
          <a:p>
            <a:pPr algn="l"/>
            <a:r>
              <a:rPr lang="en-US" sz="2800" dirty="0"/>
              <a:t>FIN7830</a:t>
            </a:r>
            <a:br>
              <a:rPr lang="en-US" sz="2800" dirty="0"/>
            </a:br>
            <a:r>
              <a:rPr lang="en-US" sz="2800" dirty="0"/>
              <a:t>Financial Computing with Python</a:t>
            </a:r>
          </a:p>
        </p:txBody>
      </p:sp>
      <p:sp>
        <p:nvSpPr>
          <p:cNvPr id="3" name="Subtitle 2"/>
          <p:cNvSpPr>
            <a:spLocks noGrp="1"/>
          </p:cNvSpPr>
          <p:nvPr>
            <p:ph type="subTitle" idx="1"/>
          </p:nvPr>
        </p:nvSpPr>
        <p:spPr>
          <a:xfrm>
            <a:off x="1143000" y="2614213"/>
            <a:ext cx="6858000" cy="443312"/>
          </a:xfrm>
        </p:spPr>
        <p:txBody>
          <a:bodyPr/>
          <a:lstStyle/>
          <a:p>
            <a:r>
              <a:rPr lang="en-US" sz="3200" dirty="0"/>
              <a:t>Topic 9</a:t>
            </a:r>
          </a:p>
          <a:p>
            <a:r>
              <a:rPr lang="en-US" sz="2400" dirty="0"/>
              <a:t>Machine Learning and Scikit-Learn</a:t>
            </a:r>
            <a:endParaRPr lang="en-US" sz="3200" dirty="0"/>
          </a:p>
        </p:txBody>
      </p:sp>
    </p:spTree>
    <p:extLst>
      <p:ext uri="{BB962C8B-B14F-4D97-AF65-F5344CB8AC3E}">
        <p14:creationId xmlns:p14="http://schemas.microsoft.com/office/powerpoint/2010/main" val="20269660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51A84-5473-7780-E44D-002727B595A1}"/>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D6C5CCFB-9E14-4035-C501-890D3BFAEB4D}"/>
              </a:ext>
            </a:extLst>
          </p:cNvPr>
          <p:cNvSpPr>
            <a:spLocks noGrp="1"/>
          </p:cNvSpPr>
          <p:nvPr>
            <p:ph idx="1"/>
          </p:nvPr>
        </p:nvSpPr>
        <p:spPr/>
        <p:txBody>
          <a:bodyPr/>
          <a:lstStyle/>
          <a:p>
            <a:r>
              <a:rPr lang="en-GB" sz="1800" b="1" dirty="0"/>
              <a:t>Recap &amp; The Final Piece</a:t>
            </a:r>
          </a:p>
          <a:p>
            <a:r>
              <a:rPr lang="en-GB" sz="1800" b="1" dirty="0"/>
              <a:t>What is Machine Learning?</a:t>
            </a:r>
            <a:r>
              <a:rPr lang="en-GB" sz="1800" dirty="0"/>
              <a:t> A Conceptual Overview for Finance.</a:t>
            </a:r>
          </a:p>
          <a:p>
            <a:pPr lvl="1"/>
            <a:r>
              <a:rPr lang="en-GB" sz="1600" dirty="0"/>
              <a:t>Supervised vs. Unsupervised Learning.</a:t>
            </a:r>
          </a:p>
          <a:p>
            <a:pPr lvl="1"/>
            <a:r>
              <a:rPr lang="en-GB" sz="1600" dirty="0"/>
              <a:t>Classification vs. Regression.</a:t>
            </a:r>
          </a:p>
          <a:p>
            <a:r>
              <a:rPr lang="en-GB" sz="1800" b="1" dirty="0"/>
              <a:t>Introducing Scikit-Learn:</a:t>
            </a:r>
            <a:r>
              <a:rPr lang="en-GB" sz="1800" dirty="0"/>
              <a:t> The "Swiss Army Knife" for ML in Python.</a:t>
            </a:r>
          </a:p>
          <a:p>
            <a:r>
              <a:rPr lang="en-GB" sz="1800" b="1" dirty="0"/>
              <a:t>The Core Machine Learning Workflow:</a:t>
            </a:r>
            <a:endParaRPr lang="en-GB" sz="1800" dirty="0"/>
          </a:p>
          <a:p>
            <a:pPr lvl="1"/>
            <a:r>
              <a:rPr lang="en-GB" sz="1600" dirty="0"/>
              <a:t>Step 1: Get the Data (Features &amp; Target).</a:t>
            </a:r>
          </a:p>
          <a:p>
            <a:pPr lvl="1"/>
            <a:r>
              <a:rPr lang="en-GB" sz="1600" dirty="0"/>
              <a:t>Step 2: Split Data (Train &amp; Test).</a:t>
            </a:r>
          </a:p>
          <a:p>
            <a:pPr lvl="1"/>
            <a:r>
              <a:rPr lang="en-GB" sz="1600" dirty="0"/>
              <a:t>Step 3: Choose &amp; Train a Model.</a:t>
            </a:r>
          </a:p>
          <a:p>
            <a:pPr lvl="1"/>
            <a:r>
              <a:rPr lang="en-GB" sz="1600" dirty="0"/>
              <a:t>Step 4: Evaluate the Model.</a:t>
            </a:r>
          </a:p>
          <a:p>
            <a:pPr lvl="1"/>
            <a:r>
              <a:rPr lang="en-GB" sz="1600" dirty="0"/>
              <a:t>Step 5: Make Predictions.</a:t>
            </a:r>
          </a:p>
        </p:txBody>
      </p:sp>
    </p:spTree>
    <p:extLst>
      <p:ext uri="{BB962C8B-B14F-4D97-AF65-F5344CB8AC3E}">
        <p14:creationId xmlns:p14="http://schemas.microsoft.com/office/powerpoint/2010/main" val="7098679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C77B9-7953-A819-2413-B02A1DDF1776}"/>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53B4C0AE-BC5C-7727-8E27-39DC702BABF1}"/>
              </a:ext>
            </a:extLst>
          </p:cNvPr>
          <p:cNvSpPr>
            <a:spLocks noGrp="1"/>
          </p:cNvSpPr>
          <p:nvPr>
            <p:ph type="body" idx="1"/>
          </p:nvPr>
        </p:nvSpPr>
        <p:spPr/>
        <p:txBody>
          <a:bodyPr/>
          <a:lstStyle/>
          <a:p>
            <a:endParaRPr lang="en-US"/>
          </a:p>
        </p:txBody>
      </p:sp>
      <p:sp>
        <p:nvSpPr>
          <p:cNvPr id="4" name="Title 3">
            <a:extLst>
              <a:ext uri="{FF2B5EF4-FFF2-40B4-BE49-F238E27FC236}">
                <a16:creationId xmlns:a16="http://schemas.microsoft.com/office/drawing/2014/main" id="{3947D252-B59C-5EE8-AFBD-BED0320B4687}"/>
              </a:ext>
            </a:extLst>
          </p:cNvPr>
          <p:cNvSpPr>
            <a:spLocks noGrp="1"/>
          </p:cNvSpPr>
          <p:nvPr>
            <p:ph type="title"/>
          </p:nvPr>
        </p:nvSpPr>
        <p:spPr/>
        <p:txBody>
          <a:bodyPr/>
          <a:lstStyle/>
          <a:p>
            <a:r>
              <a:rPr lang="en-US" dirty="0"/>
              <a:t>Topic Modeling </a:t>
            </a:r>
          </a:p>
        </p:txBody>
      </p:sp>
    </p:spTree>
    <p:extLst>
      <p:ext uri="{BB962C8B-B14F-4D97-AF65-F5344CB8AC3E}">
        <p14:creationId xmlns:p14="http://schemas.microsoft.com/office/powerpoint/2010/main" val="159968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033EB-2A86-0A7A-0401-1607D24B25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8CF12F-CE3E-812C-B9A0-3FA0889D4203}"/>
              </a:ext>
            </a:extLst>
          </p:cNvPr>
          <p:cNvSpPr>
            <a:spLocks noGrp="1"/>
          </p:cNvSpPr>
          <p:nvPr>
            <p:ph type="title"/>
          </p:nvPr>
        </p:nvSpPr>
        <p:spPr/>
        <p:txBody>
          <a:bodyPr/>
          <a:lstStyle/>
          <a:p>
            <a:r>
              <a:rPr lang="en-GB" sz="2400" dirty="0"/>
              <a:t>Beyond Sentiment - What Are People Talking About?</a:t>
            </a:r>
          </a:p>
        </p:txBody>
      </p:sp>
      <p:sp>
        <p:nvSpPr>
          <p:cNvPr id="3" name="Content Placeholder 2">
            <a:extLst>
              <a:ext uri="{FF2B5EF4-FFF2-40B4-BE49-F238E27FC236}">
                <a16:creationId xmlns:a16="http://schemas.microsoft.com/office/drawing/2014/main" id="{605286B2-4F58-8FF9-C620-E85DE6BA0700}"/>
              </a:ext>
            </a:extLst>
          </p:cNvPr>
          <p:cNvSpPr>
            <a:spLocks noGrp="1"/>
          </p:cNvSpPr>
          <p:nvPr>
            <p:ph idx="1"/>
          </p:nvPr>
        </p:nvSpPr>
        <p:spPr/>
        <p:txBody>
          <a:bodyPr/>
          <a:lstStyle/>
          <a:p>
            <a:r>
              <a:rPr lang="en-GB" sz="1800" dirty="0"/>
              <a:t>We've learned how to measure sentiment (Positive/Negative/Neutral).</a:t>
            </a:r>
          </a:p>
          <a:p>
            <a:r>
              <a:rPr lang="en-GB" sz="1800" dirty="0"/>
              <a:t>"Tesla's profits beat expectations, stock soars." -&gt; </a:t>
            </a:r>
            <a:r>
              <a:rPr lang="en-GB" sz="1800" b="1" dirty="0"/>
              <a:t>Positive</a:t>
            </a:r>
            <a:endParaRPr lang="en-GB" sz="1800" dirty="0"/>
          </a:p>
          <a:p>
            <a:r>
              <a:rPr lang="en-GB" sz="1800" dirty="0"/>
              <a:t>"Regulators launch investigation into the bank's trading practices." -&gt; </a:t>
            </a:r>
            <a:r>
              <a:rPr lang="en-GB" sz="1800" b="1" dirty="0"/>
              <a:t>Negative</a:t>
            </a:r>
            <a:endParaRPr lang="en-GB" sz="1800" dirty="0"/>
          </a:p>
          <a:p>
            <a:pPr marL="0" indent="0">
              <a:buNone/>
            </a:pPr>
            <a:r>
              <a:rPr lang="en-GB" sz="1800" dirty="0"/>
              <a:t>But what if you have 50,000 news articles? You might find the average sentiment is +0.15. That's good, but it doesn't answer the key questions:</a:t>
            </a:r>
          </a:p>
          <a:p>
            <a:r>
              <a:rPr lang="en-GB" sz="1800" i="1" dirty="0"/>
              <a:t>What</a:t>
            </a:r>
            <a:r>
              <a:rPr lang="en-GB" sz="1800" dirty="0"/>
              <a:t> are the positive stories about? (New products? Earnings? M&amp;A?)</a:t>
            </a:r>
          </a:p>
          <a:p>
            <a:r>
              <a:rPr lang="en-GB" sz="1800" i="1" dirty="0"/>
              <a:t>What</a:t>
            </a:r>
            <a:r>
              <a:rPr lang="en-GB" sz="1800" dirty="0"/>
              <a:t> are the negative stories about? (Lawsuits? Production delays? Management changes?)</a:t>
            </a:r>
          </a:p>
          <a:p>
            <a:pPr marL="0" indent="0">
              <a:buNone/>
            </a:pPr>
            <a:r>
              <a:rPr lang="en-GB" sz="1800" dirty="0"/>
              <a:t>We need a way to </a:t>
            </a:r>
            <a:r>
              <a:rPr lang="en-GB" sz="1800" b="1" dirty="0"/>
              <a:t>automatically discover the main themes or topics</a:t>
            </a:r>
            <a:r>
              <a:rPr lang="en-GB" sz="1800" dirty="0"/>
              <a:t> in a large collection of documents.</a:t>
            </a:r>
          </a:p>
        </p:txBody>
      </p:sp>
    </p:spTree>
    <p:extLst>
      <p:ext uri="{BB962C8B-B14F-4D97-AF65-F5344CB8AC3E}">
        <p14:creationId xmlns:p14="http://schemas.microsoft.com/office/powerpoint/2010/main" val="24632788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6A84F-0623-0445-04E1-7D7968B6E2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EB66F5-763E-B78A-634B-BA8696CE7BF2}"/>
              </a:ext>
            </a:extLst>
          </p:cNvPr>
          <p:cNvSpPr>
            <a:spLocks noGrp="1"/>
          </p:cNvSpPr>
          <p:nvPr>
            <p:ph type="title"/>
          </p:nvPr>
        </p:nvSpPr>
        <p:spPr/>
        <p:txBody>
          <a:bodyPr/>
          <a:lstStyle/>
          <a:p>
            <a:r>
              <a:rPr lang="en-GB" sz="3200" dirty="0"/>
              <a:t>Introduction to Topic </a:t>
            </a:r>
            <a:r>
              <a:rPr lang="en-GB" sz="3200" dirty="0" err="1"/>
              <a:t>Modeling</a:t>
            </a:r>
            <a:br>
              <a:rPr lang="en-GB" sz="3200" dirty="0"/>
            </a:br>
            <a:endParaRPr lang="en-US" dirty="0"/>
          </a:p>
        </p:txBody>
      </p:sp>
      <p:sp>
        <p:nvSpPr>
          <p:cNvPr id="3" name="Content Placeholder 2">
            <a:extLst>
              <a:ext uri="{FF2B5EF4-FFF2-40B4-BE49-F238E27FC236}">
                <a16:creationId xmlns:a16="http://schemas.microsoft.com/office/drawing/2014/main" id="{01D4B8D8-74A3-01FB-1157-A6BBF287FBDC}"/>
              </a:ext>
            </a:extLst>
          </p:cNvPr>
          <p:cNvSpPr>
            <a:spLocks noGrp="1"/>
          </p:cNvSpPr>
          <p:nvPr>
            <p:ph idx="1"/>
          </p:nvPr>
        </p:nvSpPr>
        <p:spPr/>
        <p:txBody>
          <a:bodyPr/>
          <a:lstStyle/>
          <a:p>
            <a:r>
              <a:rPr lang="en-GB" sz="1600" b="1" dirty="0"/>
              <a:t>Topic </a:t>
            </a:r>
            <a:r>
              <a:rPr lang="en-GB" sz="1600" b="1" dirty="0" err="1"/>
              <a:t>Modeling</a:t>
            </a:r>
            <a:r>
              <a:rPr lang="en-GB" sz="1600" dirty="0"/>
              <a:t> is an unsupervised machine learning technique that scans a set of documents, detects word and phrase patterns within them, and automatically clusters word groups and similar expressions that best characterize a set of documents.</a:t>
            </a:r>
          </a:p>
          <a:p>
            <a:r>
              <a:rPr lang="en-GB" sz="1600" b="1" dirty="0"/>
              <a:t>The Core Idea (Analogy):</a:t>
            </a:r>
            <a:br>
              <a:rPr lang="en-GB" sz="1600" dirty="0"/>
            </a:br>
            <a:r>
              <a:rPr lang="en-GB" sz="1600" dirty="0"/>
              <a:t>Imagine a document is a "smoothie" made from different "fruits" (topics).</a:t>
            </a:r>
          </a:p>
          <a:p>
            <a:r>
              <a:rPr lang="en-GB" sz="1600" dirty="0"/>
              <a:t>A document about a bank's earnings might be </a:t>
            </a:r>
            <a:r>
              <a:rPr lang="en-GB" sz="1600" b="1" dirty="0"/>
              <a:t>70% "Earnings" topic</a:t>
            </a:r>
            <a:r>
              <a:rPr lang="en-GB" sz="1600" dirty="0"/>
              <a:t>, </a:t>
            </a:r>
            <a:r>
              <a:rPr lang="en-GB" sz="1600" b="1" dirty="0"/>
              <a:t>20% "Market Outlook" topic</a:t>
            </a:r>
            <a:r>
              <a:rPr lang="en-GB" sz="1600" dirty="0"/>
              <a:t>, and </a:t>
            </a:r>
            <a:r>
              <a:rPr lang="en-GB" sz="1600" b="1" dirty="0"/>
              <a:t>10% "Regulation" topic</a:t>
            </a:r>
            <a:r>
              <a:rPr lang="en-GB" sz="1600" dirty="0"/>
              <a:t>.</a:t>
            </a:r>
          </a:p>
          <a:p>
            <a:r>
              <a:rPr lang="en-GB" sz="1600" dirty="0"/>
              <a:t>A "topic" itself is just a collection of related words.</a:t>
            </a:r>
          </a:p>
          <a:p>
            <a:pPr lvl="1"/>
            <a:r>
              <a:rPr lang="en-GB" sz="1400" dirty="0"/>
              <a:t>The "Earnings" topic might be: ['revenue', 'profit', 'quarter', 'growth', 'loss', 'shares']</a:t>
            </a:r>
          </a:p>
          <a:p>
            <a:pPr lvl="1"/>
            <a:r>
              <a:rPr lang="en-GB" sz="1400" dirty="0"/>
              <a:t>The "Regulation" topic might be: ['sec', 'fine', 'investigation', 'compliance', 'lawsuit']</a:t>
            </a:r>
          </a:p>
          <a:p>
            <a:r>
              <a:rPr lang="en-GB" sz="1600" dirty="0"/>
              <a:t>The algorithm doesn't know the names "Earnings" or "Regulation"—it just sees that these groups of words tend to appear together. We, as humans, interpret and label the topics.</a:t>
            </a:r>
          </a:p>
          <a:p>
            <a:endParaRPr lang="en-US" sz="1600" dirty="0"/>
          </a:p>
        </p:txBody>
      </p:sp>
    </p:spTree>
    <p:extLst>
      <p:ext uri="{BB962C8B-B14F-4D97-AF65-F5344CB8AC3E}">
        <p14:creationId xmlns:p14="http://schemas.microsoft.com/office/powerpoint/2010/main" val="12345833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2DC1C-5821-8A04-D02F-91F1B10757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B4190F-67B4-DB71-8910-0F732385BB6C}"/>
              </a:ext>
            </a:extLst>
          </p:cNvPr>
          <p:cNvSpPr>
            <a:spLocks noGrp="1"/>
          </p:cNvSpPr>
          <p:nvPr>
            <p:ph type="title"/>
          </p:nvPr>
        </p:nvSpPr>
        <p:spPr/>
        <p:txBody>
          <a:bodyPr/>
          <a:lstStyle/>
          <a:p>
            <a:r>
              <a:rPr lang="en-GB" sz="2800" dirty="0"/>
              <a:t>The Topic </a:t>
            </a:r>
            <a:r>
              <a:rPr lang="en-GB" sz="2800" dirty="0" err="1"/>
              <a:t>Modeling</a:t>
            </a:r>
            <a:r>
              <a:rPr lang="en-GB" sz="2800" dirty="0"/>
              <a:t> Workflow with Scikit-Learn</a:t>
            </a:r>
            <a:br>
              <a:rPr lang="en-GB" sz="3200" dirty="0"/>
            </a:br>
            <a:endParaRPr lang="en-US" dirty="0"/>
          </a:p>
        </p:txBody>
      </p:sp>
      <p:sp>
        <p:nvSpPr>
          <p:cNvPr id="3" name="Content Placeholder 2">
            <a:extLst>
              <a:ext uri="{FF2B5EF4-FFF2-40B4-BE49-F238E27FC236}">
                <a16:creationId xmlns:a16="http://schemas.microsoft.com/office/drawing/2014/main" id="{3CCFC9A1-0872-6024-7892-F7025CB4B78E}"/>
              </a:ext>
            </a:extLst>
          </p:cNvPr>
          <p:cNvSpPr>
            <a:spLocks noGrp="1"/>
          </p:cNvSpPr>
          <p:nvPr>
            <p:ph idx="1"/>
          </p:nvPr>
        </p:nvSpPr>
        <p:spPr/>
        <p:txBody>
          <a:bodyPr/>
          <a:lstStyle/>
          <a:p>
            <a:r>
              <a:rPr lang="en-GB" sz="1600" dirty="0"/>
              <a:t>The process is very similar to what we did for vectorization.</a:t>
            </a:r>
          </a:p>
          <a:p>
            <a:r>
              <a:rPr lang="en-GB" sz="1400" b="1" dirty="0"/>
              <a:t>Preprocessing the Text:</a:t>
            </a:r>
            <a:r>
              <a:rPr lang="en-GB" sz="1400" dirty="0"/>
              <a:t> This is </a:t>
            </a:r>
            <a:r>
              <a:rPr lang="en-GB" sz="1400" i="1" dirty="0"/>
              <a:t>extremely</a:t>
            </a:r>
            <a:r>
              <a:rPr lang="en-GB" sz="1400" dirty="0"/>
              <a:t> important for good topics.</a:t>
            </a:r>
          </a:p>
          <a:p>
            <a:pPr lvl="1"/>
            <a:r>
              <a:rPr lang="en-GB" sz="1200" dirty="0"/>
              <a:t>Tokenize and convert to lowercase.</a:t>
            </a:r>
          </a:p>
          <a:p>
            <a:pPr lvl="1"/>
            <a:r>
              <a:rPr lang="en-GB" sz="1200" dirty="0"/>
              <a:t>Remove stop words (e.g., 'the', 'a', 'is'). We might even add custom financial stop words ('company', 'business').</a:t>
            </a:r>
          </a:p>
          <a:p>
            <a:pPr lvl="1"/>
            <a:r>
              <a:rPr lang="en-GB" sz="1200" b="1" dirty="0"/>
              <a:t>Lemmatization:</a:t>
            </a:r>
            <a:r>
              <a:rPr lang="en-GB" sz="1200" dirty="0"/>
              <a:t> Reduce words to their root form ('studies', 'studying' -&gt; 'study'). This groups related words together. </a:t>
            </a:r>
            <a:r>
              <a:rPr lang="en-GB" sz="1200" dirty="0" err="1"/>
              <a:t>TextBlob</a:t>
            </a:r>
            <a:r>
              <a:rPr lang="en-GB" sz="1200" dirty="0"/>
              <a:t> can do this!</a:t>
            </a:r>
          </a:p>
          <a:p>
            <a:r>
              <a:rPr lang="en-GB" sz="1400" b="1" dirty="0"/>
              <a:t>Vectorize the Text:</a:t>
            </a:r>
            <a:endParaRPr lang="en-GB" sz="1400" dirty="0"/>
          </a:p>
          <a:p>
            <a:pPr lvl="1"/>
            <a:r>
              <a:rPr lang="en-GB" sz="1200" dirty="0"/>
              <a:t>We use </a:t>
            </a:r>
            <a:r>
              <a:rPr lang="en-GB" sz="1200" dirty="0" err="1"/>
              <a:t>CountVectorizer</a:t>
            </a:r>
            <a:r>
              <a:rPr lang="en-GB" sz="1200" dirty="0"/>
              <a:t> to create a document-term matrix. LDA works with word counts, not TF-IDF scores.</a:t>
            </a:r>
          </a:p>
          <a:p>
            <a:r>
              <a:rPr lang="en-GB" sz="1400" b="1" dirty="0"/>
              <a:t>Train the LDA Model:</a:t>
            </a:r>
            <a:endParaRPr lang="en-GB" sz="1400" dirty="0"/>
          </a:p>
          <a:p>
            <a:pPr lvl="1"/>
            <a:r>
              <a:rPr lang="en-GB" sz="1200" dirty="0"/>
              <a:t>Use </a:t>
            </a:r>
            <a:r>
              <a:rPr lang="en-GB" sz="1200" dirty="0" err="1"/>
              <a:t>sklearn.decomposition.LatentDirichletAllocation</a:t>
            </a:r>
            <a:r>
              <a:rPr lang="en-GB" sz="1200" dirty="0"/>
              <a:t>.</a:t>
            </a:r>
          </a:p>
          <a:p>
            <a:pPr lvl="1"/>
            <a:r>
              <a:rPr lang="en-GB" sz="1200" dirty="0"/>
              <a:t>We specify the number of topics (</a:t>
            </a:r>
            <a:r>
              <a:rPr lang="en-GB" sz="1200" dirty="0" err="1"/>
              <a:t>n_components</a:t>
            </a:r>
            <a:r>
              <a:rPr lang="en-GB" sz="1200" dirty="0"/>
              <a:t>).</a:t>
            </a:r>
          </a:p>
          <a:p>
            <a:r>
              <a:rPr lang="en-GB" sz="1400" b="1" dirty="0"/>
              <a:t>Interpret the Results:</a:t>
            </a:r>
            <a:endParaRPr lang="en-GB" sz="1400" dirty="0"/>
          </a:p>
          <a:p>
            <a:pPr lvl="1"/>
            <a:r>
              <a:rPr lang="en-GB" sz="1200" dirty="0"/>
              <a:t>Examine the top words for each discovered topic.</a:t>
            </a:r>
          </a:p>
          <a:p>
            <a:pPr lvl="1"/>
            <a:r>
              <a:rPr lang="en-GB" sz="1200" dirty="0"/>
              <a:t>Assign topic distributions to our original documents.</a:t>
            </a:r>
          </a:p>
        </p:txBody>
      </p:sp>
    </p:spTree>
    <p:extLst>
      <p:ext uri="{BB962C8B-B14F-4D97-AF65-F5344CB8AC3E}">
        <p14:creationId xmlns:p14="http://schemas.microsoft.com/office/powerpoint/2010/main" val="25765907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34004-90DE-356F-2C52-02625BFAC4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16A6DB-F9BA-98B0-439C-4BF371D5D2D9}"/>
              </a:ext>
            </a:extLst>
          </p:cNvPr>
          <p:cNvSpPr>
            <a:spLocks noGrp="1"/>
          </p:cNvSpPr>
          <p:nvPr>
            <p:ph type="title"/>
          </p:nvPr>
        </p:nvSpPr>
        <p:spPr/>
        <p:txBody>
          <a:bodyPr/>
          <a:lstStyle/>
          <a:p>
            <a:r>
              <a:rPr lang="en-GB" sz="2400" dirty="0"/>
              <a:t>The Algorithm: Latent Dirichlet Allocation (LDA</a:t>
            </a:r>
            <a:r>
              <a:rPr lang="en-GB" dirty="0"/>
              <a:t>)</a:t>
            </a:r>
            <a:br>
              <a:rPr lang="en-GB" dirty="0"/>
            </a:br>
            <a:endParaRPr lang="en-US" dirty="0"/>
          </a:p>
        </p:txBody>
      </p:sp>
      <p:sp>
        <p:nvSpPr>
          <p:cNvPr id="3" name="Content Placeholder 2">
            <a:extLst>
              <a:ext uri="{FF2B5EF4-FFF2-40B4-BE49-F238E27FC236}">
                <a16:creationId xmlns:a16="http://schemas.microsoft.com/office/drawing/2014/main" id="{831DA3E2-EB1F-57E6-DDA9-DE81B1677A15}"/>
              </a:ext>
            </a:extLst>
          </p:cNvPr>
          <p:cNvSpPr>
            <a:spLocks noGrp="1"/>
          </p:cNvSpPr>
          <p:nvPr>
            <p:ph idx="1"/>
          </p:nvPr>
        </p:nvSpPr>
        <p:spPr/>
        <p:txBody>
          <a:bodyPr/>
          <a:lstStyle/>
          <a:p>
            <a:r>
              <a:rPr lang="en-GB" sz="1600" dirty="0"/>
              <a:t>The most common algorithm for topic </a:t>
            </a:r>
            <a:r>
              <a:rPr lang="en-GB" sz="1600" dirty="0" err="1"/>
              <a:t>modeling</a:t>
            </a:r>
            <a:r>
              <a:rPr lang="en-GB" sz="1600" dirty="0"/>
              <a:t> is </a:t>
            </a:r>
            <a:r>
              <a:rPr lang="en-GB" sz="1600" b="1" dirty="0"/>
              <a:t>Latent Dirichlet Allocation (LDA)</a:t>
            </a:r>
            <a:r>
              <a:rPr lang="en-GB" sz="1600" dirty="0"/>
              <a:t>.</a:t>
            </a:r>
          </a:p>
          <a:p>
            <a:r>
              <a:rPr lang="en-GB" sz="1600" dirty="0"/>
              <a:t>You don't need to know the deep math, but here's the intuition:</a:t>
            </a:r>
          </a:p>
          <a:p>
            <a:r>
              <a:rPr lang="en-GB" sz="1600" b="1" dirty="0"/>
              <a:t>You tell LDA:</a:t>
            </a:r>
            <a:r>
              <a:rPr lang="en-GB" sz="1600" dirty="0"/>
              <a:t> "I have all these documents, and I think there are </a:t>
            </a:r>
            <a:r>
              <a:rPr lang="en-GB" sz="1600" b="1" dirty="0"/>
              <a:t>k</a:t>
            </a:r>
            <a:r>
              <a:rPr lang="en-GB" sz="1600" dirty="0"/>
              <a:t> underlying topics in them." (e.g., k=5).</a:t>
            </a:r>
          </a:p>
          <a:p>
            <a:r>
              <a:rPr lang="en-GB" sz="1600" b="1" dirty="0"/>
              <a:t>LDA's Goal:</a:t>
            </a:r>
            <a:r>
              <a:rPr lang="en-GB" sz="1600" dirty="0"/>
              <a:t> LDA works backward and tries to figure out how the documents could have been generated. It assumes each document is a mix of topics, and each topic is a mix of words.</a:t>
            </a:r>
          </a:p>
          <a:p>
            <a:r>
              <a:rPr lang="en-GB" sz="1600" b="1" dirty="0"/>
              <a:t>The Process (Simplified):</a:t>
            </a:r>
            <a:r>
              <a:rPr lang="en-GB" sz="1600" dirty="0"/>
              <a:t> It randomly assigns each word in every document to one of the k topics. Then, it iterates over and over, improving its assignments by asking two questions for each word:</a:t>
            </a:r>
          </a:p>
          <a:p>
            <a:pPr lvl="1"/>
            <a:r>
              <a:rPr lang="en-GB" sz="1400" dirty="0"/>
              <a:t>How prevalent is this topic in the document?</a:t>
            </a:r>
          </a:p>
          <a:p>
            <a:pPr lvl="1"/>
            <a:r>
              <a:rPr lang="en-GB" sz="1400" dirty="0"/>
              <a:t>How prevalent is this word in the topic?</a:t>
            </a:r>
          </a:p>
          <a:p>
            <a:r>
              <a:rPr lang="en-GB" sz="1600" b="1" dirty="0"/>
              <a:t>The Output:</a:t>
            </a:r>
            <a:r>
              <a:rPr lang="en-GB" sz="1600" dirty="0"/>
              <a:t> After many iterations, it settles on a stable representation of topics (as lists of words) and documents (as mixtures of topics).</a:t>
            </a:r>
          </a:p>
          <a:p>
            <a:endParaRPr lang="en-US" sz="1600" dirty="0"/>
          </a:p>
        </p:txBody>
      </p:sp>
    </p:spTree>
    <p:extLst>
      <p:ext uri="{BB962C8B-B14F-4D97-AF65-F5344CB8AC3E}">
        <p14:creationId xmlns:p14="http://schemas.microsoft.com/office/powerpoint/2010/main" val="39564578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D97BD-8F55-B0A3-FDAB-8F6D70D2D4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2B9575-827F-6905-7873-21624FA31347}"/>
              </a:ext>
            </a:extLst>
          </p:cNvPr>
          <p:cNvSpPr>
            <a:spLocks noGrp="1"/>
          </p:cNvSpPr>
          <p:nvPr>
            <p:ph type="title"/>
          </p:nvPr>
        </p:nvSpPr>
        <p:spPr/>
        <p:txBody>
          <a:bodyPr/>
          <a:lstStyle/>
          <a:p>
            <a:r>
              <a:rPr lang="en-GB" sz="2400" dirty="0"/>
              <a:t>The Intuition of LDA (A Simplified Walkthrough)</a:t>
            </a:r>
            <a:endParaRPr lang="en-US" sz="2400" dirty="0"/>
          </a:p>
        </p:txBody>
      </p:sp>
      <p:sp>
        <p:nvSpPr>
          <p:cNvPr id="3" name="Content Placeholder 2">
            <a:extLst>
              <a:ext uri="{FF2B5EF4-FFF2-40B4-BE49-F238E27FC236}">
                <a16:creationId xmlns:a16="http://schemas.microsoft.com/office/drawing/2014/main" id="{44827955-E9C6-1A82-7EF3-B33CAABE2940}"/>
              </a:ext>
            </a:extLst>
          </p:cNvPr>
          <p:cNvSpPr>
            <a:spLocks noGrp="1"/>
          </p:cNvSpPr>
          <p:nvPr>
            <p:ph idx="1"/>
          </p:nvPr>
        </p:nvSpPr>
        <p:spPr/>
        <p:txBody>
          <a:bodyPr/>
          <a:lstStyle/>
          <a:p>
            <a:pPr marL="0" indent="0">
              <a:buNone/>
            </a:pPr>
            <a:r>
              <a:rPr lang="en-GB" sz="1600" b="1" dirty="0"/>
              <a:t>Objective:</a:t>
            </a:r>
            <a:r>
              <a:rPr lang="en-GB" sz="1600" dirty="0"/>
              <a:t> Let's visualize how LDA discovers topics. We will act as the algorithm.</a:t>
            </a:r>
          </a:p>
          <a:p>
            <a:pPr marL="0" indent="0">
              <a:buNone/>
            </a:pPr>
            <a:r>
              <a:rPr lang="en-GB" sz="1600" b="1" dirty="0"/>
              <a:t>Our Mini-Universe:</a:t>
            </a:r>
            <a:endParaRPr lang="en-GB" sz="1600" dirty="0"/>
          </a:p>
          <a:p>
            <a:r>
              <a:rPr lang="en-GB" sz="1600" b="1" dirty="0"/>
              <a:t>Documents:</a:t>
            </a:r>
            <a:r>
              <a:rPr lang="en-GB" sz="1600" dirty="0"/>
              <a:t> We have three short documents.</a:t>
            </a:r>
          </a:p>
          <a:p>
            <a:r>
              <a:rPr lang="en-GB" sz="1600" b="1" dirty="0"/>
              <a:t>Goal:</a:t>
            </a:r>
            <a:r>
              <a:rPr lang="en-GB" sz="1600" dirty="0"/>
              <a:t> We will tell the algorithm to find </a:t>
            </a:r>
            <a:r>
              <a:rPr lang="en-GB" sz="1600" b="1" dirty="0"/>
              <a:t>k=2 topics</a:t>
            </a:r>
            <a:r>
              <a:rPr lang="en-GB" sz="1600" dirty="0"/>
              <a:t>. Let's call them </a:t>
            </a:r>
            <a:r>
              <a:rPr lang="en-GB" sz="1600" b="1" dirty="0"/>
              <a:t>Topic A (Blue)</a:t>
            </a:r>
            <a:r>
              <a:rPr lang="en-GB" sz="1600" dirty="0"/>
              <a:t> and </a:t>
            </a:r>
            <a:r>
              <a:rPr lang="en-GB" sz="1600" b="1" dirty="0"/>
              <a:t>Topic B (Orange)</a:t>
            </a:r>
            <a:r>
              <a:rPr lang="en-GB" sz="1600" dirty="0"/>
              <a:t>.</a:t>
            </a:r>
          </a:p>
          <a:p>
            <a:endParaRPr lang="en-US" sz="1600" dirty="0"/>
          </a:p>
        </p:txBody>
      </p:sp>
      <p:pic>
        <p:nvPicPr>
          <p:cNvPr id="9" name="Picture 8">
            <a:extLst>
              <a:ext uri="{FF2B5EF4-FFF2-40B4-BE49-F238E27FC236}">
                <a16:creationId xmlns:a16="http://schemas.microsoft.com/office/drawing/2014/main" id="{A8030B79-57EE-5701-EA5F-B9B98F5FE61C}"/>
              </a:ext>
            </a:extLst>
          </p:cNvPr>
          <p:cNvPicPr>
            <a:picLocks noChangeAspect="1"/>
          </p:cNvPicPr>
          <p:nvPr/>
        </p:nvPicPr>
        <p:blipFill>
          <a:blip r:embed="rId2"/>
          <a:stretch>
            <a:fillRect/>
          </a:stretch>
        </p:blipFill>
        <p:spPr>
          <a:xfrm>
            <a:off x="1311965" y="3048015"/>
            <a:ext cx="4572000" cy="1458552"/>
          </a:xfrm>
          <a:prstGeom prst="rect">
            <a:avLst/>
          </a:prstGeom>
        </p:spPr>
      </p:pic>
    </p:spTree>
    <p:extLst>
      <p:ext uri="{BB962C8B-B14F-4D97-AF65-F5344CB8AC3E}">
        <p14:creationId xmlns:p14="http://schemas.microsoft.com/office/powerpoint/2010/main" val="40253103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C075C-D4A1-0580-A1E9-9E5211D2DB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393EB9-6EFE-431D-A375-C3126216D29C}"/>
              </a:ext>
            </a:extLst>
          </p:cNvPr>
          <p:cNvSpPr>
            <a:spLocks noGrp="1"/>
          </p:cNvSpPr>
          <p:nvPr>
            <p:ph type="title"/>
          </p:nvPr>
        </p:nvSpPr>
        <p:spPr/>
        <p:txBody>
          <a:bodyPr/>
          <a:lstStyle/>
          <a:p>
            <a:r>
              <a:rPr lang="en-US" dirty="0"/>
              <a:t>Step 1: Random Assignment</a:t>
            </a:r>
            <a:br>
              <a:rPr lang="en-US" dirty="0"/>
            </a:br>
            <a:endParaRPr lang="en-US" dirty="0"/>
          </a:p>
        </p:txBody>
      </p:sp>
      <p:sp>
        <p:nvSpPr>
          <p:cNvPr id="3" name="Content Placeholder 2">
            <a:extLst>
              <a:ext uri="{FF2B5EF4-FFF2-40B4-BE49-F238E27FC236}">
                <a16:creationId xmlns:a16="http://schemas.microsoft.com/office/drawing/2014/main" id="{A8B888F9-FA69-9A30-55B7-F297968E826B}"/>
              </a:ext>
            </a:extLst>
          </p:cNvPr>
          <p:cNvSpPr>
            <a:spLocks noGrp="1"/>
          </p:cNvSpPr>
          <p:nvPr>
            <p:ph idx="1"/>
          </p:nvPr>
        </p:nvSpPr>
        <p:spPr/>
        <p:txBody>
          <a:bodyPr/>
          <a:lstStyle/>
          <a:p>
            <a:r>
              <a:rPr lang="en-GB" dirty="0"/>
              <a:t>The algorithm starts by randomly assigning each word to a topic. The result is a meaningless mess.</a:t>
            </a:r>
            <a:endParaRPr lang="en-US" dirty="0"/>
          </a:p>
        </p:txBody>
      </p:sp>
      <p:pic>
        <p:nvPicPr>
          <p:cNvPr id="5" name="Picture 4">
            <a:extLst>
              <a:ext uri="{FF2B5EF4-FFF2-40B4-BE49-F238E27FC236}">
                <a16:creationId xmlns:a16="http://schemas.microsoft.com/office/drawing/2014/main" id="{BBF112E2-0A4E-AB32-7145-84B8C032C9AF}"/>
              </a:ext>
            </a:extLst>
          </p:cNvPr>
          <p:cNvPicPr>
            <a:picLocks noChangeAspect="1"/>
          </p:cNvPicPr>
          <p:nvPr/>
        </p:nvPicPr>
        <p:blipFill>
          <a:blip r:embed="rId2"/>
          <a:stretch>
            <a:fillRect/>
          </a:stretch>
        </p:blipFill>
        <p:spPr>
          <a:xfrm>
            <a:off x="735634" y="2571750"/>
            <a:ext cx="6762750" cy="1581150"/>
          </a:xfrm>
          <a:prstGeom prst="rect">
            <a:avLst/>
          </a:prstGeom>
        </p:spPr>
      </p:pic>
    </p:spTree>
    <p:extLst>
      <p:ext uri="{BB962C8B-B14F-4D97-AF65-F5344CB8AC3E}">
        <p14:creationId xmlns:p14="http://schemas.microsoft.com/office/powerpoint/2010/main" val="3794338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E2BAB1-2949-DEF9-EB9A-BCD3B5E055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1AD00E-D2DA-467E-50F4-D49D14B9130B}"/>
              </a:ext>
            </a:extLst>
          </p:cNvPr>
          <p:cNvSpPr>
            <a:spLocks noGrp="1"/>
          </p:cNvSpPr>
          <p:nvPr>
            <p:ph type="title"/>
          </p:nvPr>
        </p:nvSpPr>
        <p:spPr/>
        <p:txBody>
          <a:bodyPr/>
          <a:lstStyle/>
          <a:p>
            <a:r>
              <a:rPr lang="en-US" sz="2400" dirty="0"/>
              <a:t>Step 2: </a:t>
            </a:r>
            <a:r>
              <a:rPr lang="en-GB" sz="2400" dirty="0"/>
              <a:t>Iterative Improvement (The "Thinking" Part)</a:t>
            </a:r>
            <a:br>
              <a:rPr lang="en-GB" dirty="0"/>
            </a:br>
            <a:endParaRPr lang="en-US" dirty="0"/>
          </a:p>
        </p:txBody>
      </p:sp>
      <p:sp>
        <p:nvSpPr>
          <p:cNvPr id="3" name="Content Placeholder 2">
            <a:extLst>
              <a:ext uri="{FF2B5EF4-FFF2-40B4-BE49-F238E27FC236}">
                <a16:creationId xmlns:a16="http://schemas.microsoft.com/office/drawing/2014/main" id="{6D9704B4-1D1F-6A92-6FE1-7A05E65E249D}"/>
              </a:ext>
            </a:extLst>
          </p:cNvPr>
          <p:cNvSpPr>
            <a:spLocks noGrp="1"/>
          </p:cNvSpPr>
          <p:nvPr>
            <p:ph idx="1"/>
          </p:nvPr>
        </p:nvSpPr>
        <p:spPr/>
        <p:txBody>
          <a:bodyPr/>
          <a:lstStyle/>
          <a:p>
            <a:r>
              <a:rPr lang="en-GB" sz="1400" dirty="0"/>
              <a:t>The algorithm iterates through every word. Let's pick the word </a:t>
            </a:r>
            <a:r>
              <a:rPr lang="en-GB" sz="1400" b="1" dirty="0"/>
              <a:t>"iPhone"</a:t>
            </a:r>
            <a:r>
              <a:rPr lang="en-GB" sz="1400" dirty="0"/>
              <a:t> in Doc 1. It asks two questions:</a:t>
            </a:r>
          </a:p>
          <a:p>
            <a:r>
              <a:rPr lang="en-GB" sz="1400" b="1" dirty="0"/>
              <a:t>"Inside this document (Doc 1), what topic is most popular?"</a:t>
            </a:r>
            <a:endParaRPr lang="en-GB" sz="1400" dirty="0"/>
          </a:p>
          <a:p>
            <a:pPr lvl="1"/>
            <a:r>
              <a:rPr lang="en-GB" sz="1200" i="1" dirty="0"/>
              <a:t>(Looking at Doc 1)</a:t>
            </a:r>
            <a:r>
              <a:rPr lang="en-GB" sz="1200" dirty="0"/>
              <a:t>: It's a 3-2 split. Topic A (Blue) is slightly more common.</a:t>
            </a:r>
          </a:p>
          <a:p>
            <a:r>
              <a:rPr lang="en-GB" sz="1400" b="1" dirty="0"/>
              <a:t>"Across ALL documents, what topic does the word 'iPhone' fit with best?"</a:t>
            </a:r>
            <a:endParaRPr lang="en-GB" sz="1400" dirty="0"/>
          </a:p>
          <a:p>
            <a:pPr lvl="1"/>
            <a:r>
              <a:rPr lang="en-GB" sz="1200" i="1" dirty="0"/>
              <a:t>(Looking everywhere)</a:t>
            </a:r>
            <a:r>
              <a:rPr lang="en-GB" sz="1200" dirty="0"/>
              <a:t>: The other "iPhone" in Doc 3 is Blue. Other words like "Apple's" are also Blue. The word 'iPhone' seems to belong with the Blue words.</a:t>
            </a:r>
          </a:p>
          <a:p>
            <a:r>
              <a:rPr lang="en-GB" sz="1400" dirty="0"/>
              <a:t>Based on this, it's highly probable that </a:t>
            </a:r>
            <a:r>
              <a:rPr lang="en-GB" sz="1400" b="1" dirty="0"/>
              <a:t>"iPhone"</a:t>
            </a:r>
            <a:r>
              <a:rPr lang="en-GB" sz="1400" dirty="0"/>
              <a:t> should be </a:t>
            </a:r>
            <a:r>
              <a:rPr lang="en-GB" sz="1400" b="1" dirty="0"/>
              <a:t>Blue</a:t>
            </a:r>
            <a:r>
              <a:rPr lang="en-GB" sz="1400" dirty="0"/>
              <a:t>. The algorithm re-assigns it and moves to the next word. It does this thousands of times.</a:t>
            </a:r>
          </a:p>
          <a:p>
            <a:endParaRPr lang="en-US" sz="1400" dirty="0"/>
          </a:p>
        </p:txBody>
      </p:sp>
      <p:pic>
        <p:nvPicPr>
          <p:cNvPr id="4" name="Picture 3">
            <a:extLst>
              <a:ext uri="{FF2B5EF4-FFF2-40B4-BE49-F238E27FC236}">
                <a16:creationId xmlns:a16="http://schemas.microsoft.com/office/drawing/2014/main" id="{C5F7B2AA-8AD3-1876-FF85-E86AD2BE9D92}"/>
              </a:ext>
            </a:extLst>
          </p:cNvPr>
          <p:cNvPicPr>
            <a:picLocks noChangeAspect="1"/>
          </p:cNvPicPr>
          <p:nvPr/>
        </p:nvPicPr>
        <p:blipFill>
          <a:blip r:embed="rId2"/>
          <a:stretch>
            <a:fillRect/>
          </a:stretch>
        </p:blipFill>
        <p:spPr>
          <a:xfrm>
            <a:off x="819565" y="3287711"/>
            <a:ext cx="6762750" cy="1581150"/>
          </a:xfrm>
          <a:prstGeom prst="rect">
            <a:avLst/>
          </a:prstGeom>
        </p:spPr>
      </p:pic>
    </p:spTree>
    <p:extLst>
      <p:ext uri="{BB962C8B-B14F-4D97-AF65-F5344CB8AC3E}">
        <p14:creationId xmlns:p14="http://schemas.microsoft.com/office/powerpoint/2010/main" val="40728999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7225D-BE7D-42DD-806B-55AC6AED28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2C2DC5-6CB1-317F-9489-BC5CEBAF88B8}"/>
              </a:ext>
            </a:extLst>
          </p:cNvPr>
          <p:cNvSpPr>
            <a:spLocks noGrp="1"/>
          </p:cNvSpPr>
          <p:nvPr>
            <p:ph type="title"/>
          </p:nvPr>
        </p:nvSpPr>
        <p:spPr/>
        <p:txBody>
          <a:bodyPr/>
          <a:lstStyle/>
          <a:p>
            <a:r>
              <a:rPr lang="en-GB" dirty="0"/>
              <a:t>Step 3: Convergence</a:t>
            </a:r>
            <a:br>
              <a:rPr lang="en-GB" dirty="0"/>
            </a:br>
            <a:endParaRPr lang="en-US" dirty="0"/>
          </a:p>
        </p:txBody>
      </p:sp>
      <p:sp>
        <p:nvSpPr>
          <p:cNvPr id="3" name="Content Placeholder 2">
            <a:extLst>
              <a:ext uri="{FF2B5EF4-FFF2-40B4-BE49-F238E27FC236}">
                <a16:creationId xmlns:a16="http://schemas.microsoft.com/office/drawing/2014/main" id="{7AD1FDFB-0E55-DF1A-3633-8EDA826E87B1}"/>
              </a:ext>
            </a:extLst>
          </p:cNvPr>
          <p:cNvSpPr>
            <a:spLocks noGrp="1"/>
          </p:cNvSpPr>
          <p:nvPr>
            <p:ph idx="1"/>
          </p:nvPr>
        </p:nvSpPr>
        <p:spPr/>
        <p:txBody>
          <a:bodyPr/>
          <a:lstStyle/>
          <a:p>
            <a:r>
              <a:rPr lang="en-GB" dirty="0"/>
              <a:t>After many iterations, the assignments stabilize. Words that appear together end up in the same topic cluster.</a:t>
            </a:r>
            <a:br>
              <a:rPr lang="en-GB" dirty="0"/>
            </a:br>
            <a:endParaRPr lang="en-US" dirty="0"/>
          </a:p>
        </p:txBody>
      </p:sp>
      <p:pic>
        <p:nvPicPr>
          <p:cNvPr id="5" name="Picture 4">
            <a:extLst>
              <a:ext uri="{FF2B5EF4-FFF2-40B4-BE49-F238E27FC236}">
                <a16:creationId xmlns:a16="http://schemas.microsoft.com/office/drawing/2014/main" id="{CF40F140-C559-5C2F-50E3-B9C994EE2716}"/>
              </a:ext>
            </a:extLst>
          </p:cNvPr>
          <p:cNvPicPr>
            <a:picLocks noChangeAspect="1"/>
          </p:cNvPicPr>
          <p:nvPr/>
        </p:nvPicPr>
        <p:blipFill>
          <a:blip r:embed="rId2"/>
          <a:stretch>
            <a:fillRect/>
          </a:stretch>
        </p:blipFill>
        <p:spPr>
          <a:xfrm>
            <a:off x="714237" y="2520038"/>
            <a:ext cx="6743700" cy="1590675"/>
          </a:xfrm>
          <a:prstGeom prst="rect">
            <a:avLst/>
          </a:prstGeom>
        </p:spPr>
      </p:pic>
    </p:spTree>
    <p:extLst>
      <p:ext uri="{BB962C8B-B14F-4D97-AF65-F5344CB8AC3E}">
        <p14:creationId xmlns:p14="http://schemas.microsoft.com/office/powerpoint/2010/main" val="41791213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EB9AD-63FA-5A77-64DB-4BFB8F267D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748603-F11F-2437-E3D9-97F64D64B457}"/>
              </a:ext>
            </a:extLst>
          </p:cNvPr>
          <p:cNvSpPr>
            <a:spLocks noGrp="1"/>
          </p:cNvSpPr>
          <p:nvPr>
            <p:ph type="title"/>
          </p:nvPr>
        </p:nvSpPr>
        <p:spPr/>
        <p:txBody>
          <a:bodyPr/>
          <a:lstStyle/>
          <a:p>
            <a:r>
              <a:rPr lang="en-GB" dirty="0"/>
              <a:t>Step 4: The Final Output</a:t>
            </a:r>
            <a:br>
              <a:rPr lang="en-GB" dirty="0"/>
            </a:br>
            <a:endParaRPr lang="en-US" dirty="0"/>
          </a:p>
        </p:txBody>
      </p:sp>
      <p:sp>
        <p:nvSpPr>
          <p:cNvPr id="3" name="Content Placeholder 2">
            <a:extLst>
              <a:ext uri="{FF2B5EF4-FFF2-40B4-BE49-F238E27FC236}">
                <a16:creationId xmlns:a16="http://schemas.microsoft.com/office/drawing/2014/main" id="{F6561881-AC83-4988-3643-E6625EA0C6D0}"/>
              </a:ext>
            </a:extLst>
          </p:cNvPr>
          <p:cNvSpPr>
            <a:spLocks noGrp="1"/>
          </p:cNvSpPr>
          <p:nvPr>
            <p:ph idx="1"/>
          </p:nvPr>
        </p:nvSpPr>
        <p:spPr/>
        <p:txBody>
          <a:bodyPr/>
          <a:lstStyle/>
          <a:p>
            <a:r>
              <a:rPr lang="en-GB" sz="1800" dirty="0"/>
              <a:t>The algorithm presents two things:</a:t>
            </a:r>
          </a:p>
          <a:p>
            <a:r>
              <a:rPr lang="en-GB" sz="1800" b="1" dirty="0"/>
              <a:t>The Topics (as word lists):</a:t>
            </a:r>
            <a:endParaRPr lang="en-GB" sz="1800" dirty="0"/>
          </a:p>
          <a:p>
            <a:pPr lvl="1"/>
            <a:r>
              <a:rPr lang="en-GB" sz="1600" b="1" dirty="0"/>
              <a:t>Topic A (Blue):</a:t>
            </a:r>
            <a:r>
              <a:rPr lang="en-GB" sz="1600" dirty="0"/>
              <a:t> apple, </a:t>
            </a:r>
            <a:r>
              <a:rPr lang="en-GB" sz="1600" dirty="0" err="1"/>
              <a:t>iphone</a:t>
            </a:r>
            <a:r>
              <a:rPr lang="en-GB" sz="1600" dirty="0"/>
              <a:t>, new, ... (We interpret this as </a:t>
            </a:r>
            <a:r>
              <a:rPr lang="en-GB" sz="1600" b="1" dirty="0"/>
              <a:t>"Tech Products"</a:t>
            </a:r>
            <a:r>
              <a:rPr lang="en-GB" sz="1600" dirty="0"/>
              <a:t>)</a:t>
            </a:r>
          </a:p>
          <a:p>
            <a:pPr lvl="1"/>
            <a:r>
              <a:rPr lang="en-GB" sz="1600" b="1" dirty="0"/>
              <a:t>Topic B (Orange):</a:t>
            </a:r>
            <a:r>
              <a:rPr lang="en-GB" sz="1600" dirty="0"/>
              <a:t> cash, money, bank, loans, offers, ... (We interpret this as </a:t>
            </a:r>
            <a:r>
              <a:rPr lang="en-GB" sz="1600" b="1" dirty="0"/>
              <a:t>"Finance"</a:t>
            </a:r>
            <a:r>
              <a:rPr lang="en-GB" sz="1600" dirty="0"/>
              <a:t>)</a:t>
            </a:r>
          </a:p>
          <a:p>
            <a:r>
              <a:rPr lang="en-GB" sz="1800" b="1" dirty="0"/>
              <a:t>The Document Mixture:</a:t>
            </a:r>
            <a:endParaRPr lang="en-GB" sz="1800" dirty="0"/>
          </a:p>
          <a:p>
            <a:pPr lvl="1"/>
            <a:r>
              <a:rPr lang="en-GB" sz="1600" b="1" dirty="0"/>
              <a:t>Doc 1:</a:t>
            </a:r>
            <a:r>
              <a:rPr lang="en-GB" sz="1600" dirty="0"/>
              <a:t> is about </a:t>
            </a:r>
            <a:r>
              <a:rPr lang="en-GB" sz="1600" b="1" dirty="0"/>
              <a:t>60% Topic A</a:t>
            </a:r>
            <a:r>
              <a:rPr lang="en-GB" sz="1600" dirty="0"/>
              <a:t> and </a:t>
            </a:r>
            <a:r>
              <a:rPr lang="en-GB" sz="1600" b="1" dirty="0"/>
              <a:t>40% Topic B</a:t>
            </a:r>
            <a:r>
              <a:rPr lang="en-GB" sz="1600" dirty="0"/>
              <a:t>.</a:t>
            </a:r>
          </a:p>
          <a:p>
            <a:pPr lvl="1"/>
            <a:r>
              <a:rPr lang="en-GB" sz="1600" b="1" dirty="0"/>
              <a:t>Doc 2:</a:t>
            </a:r>
            <a:r>
              <a:rPr lang="en-GB" sz="1600" dirty="0"/>
              <a:t> is about </a:t>
            </a:r>
            <a:r>
              <a:rPr lang="en-GB" sz="1600" b="1" dirty="0"/>
              <a:t>20% Topic A</a:t>
            </a:r>
            <a:r>
              <a:rPr lang="en-GB" sz="1600" dirty="0"/>
              <a:t> and </a:t>
            </a:r>
            <a:r>
              <a:rPr lang="en-GB" sz="1600" b="1" dirty="0"/>
              <a:t>80% Topic B</a:t>
            </a:r>
            <a:r>
              <a:rPr lang="en-GB" sz="1600" dirty="0"/>
              <a:t>.</a:t>
            </a:r>
          </a:p>
          <a:p>
            <a:pPr lvl="1"/>
            <a:r>
              <a:rPr lang="en-GB" sz="1600" b="1" dirty="0"/>
              <a:t>Doc 3:</a:t>
            </a:r>
            <a:r>
              <a:rPr lang="en-GB" sz="1600" dirty="0"/>
              <a:t> is about </a:t>
            </a:r>
            <a:r>
              <a:rPr lang="en-GB" sz="1600" b="1" dirty="0"/>
              <a:t>50% Topic A</a:t>
            </a:r>
            <a:r>
              <a:rPr lang="en-GB" sz="1600" dirty="0"/>
              <a:t> and </a:t>
            </a:r>
            <a:r>
              <a:rPr lang="en-GB" sz="1600" b="1" dirty="0"/>
              <a:t>50% Topic B</a:t>
            </a:r>
            <a:r>
              <a:rPr lang="en-GB" sz="1600" dirty="0"/>
              <a:t>.</a:t>
            </a:r>
          </a:p>
          <a:p>
            <a:r>
              <a:rPr lang="en-GB" sz="1800" dirty="0"/>
              <a:t>This simple demo perfectly illustrates how an unsupervised algorithm can take unstructured text and discover the hidden thematic structure within it.</a:t>
            </a:r>
          </a:p>
          <a:p>
            <a:endParaRPr lang="en-US" sz="1800" dirty="0"/>
          </a:p>
        </p:txBody>
      </p:sp>
    </p:spTree>
    <p:extLst>
      <p:ext uri="{BB962C8B-B14F-4D97-AF65-F5344CB8AC3E}">
        <p14:creationId xmlns:p14="http://schemas.microsoft.com/office/powerpoint/2010/main" val="7314220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4560C-B3ED-A52E-427A-4EFD0B378E40}"/>
              </a:ext>
            </a:extLst>
          </p:cNvPr>
          <p:cNvSpPr>
            <a:spLocks noGrp="1"/>
          </p:cNvSpPr>
          <p:nvPr>
            <p:ph type="title"/>
          </p:nvPr>
        </p:nvSpPr>
        <p:spPr/>
        <p:txBody>
          <a:bodyPr/>
          <a:lstStyle/>
          <a:p>
            <a:r>
              <a:rPr lang="en-GB" dirty="0"/>
              <a:t>Recap: Where We Left Off (Topic 7)</a:t>
            </a:r>
          </a:p>
        </p:txBody>
      </p:sp>
      <p:sp>
        <p:nvSpPr>
          <p:cNvPr id="3" name="Content Placeholder 2">
            <a:extLst>
              <a:ext uri="{FF2B5EF4-FFF2-40B4-BE49-F238E27FC236}">
                <a16:creationId xmlns:a16="http://schemas.microsoft.com/office/drawing/2014/main" id="{9E3DEC46-400E-8D81-CBF4-FF8128C15740}"/>
              </a:ext>
            </a:extLst>
          </p:cNvPr>
          <p:cNvSpPr>
            <a:spLocks noGrp="1"/>
          </p:cNvSpPr>
          <p:nvPr>
            <p:ph idx="1"/>
          </p:nvPr>
        </p:nvSpPr>
        <p:spPr/>
        <p:txBody>
          <a:bodyPr/>
          <a:lstStyle/>
          <a:p>
            <a:r>
              <a:rPr lang="en-GB" sz="2000" dirty="0"/>
              <a:t>Last week, we mastered turning unstructured text into structured data.</a:t>
            </a:r>
          </a:p>
          <a:p>
            <a:r>
              <a:rPr lang="en-GB" sz="2000" b="1" dirty="0"/>
              <a:t>Vectorization (Topic 7):</a:t>
            </a:r>
            <a:r>
              <a:rPr lang="en-GB" sz="2000" dirty="0"/>
              <a:t> We converted documents into numerical vectors using </a:t>
            </a:r>
            <a:r>
              <a:rPr lang="en-GB" sz="2000" dirty="0" err="1"/>
              <a:t>CountVectorizer</a:t>
            </a:r>
            <a:r>
              <a:rPr lang="en-GB" sz="2000" dirty="0"/>
              <a:t> and </a:t>
            </a:r>
            <a:r>
              <a:rPr lang="en-GB" sz="2000" dirty="0" err="1"/>
              <a:t>TfidfVectorizer</a:t>
            </a:r>
            <a:r>
              <a:rPr lang="en-GB" sz="2000" dirty="0"/>
              <a:t>.</a:t>
            </a:r>
          </a:p>
          <a:p>
            <a:r>
              <a:rPr lang="en-GB" sz="2000" b="1" dirty="0"/>
              <a:t>NLP &amp; Sentiment (Topic 8):</a:t>
            </a:r>
            <a:r>
              <a:rPr lang="en-GB" sz="2000" dirty="0"/>
              <a:t> We used </a:t>
            </a:r>
            <a:r>
              <a:rPr lang="en-GB" sz="2000" dirty="0" err="1"/>
              <a:t>TextBlob</a:t>
            </a:r>
            <a:r>
              <a:rPr lang="en-GB" sz="2000" dirty="0"/>
              <a:t> to </a:t>
            </a:r>
            <a:r>
              <a:rPr lang="en-GB" sz="2000" dirty="0" err="1"/>
              <a:t>analyze</a:t>
            </a:r>
            <a:r>
              <a:rPr lang="en-GB" sz="2000" dirty="0"/>
              <a:t> sentiment (Polarity) and discover topics with LDA.</a:t>
            </a:r>
          </a:p>
          <a:p>
            <a:r>
              <a:rPr lang="en-GB" sz="2000" dirty="0"/>
              <a:t>We can represent a news headline like "Strong iPhone demand boosts Apple's revenue" as both a </a:t>
            </a:r>
            <a:r>
              <a:rPr lang="en-GB" sz="2000" b="1" dirty="0"/>
              <a:t>sentiment score</a:t>
            </a:r>
            <a:r>
              <a:rPr lang="en-GB" sz="2000" dirty="0"/>
              <a:t> (+0.5) and a </a:t>
            </a:r>
            <a:r>
              <a:rPr lang="en-GB" sz="2000" b="1" dirty="0"/>
              <a:t>TF-IDF vector</a:t>
            </a:r>
            <a:r>
              <a:rPr lang="en-GB" sz="2000" dirty="0"/>
              <a:t> ([0.0, 0.45, 0.0, 0.51, ...]).</a:t>
            </a:r>
          </a:p>
        </p:txBody>
      </p:sp>
    </p:spTree>
    <p:extLst>
      <p:ext uri="{BB962C8B-B14F-4D97-AF65-F5344CB8AC3E}">
        <p14:creationId xmlns:p14="http://schemas.microsoft.com/office/powerpoint/2010/main" val="17231282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44BAC-3F2E-68DA-8814-EF4E6EA275E2}"/>
              </a:ext>
            </a:extLst>
          </p:cNvPr>
          <p:cNvSpPr>
            <a:spLocks noGrp="1"/>
          </p:cNvSpPr>
          <p:nvPr>
            <p:ph type="title"/>
          </p:nvPr>
        </p:nvSpPr>
        <p:spPr/>
        <p:txBody>
          <a:bodyPr/>
          <a:lstStyle/>
          <a:p>
            <a:r>
              <a:rPr lang="en-GB" sz="2800" dirty="0"/>
              <a:t>The Limitations</a:t>
            </a:r>
            <a:endParaRPr lang="en-US" dirty="0"/>
          </a:p>
        </p:txBody>
      </p:sp>
      <p:sp>
        <p:nvSpPr>
          <p:cNvPr id="3" name="Content Placeholder 2">
            <a:extLst>
              <a:ext uri="{FF2B5EF4-FFF2-40B4-BE49-F238E27FC236}">
                <a16:creationId xmlns:a16="http://schemas.microsoft.com/office/drawing/2014/main" id="{A89210BB-ED11-E956-652B-C4BC89C027C7}"/>
              </a:ext>
            </a:extLst>
          </p:cNvPr>
          <p:cNvSpPr>
            <a:spLocks noGrp="1"/>
          </p:cNvSpPr>
          <p:nvPr>
            <p:ph idx="1"/>
          </p:nvPr>
        </p:nvSpPr>
        <p:spPr/>
        <p:txBody>
          <a:bodyPr/>
          <a:lstStyle/>
          <a:p>
            <a:r>
              <a:rPr lang="en-GB" sz="2000" dirty="0"/>
              <a:t>Sentiment analysis is powerful, but it's a pre-built, general-purpose tool.</a:t>
            </a:r>
          </a:p>
          <a:p>
            <a:r>
              <a:rPr lang="en-GB" sz="2000" dirty="0"/>
              <a:t>It tells us if a text </a:t>
            </a:r>
            <a:r>
              <a:rPr lang="en-GB" sz="2000" i="1" dirty="0"/>
              <a:t>sounds</a:t>
            </a:r>
            <a:r>
              <a:rPr lang="en-GB" sz="2000" dirty="0"/>
              <a:t> positive.</a:t>
            </a:r>
          </a:p>
          <a:p>
            <a:r>
              <a:rPr lang="en-GB" sz="2000" dirty="0"/>
              <a:t>It </a:t>
            </a:r>
            <a:r>
              <a:rPr lang="en-GB" sz="2000" b="1" dirty="0"/>
              <a:t>doesn't learn</a:t>
            </a:r>
            <a:r>
              <a:rPr lang="en-GB" sz="2000" dirty="0"/>
              <a:t> from specific financial outcomes.</a:t>
            </a:r>
          </a:p>
          <a:p>
            <a:r>
              <a:rPr lang="en-GB" sz="2000" dirty="0" err="1"/>
              <a:t>TextBlob</a:t>
            </a:r>
            <a:r>
              <a:rPr lang="en-GB" sz="2000" dirty="0"/>
              <a:t> doesn't know that the phrase "beat expectations" is highly correlated with a stock price increase the next day. It just knows "beat" can be a neutral or negative word.</a:t>
            </a:r>
          </a:p>
          <a:p>
            <a:r>
              <a:rPr lang="en-GB" sz="2000" b="1" dirty="0"/>
              <a:t>The Challenge:</a:t>
            </a:r>
            <a:r>
              <a:rPr lang="en-GB" sz="2000" dirty="0"/>
              <a:t> How can we build a model that </a:t>
            </a:r>
            <a:r>
              <a:rPr lang="en-GB" sz="2000" b="1" dirty="0"/>
              <a:t>learns the relationship</a:t>
            </a:r>
            <a:r>
              <a:rPr lang="en-GB" sz="2000" dirty="0"/>
              <a:t> between the text of a news article and a real-world financial outcome (like the stock going up or down)?</a:t>
            </a:r>
          </a:p>
          <a:p>
            <a:endParaRPr lang="en-US" sz="2000" dirty="0"/>
          </a:p>
        </p:txBody>
      </p:sp>
    </p:spTree>
    <p:extLst>
      <p:ext uri="{BB962C8B-B14F-4D97-AF65-F5344CB8AC3E}">
        <p14:creationId xmlns:p14="http://schemas.microsoft.com/office/powerpoint/2010/main" val="38328913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rcRect t="23964"/>
          <a:stretch>
            <a:fillRect/>
          </a:stretch>
        </p:blipFill>
        <p:spPr>
          <a:xfrm>
            <a:off x="806105" y="974502"/>
            <a:ext cx="6661186" cy="3530987"/>
          </a:xfrm>
          <a:prstGeom prst="rect">
            <a:avLst/>
          </a:prstGeom>
        </p:spPr>
      </p:pic>
      <p:sp>
        <p:nvSpPr>
          <p:cNvPr id="5" name="Title 1">
            <a:extLst>
              <a:ext uri="{FF2B5EF4-FFF2-40B4-BE49-F238E27FC236}">
                <a16:creationId xmlns:a16="http://schemas.microsoft.com/office/drawing/2014/main" id="{BD2A6E1B-0DEB-2DC5-4BE4-E9D07987BC24}"/>
              </a:ext>
            </a:extLst>
          </p:cNvPr>
          <p:cNvSpPr txBox="1">
            <a:spLocks/>
          </p:cNvSpPr>
          <p:nvPr/>
        </p:nvSpPr>
        <p:spPr>
          <a:xfrm>
            <a:off x="375735" y="274639"/>
            <a:ext cx="8281882" cy="66570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2800" b="1" dirty="0">
                <a:solidFill>
                  <a:srgbClr val="C00000"/>
                </a:solidFill>
                <a:latin typeface="Arial" panose="020B0604020202020204" pitchFamily="34" charset="0"/>
                <a:cs typeface="Arial" panose="020B0604020202020204" pitchFamily="34" charset="0"/>
              </a:rPr>
              <a:t>Artificial Intelligence</a:t>
            </a:r>
            <a:endParaRPr lang="en-US" sz="2800" b="1" dirty="0">
              <a:solidFill>
                <a:srgbClr val="C00000"/>
              </a:solidFill>
              <a:latin typeface="Arial" panose="020B0604020202020204" pitchFamily="34" charset="0"/>
              <a:cs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C22AF-C874-C6BB-5B3C-76F0808368DE}"/>
              </a:ext>
            </a:extLst>
          </p:cNvPr>
          <p:cNvSpPr>
            <a:spLocks noGrp="1"/>
          </p:cNvSpPr>
          <p:nvPr>
            <p:ph type="title"/>
          </p:nvPr>
        </p:nvSpPr>
        <p:spPr/>
        <p:txBody>
          <a:bodyPr/>
          <a:lstStyle/>
          <a:p>
            <a:r>
              <a:rPr lang="en-GB" dirty="0"/>
              <a:t>The Answer: Machine Learning (ML)</a:t>
            </a:r>
          </a:p>
        </p:txBody>
      </p:sp>
      <p:sp>
        <p:nvSpPr>
          <p:cNvPr id="3" name="Content Placeholder 2">
            <a:extLst>
              <a:ext uri="{FF2B5EF4-FFF2-40B4-BE49-F238E27FC236}">
                <a16:creationId xmlns:a16="http://schemas.microsoft.com/office/drawing/2014/main" id="{B36D4944-4980-AEAD-D645-B9F1D096049F}"/>
              </a:ext>
            </a:extLst>
          </p:cNvPr>
          <p:cNvSpPr>
            <a:spLocks noGrp="1"/>
          </p:cNvSpPr>
          <p:nvPr>
            <p:ph idx="1"/>
          </p:nvPr>
        </p:nvSpPr>
        <p:spPr>
          <a:xfrm>
            <a:off x="447066" y="940341"/>
            <a:ext cx="8514053" cy="3748987"/>
          </a:xfrm>
        </p:spPr>
        <p:txBody>
          <a:bodyPr/>
          <a:lstStyle/>
          <a:p>
            <a:r>
              <a:rPr lang="en-GB" b="1" dirty="0"/>
              <a:t>Machine Learning</a:t>
            </a:r>
            <a:r>
              <a:rPr lang="en-GB" dirty="0"/>
              <a:t> is a field of AI that gives computers the ability to </a:t>
            </a:r>
            <a:r>
              <a:rPr lang="en-GB" b="1" dirty="0"/>
              <a:t>learn from data</a:t>
            </a:r>
            <a:r>
              <a:rPr lang="en-GB" dirty="0"/>
              <a:t> without being explicitly programmed.</a:t>
            </a:r>
          </a:p>
          <a:p>
            <a:r>
              <a:rPr lang="en-GB" dirty="0"/>
              <a:t>Instead of writing rules like if "beat expectations" in text: we can show the computer thousands of examples and let it figure out the patterns itself.</a:t>
            </a:r>
          </a:p>
          <a:p>
            <a:r>
              <a:rPr lang="en-GB" dirty="0"/>
              <a:t>It's the bridge from </a:t>
            </a:r>
            <a:r>
              <a:rPr lang="en-GB" b="1" dirty="0"/>
              <a:t>describing data</a:t>
            </a:r>
            <a:r>
              <a:rPr lang="en-GB" dirty="0"/>
              <a:t> to </a:t>
            </a:r>
            <a:r>
              <a:rPr lang="en-GB" b="1" dirty="0"/>
              <a:t>making predictions</a:t>
            </a:r>
            <a:r>
              <a:rPr lang="en-GB" dirty="0"/>
              <a:t>.</a:t>
            </a:r>
          </a:p>
        </p:txBody>
      </p:sp>
    </p:spTree>
    <p:extLst>
      <p:ext uri="{BB962C8B-B14F-4D97-AF65-F5344CB8AC3E}">
        <p14:creationId xmlns:p14="http://schemas.microsoft.com/office/powerpoint/2010/main" val="8686904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2AF18-9969-EC11-886E-589E1212FD88}"/>
              </a:ext>
            </a:extLst>
          </p:cNvPr>
          <p:cNvSpPr>
            <a:spLocks noGrp="1"/>
          </p:cNvSpPr>
          <p:nvPr>
            <p:ph type="title"/>
          </p:nvPr>
        </p:nvSpPr>
        <p:spPr/>
        <p:txBody>
          <a:bodyPr/>
          <a:lstStyle/>
          <a:p>
            <a:r>
              <a:rPr lang="en-US" dirty="0"/>
              <a:t>Supervised vs. Unsupervised Learning</a:t>
            </a:r>
          </a:p>
        </p:txBody>
      </p:sp>
      <p:sp>
        <p:nvSpPr>
          <p:cNvPr id="3" name="Content Placeholder 2">
            <a:extLst>
              <a:ext uri="{FF2B5EF4-FFF2-40B4-BE49-F238E27FC236}">
                <a16:creationId xmlns:a16="http://schemas.microsoft.com/office/drawing/2014/main" id="{CE7D92EC-0C90-8090-7A19-74591149CE91}"/>
              </a:ext>
            </a:extLst>
          </p:cNvPr>
          <p:cNvSpPr>
            <a:spLocks noGrp="1"/>
          </p:cNvSpPr>
          <p:nvPr>
            <p:ph idx="1"/>
          </p:nvPr>
        </p:nvSpPr>
        <p:spPr>
          <a:xfrm>
            <a:off x="411401" y="856776"/>
            <a:ext cx="8210550" cy="3262312"/>
          </a:xfrm>
        </p:spPr>
        <p:txBody>
          <a:bodyPr/>
          <a:lstStyle/>
          <a:p>
            <a:r>
              <a:rPr lang="en-GB" b="1" dirty="0"/>
              <a:t>Unsupervised Learning (You've already done this!)</a:t>
            </a:r>
            <a:endParaRPr lang="en-GB" dirty="0"/>
          </a:p>
          <a:p>
            <a:pPr lvl="1"/>
            <a:r>
              <a:rPr lang="en-GB" dirty="0"/>
              <a:t>The data has </a:t>
            </a:r>
            <a:r>
              <a:rPr lang="en-GB" b="1" dirty="0"/>
              <a:t>no labels</a:t>
            </a:r>
            <a:r>
              <a:rPr lang="en-GB" dirty="0"/>
              <a:t>. We ask the algorithm to find hidden structure.</a:t>
            </a:r>
          </a:p>
          <a:p>
            <a:pPr lvl="1"/>
            <a:r>
              <a:rPr lang="en-GB" b="1" dirty="0"/>
              <a:t>Analogy:</a:t>
            </a:r>
            <a:r>
              <a:rPr lang="en-GB" dirty="0"/>
              <a:t> Giving a person a box of mixed fruits and asking them to sort them into groups. They don't know the names "apple" or "orange," but they can cluster by </a:t>
            </a:r>
            <a:r>
              <a:rPr lang="en-GB" dirty="0" err="1"/>
              <a:t>color</a:t>
            </a:r>
            <a:r>
              <a:rPr lang="en-GB" dirty="0"/>
              <a:t>, shape, and size.</a:t>
            </a:r>
          </a:p>
          <a:p>
            <a:pPr lvl="1"/>
            <a:r>
              <a:rPr lang="en-GB" b="1" dirty="0"/>
              <a:t>Example from Week 8:</a:t>
            </a:r>
            <a:r>
              <a:rPr lang="en-GB" dirty="0"/>
              <a:t> Topic </a:t>
            </a:r>
            <a:r>
              <a:rPr lang="en-GB" dirty="0" err="1"/>
              <a:t>Modeling</a:t>
            </a:r>
            <a:r>
              <a:rPr lang="en-GB" dirty="0"/>
              <a:t> (LDA). We didn't tell the algorithm what the topics were; it discovered them.</a:t>
            </a:r>
          </a:p>
          <a:p>
            <a:endParaRPr lang="en-GB" sz="2000" dirty="0"/>
          </a:p>
        </p:txBody>
      </p:sp>
    </p:spTree>
    <p:extLst>
      <p:ext uri="{BB962C8B-B14F-4D97-AF65-F5344CB8AC3E}">
        <p14:creationId xmlns:p14="http://schemas.microsoft.com/office/powerpoint/2010/main" val="15458301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26641" y="275367"/>
            <a:ext cx="2924527" cy="304133"/>
          </a:xfrm>
          <a:prstGeom prst="rect">
            <a:avLst/>
          </a:prstGeom>
        </p:spPr>
      </p:pic>
      <p:pic>
        <p:nvPicPr>
          <p:cNvPr id="3" name="object 3"/>
          <p:cNvPicPr/>
          <p:nvPr/>
        </p:nvPicPr>
        <p:blipFill>
          <a:blip r:embed="rId3" cstate="print"/>
          <a:stretch>
            <a:fillRect/>
          </a:stretch>
        </p:blipFill>
        <p:spPr>
          <a:xfrm>
            <a:off x="3408616" y="275367"/>
            <a:ext cx="1297495" cy="304133"/>
          </a:xfrm>
          <a:prstGeom prst="rect">
            <a:avLst/>
          </a:prstGeom>
        </p:spPr>
      </p:pic>
      <p:sp>
        <p:nvSpPr>
          <p:cNvPr id="4" name="object 4"/>
          <p:cNvSpPr txBox="1"/>
          <p:nvPr/>
        </p:nvSpPr>
        <p:spPr>
          <a:xfrm>
            <a:off x="242049" y="941599"/>
            <a:ext cx="3782378" cy="1593706"/>
          </a:xfrm>
          <a:prstGeom prst="rect">
            <a:avLst/>
          </a:prstGeom>
          <a:solidFill>
            <a:srgbClr val="9B2C1F"/>
          </a:solidFill>
        </p:spPr>
        <p:txBody>
          <a:bodyPr vert="horz" wrap="square" lIns="0" tIns="69533" rIns="0" bIns="0" rtlCol="0">
            <a:spAutoFit/>
          </a:bodyPr>
          <a:lstStyle/>
          <a:p>
            <a:pPr algn="ctr">
              <a:spcBef>
                <a:spcPts val="548"/>
              </a:spcBef>
            </a:pPr>
            <a:r>
              <a:rPr sz="2400" b="1" dirty="0">
                <a:solidFill>
                  <a:srgbClr val="FFFFFF"/>
                </a:solidFill>
                <a:latin typeface="Rockwell"/>
                <a:cs typeface="Rockwell"/>
              </a:rPr>
              <a:t>What</a:t>
            </a:r>
            <a:r>
              <a:rPr sz="2400" b="1" spc="-11" dirty="0">
                <a:solidFill>
                  <a:srgbClr val="FFFFFF"/>
                </a:solidFill>
                <a:latin typeface="Rockwell"/>
                <a:cs typeface="Rockwell"/>
              </a:rPr>
              <a:t> </a:t>
            </a:r>
            <a:r>
              <a:rPr sz="2400" b="1" dirty="0">
                <a:solidFill>
                  <a:srgbClr val="FFFFFF"/>
                </a:solidFill>
                <a:latin typeface="Rockwell"/>
                <a:cs typeface="Rockwell"/>
              </a:rPr>
              <a:t>is</a:t>
            </a:r>
            <a:r>
              <a:rPr sz="2400" b="1" spc="4" dirty="0">
                <a:solidFill>
                  <a:srgbClr val="FFFFFF"/>
                </a:solidFill>
                <a:latin typeface="Rockwell"/>
                <a:cs typeface="Rockwell"/>
              </a:rPr>
              <a:t> </a:t>
            </a:r>
            <a:r>
              <a:rPr sz="2400" b="1" spc="-19" dirty="0">
                <a:solidFill>
                  <a:srgbClr val="FFFFFF"/>
                </a:solidFill>
                <a:latin typeface="Rockwell"/>
                <a:cs typeface="Rockwell"/>
              </a:rPr>
              <a:t>it?</a:t>
            </a:r>
            <a:endParaRPr sz="2400">
              <a:latin typeface="Rockwell"/>
              <a:cs typeface="Rockwell"/>
            </a:endParaRPr>
          </a:p>
          <a:p>
            <a:pPr marL="253841" marR="249079" indent="47149" algn="ctr">
              <a:spcBef>
                <a:spcPts val="26"/>
              </a:spcBef>
            </a:pPr>
            <a:r>
              <a:rPr sz="1500" dirty="0">
                <a:solidFill>
                  <a:srgbClr val="FFFFFF"/>
                </a:solidFill>
                <a:latin typeface="Rockwell"/>
                <a:cs typeface="Rockwell"/>
              </a:rPr>
              <a:t>An</a:t>
            </a:r>
            <a:r>
              <a:rPr sz="1500" spc="-34" dirty="0">
                <a:solidFill>
                  <a:srgbClr val="FFFFFF"/>
                </a:solidFill>
                <a:latin typeface="Rockwell"/>
                <a:cs typeface="Rockwell"/>
              </a:rPr>
              <a:t> </a:t>
            </a:r>
            <a:r>
              <a:rPr sz="1500" dirty="0">
                <a:solidFill>
                  <a:srgbClr val="FFFFFF"/>
                </a:solidFill>
                <a:latin typeface="Rockwell"/>
                <a:cs typeface="Rockwell"/>
              </a:rPr>
              <a:t>algorithm</a:t>
            </a:r>
            <a:r>
              <a:rPr sz="1500" spc="-49" dirty="0">
                <a:solidFill>
                  <a:srgbClr val="FFFFFF"/>
                </a:solidFill>
                <a:latin typeface="Rockwell"/>
                <a:cs typeface="Rockwell"/>
              </a:rPr>
              <a:t> </a:t>
            </a:r>
            <a:r>
              <a:rPr sz="1500" dirty="0">
                <a:solidFill>
                  <a:srgbClr val="FFFFFF"/>
                </a:solidFill>
                <a:latin typeface="Rockwell"/>
                <a:cs typeface="Rockwell"/>
              </a:rPr>
              <a:t>uses</a:t>
            </a:r>
            <a:r>
              <a:rPr sz="1500" spc="-26" dirty="0">
                <a:solidFill>
                  <a:srgbClr val="FFFFFF"/>
                </a:solidFill>
                <a:latin typeface="Rockwell"/>
                <a:cs typeface="Rockwell"/>
              </a:rPr>
              <a:t> </a:t>
            </a:r>
            <a:r>
              <a:rPr sz="1500" dirty="0">
                <a:solidFill>
                  <a:srgbClr val="FFFFFF"/>
                </a:solidFill>
                <a:latin typeface="Rockwell"/>
                <a:cs typeface="Rockwell"/>
              </a:rPr>
              <a:t>training</a:t>
            </a:r>
            <a:r>
              <a:rPr sz="1500" spc="-45" dirty="0">
                <a:solidFill>
                  <a:srgbClr val="FFFFFF"/>
                </a:solidFill>
                <a:latin typeface="Rockwell"/>
                <a:cs typeface="Rockwell"/>
              </a:rPr>
              <a:t> </a:t>
            </a:r>
            <a:r>
              <a:rPr sz="1500" dirty="0">
                <a:solidFill>
                  <a:srgbClr val="FFFFFF"/>
                </a:solidFill>
                <a:latin typeface="Rockwell"/>
                <a:cs typeface="Rockwell"/>
              </a:rPr>
              <a:t>data</a:t>
            </a:r>
            <a:r>
              <a:rPr sz="1500" spc="-38" dirty="0">
                <a:solidFill>
                  <a:srgbClr val="FFFFFF"/>
                </a:solidFill>
                <a:latin typeface="Rockwell"/>
                <a:cs typeface="Rockwell"/>
              </a:rPr>
              <a:t> </a:t>
            </a:r>
            <a:r>
              <a:rPr sz="1500" spc="-19" dirty="0">
                <a:solidFill>
                  <a:srgbClr val="FFFFFF"/>
                </a:solidFill>
                <a:latin typeface="Rockwell"/>
                <a:cs typeface="Rockwell"/>
              </a:rPr>
              <a:t>and </a:t>
            </a:r>
            <a:r>
              <a:rPr sz="1500" dirty="0">
                <a:solidFill>
                  <a:srgbClr val="FFFFFF"/>
                </a:solidFill>
                <a:latin typeface="Rockwell"/>
                <a:cs typeface="Rockwell"/>
              </a:rPr>
              <a:t>feedback</a:t>
            </a:r>
            <a:r>
              <a:rPr sz="1500" spc="-26" dirty="0">
                <a:solidFill>
                  <a:srgbClr val="FFFFFF"/>
                </a:solidFill>
                <a:latin typeface="Rockwell"/>
                <a:cs typeface="Rockwell"/>
              </a:rPr>
              <a:t> </a:t>
            </a:r>
            <a:r>
              <a:rPr sz="1500" dirty="0">
                <a:solidFill>
                  <a:srgbClr val="FFFFFF"/>
                </a:solidFill>
                <a:latin typeface="Rockwell"/>
                <a:cs typeface="Rockwell"/>
              </a:rPr>
              <a:t>from</a:t>
            </a:r>
            <a:r>
              <a:rPr sz="1500" spc="-19" dirty="0">
                <a:solidFill>
                  <a:srgbClr val="FFFFFF"/>
                </a:solidFill>
                <a:latin typeface="Rockwell"/>
                <a:cs typeface="Rockwell"/>
              </a:rPr>
              <a:t> </a:t>
            </a:r>
            <a:r>
              <a:rPr sz="1500" dirty="0">
                <a:solidFill>
                  <a:srgbClr val="FFFFFF"/>
                </a:solidFill>
                <a:latin typeface="Rockwell"/>
                <a:cs typeface="Rockwell"/>
              </a:rPr>
              <a:t>humans</a:t>
            </a:r>
            <a:r>
              <a:rPr sz="1500" spc="-19" dirty="0">
                <a:solidFill>
                  <a:srgbClr val="FFFFFF"/>
                </a:solidFill>
                <a:latin typeface="Rockwell"/>
                <a:cs typeface="Rockwell"/>
              </a:rPr>
              <a:t> </a:t>
            </a:r>
            <a:r>
              <a:rPr sz="1500" dirty="0">
                <a:solidFill>
                  <a:srgbClr val="FFFFFF"/>
                </a:solidFill>
                <a:latin typeface="Rockwell"/>
                <a:cs typeface="Rockwell"/>
              </a:rPr>
              <a:t>to</a:t>
            </a:r>
            <a:r>
              <a:rPr sz="1500" spc="-23" dirty="0">
                <a:solidFill>
                  <a:srgbClr val="FFFFFF"/>
                </a:solidFill>
                <a:latin typeface="Rockwell"/>
                <a:cs typeface="Rockwell"/>
              </a:rPr>
              <a:t> </a:t>
            </a:r>
            <a:r>
              <a:rPr sz="1500" dirty="0">
                <a:solidFill>
                  <a:srgbClr val="FFFFFF"/>
                </a:solidFill>
                <a:latin typeface="Rockwell"/>
                <a:cs typeface="Rockwell"/>
              </a:rPr>
              <a:t>learn</a:t>
            </a:r>
            <a:r>
              <a:rPr sz="1500" spc="-15" dirty="0">
                <a:solidFill>
                  <a:srgbClr val="FFFFFF"/>
                </a:solidFill>
                <a:latin typeface="Rockwell"/>
                <a:cs typeface="Rockwell"/>
              </a:rPr>
              <a:t> </a:t>
            </a:r>
            <a:r>
              <a:rPr sz="1500" spc="-19" dirty="0">
                <a:solidFill>
                  <a:srgbClr val="FFFFFF"/>
                </a:solidFill>
                <a:latin typeface="Rockwell"/>
                <a:cs typeface="Rockwell"/>
              </a:rPr>
              <a:t>the </a:t>
            </a:r>
            <a:r>
              <a:rPr sz="1500" spc="-8" dirty="0">
                <a:solidFill>
                  <a:srgbClr val="FFFFFF"/>
                </a:solidFill>
                <a:latin typeface="Rockwell"/>
                <a:cs typeface="Rockwell"/>
              </a:rPr>
              <a:t>relationship</a:t>
            </a:r>
            <a:r>
              <a:rPr sz="1500" spc="-41" dirty="0">
                <a:solidFill>
                  <a:srgbClr val="FFFFFF"/>
                </a:solidFill>
                <a:latin typeface="Rockwell"/>
                <a:cs typeface="Rockwell"/>
              </a:rPr>
              <a:t> </a:t>
            </a:r>
            <a:r>
              <a:rPr sz="1500" dirty="0">
                <a:solidFill>
                  <a:srgbClr val="FFFFFF"/>
                </a:solidFill>
                <a:latin typeface="Rockwell"/>
                <a:cs typeface="Rockwell"/>
              </a:rPr>
              <a:t>of</a:t>
            </a:r>
            <a:r>
              <a:rPr sz="1500" spc="-15" dirty="0">
                <a:solidFill>
                  <a:srgbClr val="FFFFFF"/>
                </a:solidFill>
                <a:latin typeface="Rockwell"/>
                <a:cs typeface="Rockwell"/>
              </a:rPr>
              <a:t> </a:t>
            </a:r>
            <a:r>
              <a:rPr sz="1500" spc="-8" dirty="0">
                <a:solidFill>
                  <a:srgbClr val="FFFFFF"/>
                </a:solidFill>
                <a:latin typeface="Rockwell"/>
                <a:cs typeface="Rockwell"/>
              </a:rPr>
              <a:t>given</a:t>
            </a:r>
            <a:r>
              <a:rPr sz="1500" spc="-30" dirty="0">
                <a:solidFill>
                  <a:srgbClr val="FFFFFF"/>
                </a:solidFill>
                <a:latin typeface="Rockwell"/>
                <a:cs typeface="Rockwell"/>
              </a:rPr>
              <a:t> </a:t>
            </a:r>
            <a:r>
              <a:rPr sz="1500" dirty="0">
                <a:solidFill>
                  <a:srgbClr val="FFFFFF"/>
                </a:solidFill>
                <a:latin typeface="Rockwell"/>
                <a:cs typeface="Rockwell"/>
              </a:rPr>
              <a:t>inputs</a:t>
            </a:r>
            <a:r>
              <a:rPr sz="1500" spc="-19" dirty="0">
                <a:solidFill>
                  <a:srgbClr val="FFFFFF"/>
                </a:solidFill>
                <a:latin typeface="Rockwell"/>
                <a:cs typeface="Rockwell"/>
              </a:rPr>
              <a:t> </a:t>
            </a:r>
            <a:r>
              <a:rPr sz="1500" dirty="0">
                <a:solidFill>
                  <a:srgbClr val="FFFFFF"/>
                </a:solidFill>
                <a:latin typeface="Rockwell"/>
                <a:cs typeface="Rockwell"/>
              </a:rPr>
              <a:t>to</a:t>
            </a:r>
            <a:r>
              <a:rPr sz="1500" spc="-19" dirty="0">
                <a:solidFill>
                  <a:srgbClr val="FFFFFF"/>
                </a:solidFill>
                <a:latin typeface="Rockwell"/>
                <a:cs typeface="Rockwell"/>
              </a:rPr>
              <a:t> </a:t>
            </a:r>
            <a:r>
              <a:rPr sz="1500" dirty="0">
                <a:solidFill>
                  <a:srgbClr val="FFFFFF"/>
                </a:solidFill>
                <a:latin typeface="Rockwell"/>
                <a:cs typeface="Rockwell"/>
              </a:rPr>
              <a:t>a</a:t>
            </a:r>
            <a:r>
              <a:rPr sz="1500" spc="-30" dirty="0">
                <a:solidFill>
                  <a:srgbClr val="FFFFFF"/>
                </a:solidFill>
                <a:latin typeface="Rockwell"/>
                <a:cs typeface="Rockwell"/>
              </a:rPr>
              <a:t> </a:t>
            </a:r>
            <a:r>
              <a:rPr sz="1500" spc="-8" dirty="0">
                <a:solidFill>
                  <a:srgbClr val="FFFFFF"/>
                </a:solidFill>
                <a:latin typeface="Rockwell"/>
                <a:cs typeface="Rockwell"/>
              </a:rPr>
              <a:t>given </a:t>
            </a:r>
            <a:r>
              <a:rPr sz="1500" dirty="0">
                <a:solidFill>
                  <a:srgbClr val="FFFFFF"/>
                </a:solidFill>
                <a:latin typeface="Rockwell"/>
                <a:cs typeface="Rockwell"/>
              </a:rPr>
              <a:t>output</a:t>
            </a:r>
            <a:r>
              <a:rPr sz="1500" spc="-11" dirty="0">
                <a:solidFill>
                  <a:srgbClr val="FFFFFF"/>
                </a:solidFill>
                <a:latin typeface="Rockwell"/>
                <a:cs typeface="Rockwell"/>
              </a:rPr>
              <a:t> </a:t>
            </a:r>
            <a:r>
              <a:rPr sz="1500" spc="-23" dirty="0">
                <a:solidFill>
                  <a:srgbClr val="FFFFFF"/>
                </a:solidFill>
                <a:latin typeface="Rockwell"/>
                <a:cs typeface="Rockwell"/>
              </a:rPr>
              <a:t>(eg,</a:t>
            </a:r>
            <a:r>
              <a:rPr sz="1500" spc="-116" dirty="0">
                <a:solidFill>
                  <a:srgbClr val="FFFFFF"/>
                </a:solidFill>
                <a:latin typeface="Rockwell"/>
                <a:cs typeface="Rockwell"/>
              </a:rPr>
              <a:t> </a:t>
            </a:r>
            <a:r>
              <a:rPr sz="1500" spc="-8" dirty="0">
                <a:solidFill>
                  <a:srgbClr val="FFFFFF"/>
                </a:solidFill>
                <a:latin typeface="Rockwell"/>
                <a:cs typeface="Rockwell"/>
              </a:rPr>
              <a:t>how</a:t>
            </a:r>
            <a:r>
              <a:rPr sz="1500" spc="-15" dirty="0">
                <a:solidFill>
                  <a:srgbClr val="FFFFFF"/>
                </a:solidFill>
                <a:latin typeface="Rockwell"/>
                <a:cs typeface="Rockwell"/>
              </a:rPr>
              <a:t> </a:t>
            </a:r>
            <a:r>
              <a:rPr sz="1500" dirty="0">
                <a:solidFill>
                  <a:srgbClr val="FFFFFF"/>
                </a:solidFill>
                <a:latin typeface="Rockwell"/>
                <a:cs typeface="Rockwell"/>
              </a:rPr>
              <a:t>the</a:t>
            </a:r>
            <a:r>
              <a:rPr sz="1500" spc="4" dirty="0">
                <a:solidFill>
                  <a:srgbClr val="FFFFFF"/>
                </a:solidFill>
                <a:latin typeface="Rockwell"/>
                <a:cs typeface="Rockwell"/>
              </a:rPr>
              <a:t> </a:t>
            </a:r>
            <a:r>
              <a:rPr sz="1500" spc="-8" dirty="0">
                <a:solidFill>
                  <a:srgbClr val="FFFFFF"/>
                </a:solidFill>
                <a:latin typeface="Rockwell"/>
                <a:cs typeface="Rockwell"/>
              </a:rPr>
              <a:t>inputs</a:t>
            </a:r>
            <a:r>
              <a:rPr sz="1500" spc="-124" dirty="0">
                <a:solidFill>
                  <a:srgbClr val="FFFFFF"/>
                </a:solidFill>
                <a:latin typeface="Rockwell"/>
                <a:cs typeface="Rockwell"/>
              </a:rPr>
              <a:t> </a:t>
            </a:r>
            <a:r>
              <a:rPr sz="1500" spc="-19" dirty="0">
                <a:solidFill>
                  <a:srgbClr val="FFFFFF"/>
                </a:solidFill>
                <a:latin typeface="Rockwell"/>
                <a:cs typeface="Rockwell"/>
              </a:rPr>
              <a:t>“area”</a:t>
            </a:r>
            <a:r>
              <a:rPr sz="1500" spc="-150" dirty="0">
                <a:solidFill>
                  <a:srgbClr val="FFFFFF"/>
                </a:solidFill>
                <a:latin typeface="Rockwell"/>
                <a:cs typeface="Rockwell"/>
              </a:rPr>
              <a:t> </a:t>
            </a:r>
            <a:r>
              <a:rPr sz="1500" spc="-19" dirty="0">
                <a:solidFill>
                  <a:srgbClr val="FFFFFF"/>
                </a:solidFill>
                <a:latin typeface="Rockwell"/>
                <a:cs typeface="Rockwell"/>
              </a:rPr>
              <a:t>and </a:t>
            </a:r>
            <a:r>
              <a:rPr sz="1500" spc="-8" dirty="0">
                <a:solidFill>
                  <a:srgbClr val="FFFFFF"/>
                </a:solidFill>
                <a:latin typeface="Rockwell"/>
                <a:cs typeface="Rockwell"/>
              </a:rPr>
              <a:t>“location”</a:t>
            </a:r>
            <a:r>
              <a:rPr sz="1500" spc="-143" dirty="0">
                <a:solidFill>
                  <a:srgbClr val="FFFFFF"/>
                </a:solidFill>
                <a:latin typeface="Rockwell"/>
                <a:cs typeface="Rockwell"/>
              </a:rPr>
              <a:t> </a:t>
            </a:r>
            <a:r>
              <a:rPr sz="1500" dirty="0">
                <a:solidFill>
                  <a:srgbClr val="FFFFFF"/>
                </a:solidFill>
                <a:latin typeface="Rockwell"/>
                <a:cs typeface="Rockwell"/>
              </a:rPr>
              <a:t>predict</a:t>
            </a:r>
            <a:r>
              <a:rPr sz="1500" spc="-41" dirty="0">
                <a:solidFill>
                  <a:srgbClr val="FFFFFF"/>
                </a:solidFill>
                <a:latin typeface="Rockwell"/>
                <a:cs typeface="Rockwell"/>
              </a:rPr>
              <a:t> </a:t>
            </a:r>
            <a:r>
              <a:rPr sz="1500" spc="-8" dirty="0">
                <a:solidFill>
                  <a:srgbClr val="FFFFFF"/>
                </a:solidFill>
                <a:latin typeface="Rockwell"/>
                <a:cs typeface="Rockwell"/>
              </a:rPr>
              <a:t>returns)</a:t>
            </a:r>
            <a:endParaRPr sz="1500">
              <a:latin typeface="Rockwell"/>
              <a:cs typeface="Rockwell"/>
            </a:endParaRPr>
          </a:p>
        </p:txBody>
      </p:sp>
      <p:sp>
        <p:nvSpPr>
          <p:cNvPr id="5" name="object 5"/>
          <p:cNvSpPr txBox="1"/>
          <p:nvPr/>
        </p:nvSpPr>
        <p:spPr>
          <a:xfrm>
            <a:off x="242049" y="2963656"/>
            <a:ext cx="3782378" cy="1589859"/>
          </a:xfrm>
          <a:prstGeom prst="rect">
            <a:avLst/>
          </a:prstGeom>
          <a:solidFill>
            <a:srgbClr val="D24717"/>
          </a:solidFill>
        </p:spPr>
        <p:txBody>
          <a:bodyPr vert="horz" wrap="square" lIns="0" tIns="294323" rIns="0" bIns="0" rtlCol="0">
            <a:spAutoFit/>
          </a:bodyPr>
          <a:lstStyle/>
          <a:p>
            <a:pPr algn="ctr">
              <a:spcBef>
                <a:spcPts val="2318"/>
              </a:spcBef>
            </a:pPr>
            <a:r>
              <a:rPr sz="2400" b="1" dirty="0">
                <a:solidFill>
                  <a:srgbClr val="FFFFFF"/>
                </a:solidFill>
                <a:latin typeface="Rockwell"/>
                <a:cs typeface="Rockwell"/>
              </a:rPr>
              <a:t>When</a:t>
            </a:r>
            <a:r>
              <a:rPr sz="2400" b="1" spc="4" dirty="0">
                <a:solidFill>
                  <a:srgbClr val="FFFFFF"/>
                </a:solidFill>
                <a:latin typeface="Rockwell"/>
                <a:cs typeface="Rockwell"/>
              </a:rPr>
              <a:t> </a:t>
            </a:r>
            <a:r>
              <a:rPr sz="2400" b="1" dirty="0">
                <a:solidFill>
                  <a:srgbClr val="FFFFFF"/>
                </a:solidFill>
                <a:latin typeface="Rockwell"/>
                <a:cs typeface="Rockwell"/>
              </a:rPr>
              <a:t>to</a:t>
            </a:r>
            <a:r>
              <a:rPr sz="2400" b="1" spc="15" dirty="0">
                <a:solidFill>
                  <a:srgbClr val="FFFFFF"/>
                </a:solidFill>
                <a:latin typeface="Rockwell"/>
                <a:cs typeface="Rockwell"/>
              </a:rPr>
              <a:t> </a:t>
            </a:r>
            <a:r>
              <a:rPr sz="2400" b="1" dirty="0">
                <a:solidFill>
                  <a:srgbClr val="FFFFFF"/>
                </a:solidFill>
                <a:latin typeface="Rockwell"/>
                <a:cs typeface="Rockwell"/>
              </a:rPr>
              <a:t>use</a:t>
            </a:r>
            <a:r>
              <a:rPr sz="2400" b="1" spc="15" dirty="0">
                <a:solidFill>
                  <a:srgbClr val="FFFFFF"/>
                </a:solidFill>
                <a:latin typeface="Rockwell"/>
                <a:cs typeface="Rockwell"/>
              </a:rPr>
              <a:t> </a:t>
            </a:r>
            <a:r>
              <a:rPr sz="2400" b="1" spc="-19" dirty="0">
                <a:solidFill>
                  <a:srgbClr val="FFFFFF"/>
                </a:solidFill>
                <a:latin typeface="Rockwell"/>
                <a:cs typeface="Rockwell"/>
              </a:rPr>
              <a:t>it?</a:t>
            </a:r>
            <a:endParaRPr sz="2400">
              <a:latin typeface="Rockwell"/>
              <a:cs typeface="Rockwell"/>
            </a:endParaRPr>
          </a:p>
          <a:p>
            <a:pPr marL="194309" marR="187643" algn="ctr">
              <a:spcBef>
                <a:spcPts val="26"/>
              </a:spcBef>
            </a:pPr>
            <a:r>
              <a:rPr sz="1500" spc="-49" dirty="0">
                <a:solidFill>
                  <a:srgbClr val="FFFFFF"/>
                </a:solidFill>
                <a:latin typeface="Rockwell"/>
                <a:cs typeface="Rockwell"/>
              </a:rPr>
              <a:t>You</a:t>
            </a:r>
            <a:r>
              <a:rPr sz="1500" spc="-30" dirty="0">
                <a:solidFill>
                  <a:srgbClr val="FFFFFF"/>
                </a:solidFill>
                <a:latin typeface="Rockwell"/>
                <a:cs typeface="Rockwell"/>
              </a:rPr>
              <a:t> </a:t>
            </a:r>
            <a:r>
              <a:rPr sz="1500" spc="-8" dirty="0">
                <a:solidFill>
                  <a:srgbClr val="FFFFFF"/>
                </a:solidFill>
                <a:latin typeface="Rockwell"/>
                <a:cs typeface="Rockwell"/>
              </a:rPr>
              <a:t>know</a:t>
            </a:r>
            <a:r>
              <a:rPr sz="1500" spc="-53" dirty="0">
                <a:solidFill>
                  <a:srgbClr val="FFFFFF"/>
                </a:solidFill>
                <a:latin typeface="Rockwell"/>
                <a:cs typeface="Rockwell"/>
              </a:rPr>
              <a:t> </a:t>
            </a:r>
            <a:r>
              <a:rPr sz="1500" spc="-8" dirty="0">
                <a:solidFill>
                  <a:srgbClr val="FFFFFF"/>
                </a:solidFill>
                <a:latin typeface="Rockwell"/>
                <a:cs typeface="Rockwell"/>
              </a:rPr>
              <a:t>how</a:t>
            </a:r>
            <a:r>
              <a:rPr sz="1500" spc="-41" dirty="0">
                <a:solidFill>
                  <a:srgbClr val="FFFFFF"/>
                </a:solidFill>
                <a:latin typeface="Rockwell"/>
                <a:cs typeface="Rockwell"/>
              </a:rPr>
              <a:t> </a:t>
            </a:r>
            <a:r>
              <a:rPr sz="1500" dirty="0">
                <a:solidFill>
                  <a:srgbClr val="FFFFFF"/>
                </a:solidFill>
                <a:latin typeface="Rockwell"/>
                <a:cs typeface="Rockwell"/>
              </a:rPr>
              <a:t>to</a:t>
            </a:r>
            <a:r>
              <a:rPr sz="1500" spc="-30" dirty="0">
                <a:solidFill>
                  <a:srgbClr val="FFFFFF"/>
                </a:solidFill>
                <a:latin typeface="Rockwell"/>
                <a:cs typeface="Rockwell"/>
              </a:rPr>
              <a:t> </a:t>
            </a:r>
            <a:r>
              <a:rPr sz="1500" dirty="0">
                <a:solidFill>
                  <a:srgbClr val="FFFFFF"/>
                </a:solidFill>
                <a:latin typeface="Rockwell"/>
                <a:cs typeface="Rockwell"/>
              </a:rPr>
              <a:t>classify</a:t>
            </a:r>
            <a:r>
              <a:rPr sz="1500" spc="-41" dirty="0">
                <a:solidFill>
                  <a:srgbClr val="FFFFFF"/>
                </a:solidFill>
                <a:latin typeface="Rockwell"/>
                <a:cs typeface="Rockwell"/>
              </a:rPr>
              <a:t> </a:t>
            </a:r>
            <a:r>
              <a:rPr sz="1500" dirty="0">
                <a:solidFill>
                  <a:srgbClr val="FFFFFF"/>
                </a:solidFill>
                <a:latin typeface="Rockwell"/>
                <a:cs typeface="Rockwell"/>
              </a:rPr>
              <a:t>the</a:t>
            </a:r>
            <a:r>
              <a:rPr sz="1500" spc="-26" dirty="0">
                <a:solidFill>
                  <a:srgbClr val="FFFFFF"/>
                </a:solidFill>
                <a:latin typeface="Rockwell"/>
                <a:cs typeface="Rockwell"/>
              </a:rPr>
              <a:t> </a:t>
            </a:r>
            <a:r>
              <a:rPr sz="1500" dirty="0">
                <a:solidFill>
                  <a:srgbClr val="FFFFFF"/>
                </a:solidFill>
                <a:latin typeface="Rockwell"/>
                <a:cs typeface="Rockwell"/>
              </a:rPr>
              <a:t>input</a:t>
            </a:r>
            <a:r>
              <a:rPr sz="1500" spc="-41" dirty="0">
                <a:solidFill>
                  <a:srgbClr val="FFFFFF"/>
                </a:solidFill>
                <a:latin typeface="Rockwell"/>
                <a:cs typeface="Rockwell"/>
              </a:rPr>
              <a:t> </a:t>
            </a:r>
            <a:r>
              <a:rPr sz="1500" spc="-15" dirty="0">
                <a:solidFill>
                  <a:srgbClr val="FFFFFF"/>
                </a:solidFill>
                <a:latin typeface="Rockwell"/>
                <a:cs typeface="Rockwell"/>
              </a:rPr>
              <a:t>data </a:t>
            </a:r>
            <a:r>
              <a:rPr sz="1500" dirty="0">
                <a:solidFill>
                  <a:srgbClr val="FFFFFF"/>
                </a:solidFill>
                <a:latin typeface="Rockwell"/>
                <a:cs typeface="Rockwell"/>
              </a:rPr>
              <a:t>and</a:t>
            </a:r>
            <a:r>
              <a:rPr sz="1500" spc="-41" dirty="0">
                <a:solidFill>
                  <a:srgbClr val="FFFFFF"/>
                </a:solidFill>
                <a:latin typeface="Rockwell"/>
                <a:cs typeface="Rockwell"/>
              </a:rPr>
              <a:t> </a:t>
            </a:r>
            <a:r>
              <a:rPr sz="1500" dirty="0">
                <a:solidFill>
                  <a:srgbClr val="FFFFFF"/>
                </a:solidFill>
                <a:latin typeface="Rockwell"/>
                <a:cs typeface="Rockwell"/>
              </a:rPr>
              <a:t>the</a:t>
            </a:r>
            <a:r>
              <a:rPr sz="1500" spc="-30" dirty="0">
                <a:solidFill>
                  <a:srgbClr val="FFFFFF"/>
                </a:solidFill>
                <a:latin typeface="Rockwell"/>
                <a:cs typeface="Rockwell"/>
              </a:rPr>
              <a:t> </a:t>
            </a:r>
            <a:r>
              <a:rPr sz="1500" dirty="0">
                <a:solidFill>
                  <a:srgbClr val="FFFFFF"/>
                </a:solidFill>
                <a:latin typeface="Rockwell"/>
                <a:cs typeface="Rockwell"/>
              </a:rPr>
              <a:t>type</a:t>
            </a:r>
            <a:r>
              <a:rPr sz="1500" spc="-38" dirty="0">
                <a:solidFill>
                  <a:srgbClr val="FFFFFF"/>
                </a:solidFill>
                <a:latin typeface="Rockwell"/>
                <a:cs typeface="Rockwell"/>
              </a:rPr>
              <a:t> </a:t>
            </a:r>
            <a:r>
              <a:rPr sz="1500" dirty="0">
                <a:solidFill>
                  <a:srgbClr val="FFFFFF"/>
                </a:solidFill>
                <a:latin typeface="Rockwell"/>
                <a:cs typeface="Rockwell"/>
              </a:rPr>
              <a:t>of</a:t>
            </a:r>
            <a:r>
              <a:rPr sz="1500" spc="-34" dirty="0">
                <a:solidFill>
                  <a:srgbClr val="FFFFFF"/>
                </a:solidFill>
                <a:latin typeface="Rockwell"/>
                <a:cs typeface="Rockwell"/>
              </a:rPr>
              <a:t> </a:t>
            </a:r>
            <a:r>
              <a:rPr sz="1500" dirty="0">
                <a:solidFill>
                  <a:srgbClr val="FFFFFF"/>
                </a:solidFill>
                <a:latin typeface="Rockwell"/>
                <a:cs typeface="Rockwell"/>
              </a:rPr>
              <a:t>behaviour</a:t>
            </a:r>
            <a:r>
              <a:rPr sz="1500" spc="-49" dirty="0">
                <a:solidFill>
                  <a:srgbClr val="FFFFFF"/>
                </a:solidFill>
                <a:latin typeface="Rockwell"/>
                <a:cs typeface="Rockwell"/>
              </a:rPr>
              <a:t> </a:t>
            </a:r>
            <a:r>
              <a:rPr sz="1500" dirty="0">
                <a:solidFill>
                  <a:srgbClr val="FFFFFF"/>
                </a:solidFill>
                <a:latin typeface="Rockwell"/>
                <a:cs typeface="Rockwell"/>
              </a:rPr>
              <a:t>you</a:t>
            </a:r>
            <a:r>
              <a:rPr sz="1500" spc="-30" dirty="0">
                <a:solidFill>
                  <a:srgbClr val="FFFFFF"/>
                </a:solidFill>
                <a:latin typeface="Rockwell"/>
                <a:cs typeface="Rockwell"/>
              </a:rPr>
              <a:t> </a:t>
            </a:r>
            <a:r>
              <a:rPr sz="1500" dirty="0">
                <a:solidFill>
                  <a:srgbClr val="FFFFFF"/>
                </a:solidFill>
                <a:latin typeface="Rockwell"/>
                <a:cs typeface="Rockwell"/>
              </a:rPr>
              <a:t>want</a:t>
            </a:r>
            <a:r>
              <a:rPr sz="1500" spc="-41" dirty="0">
                <a:solidFill>
                  <a:srgbClr val="FFFFFF"/>
                </a:solidFill>
                <a:latin typeface="Rockwell"/>
                <a:cs typeface="Rockwell"/>
              </a:rPr>
              <a:t> </a:t>
            </a:r>
            <a:r>
              <a:rPr sz="1500" spc="-19" dirty="0">
                <a:solidFill>
                  <a:srgbClr val="FFFFFF"/>
                </a:solidFill>
                <a:latin typeface="Rockwell"/>
                <a:cs typeface="Rockwell"/>
              </a:rPr>
              <a:t>to </a:t>
            </a:r>
            <a:r>
              <a:rPr sz="1500" spc="-15" dirty="0">
                <a:solidFill>
                  <a:srgbClr val="FFFFFF"/>
                </a:solidFill>
                <a:latin typeface="Rockwell"/>
                <a:cs typeface="Rockwell"/>
              </a:rPr>
              <a:t>predict,</a:t>
            </a:r>
            <a:r>
              <a:rPr sz="1500" spc="-135" dirty="0">
                <a:solidFill>
                  <a:srgbClr val="FFFFFF"/>
                </a:solidFill>
                <a:latin typeface="Rockwell"/>
                <a:cs typeface="Rockwell"/>
              </a:rPr>
              <a:t> </a:t>
            </a:r>
            <a:r>
              <a:rPr sz="1500" dirty="0">
                <a:solidFill>
                  <a:srgbClr val="FFFFFF"/>
                </a:solidFill>
                <a:latin typeface="Rockwell"/>
                <a:cs typeface="Rockwell"/>
              </a:rPr>
              <a:t>but</a:t>
            </a:r>
            <a:r>
              <a:rPr sz="1500" spc="-53" dirty="0">
                <a:solidFill>
                  <a:srgbClr val="FFFFFF"/>
                </a:solidFill>
                <a:latin typeface="Rockwell"/>
                <a:cs typeface="Rockwell"/>
              </a:rPr>
              <a:t> </a:t>
            </a:r>
            <a:r>
              <a:rPr sz="1500" dirty="0">
                <a:solidFill>
                  <a:srgbClr val="FFFFFF"/>
                </a:solidFill>
                <a:latin typeface="Rockwell"/>
                <a:cs typeface="Rockwell"/>
              </a:rPr>
              <a:t>you</a:t>
            </a:r>
            <a:r>
              <a:rPr sz="1500" spc="-23" dirty="0">
                <a:solidFill>
                  <a:srgbClr val="FFFFFF"/>
                </a:solidFill>
                <a:latin typeface="Rockwell"/>
                <a:cs typeface="Rockwell"/>
              </a:rPr>
              <a:t> </a:t>
            </a:r>
            <a:r>
              <a:rPr sz="1500" dirty="0">
                <a:solidFill>
                  <a:srgbClr val="FFFFFF"/>
                </a:solidFill>
                <a:latin typeface="Rockwell"/>
                <a:cs typeface="Rockwell"/>
              </a:rPr>
              <a:t>need</a:t>
            </a:r>
            <a:r>
              <a:rPr sz="1500" spc="-26" dirty="0">
                <a:solidFill>
                  <a:srgbClr val="FFFFFF"/>
                </a:solidFill>
                <a:latin typeface="Rockwell"/>
                <a:cs typeface="Rockwell"/>
              </a:rPr>
              <a:t> </a:t>
            </a:r>
            <a:r>
              <a:rPr sz="1500" dirty="0">
                <a:solidFill>
                  <a:srgbClr val="FFFFFF"/>
                </a:solidFill>
                <a:latin typeface="Rockwell"/>
                <a:cs typeface="Rockwell"/>
              </a:rPr>
              <a:t>the</a:t>
            </a:r>
            <a:r>
              <a:rPr sz="1500" spc="-26" dirty="0">
                <a:solidFill>
                  <a:srgbClr val="FFFFFF"/>
                </a:solidFill>
                <a:latin typeface="Rockwell"/>
                <a:cs typeface="Rockwell"/>
              </a:rPr>
              <a:t> </a:t>
            </a:r>
            <a:r>
              <a:rPr sz="1500" dirty="0">
                <a:solidFill>
                  <a:srgbClr val="FFFFFF"/>
                </a:solidFill>
                <a:latin typeface="Rockwell"/>
                <a:cs typeface="Rockwell"/>
              </a:rPr>
              <a:t>algorithm</a:t>
            </a:r>
            <a:r>
              <a:rPr sz="1500" spc="-45" dirty="0">
                <a:solidFill>
                  <a:srgbClr val="FFFFFF"/>
                </a:solidFill>
                <a:latin typeface="Rockwell"/>
                <a:cs typeface="Rockwell"/>
              </a:rPr>
              <a:t> </a:t>
            </a:r>
            <a:r>
              <a:rPr sz="1500" spc="-19" dirty="0">
                <a:solidFill>
                  <a:srgbClr val="FFFFFF"/>
                </a:solidFill>
                <a:latin typeface="Rockwell"/>
                <a:cs typeface="Rockwell"/>
              </a:rPr>
              <a:t>to </a:t>
            </a:r>
            <a:r>
              <a:rPr sz="1500" dirty="0">
                <a:solidFill>
                  <a:srgbClr val="FFFFFF"/>
                </a:solidFill>
                <a:latin typeface="Rockwell"/>
                <a:cs typeface="Rockwell"/>
              </a:rPr>
              <a:t>calculate</a:t>
            </a:r>
            <a:r>
              <a:rPr sz="1500" spc="-49" dirty="0">
                <a:solidFill>
                  <a:srgbClr val="FFFFFF"/>
                </a:solidFill>
                <a:latin typeface="Rockwell"/>
                <a:cs typeface="Rockwell"/>
              </a:rPr>
              <a:t> </a:t>
            </a:r>
            <a:r>
              <a:rPr sz="1500" dirty="0">
                <a:solidFill>
                  <a:srgbClr val="FFFFFF"/>
                </a:solidFill>
                <a:latin typeface="Rockwell"/>
                <a:cs typeface="Rockwell"/>
              </a:rPr>
              <a:t>it</a:t>
            </a:r>
            <a:r>
              <a:rPr sz="1500" spc="-23" dirty="0">
                <a:solidFill>
                  <a:srgbClr val="FFFFFF"/>
                </a:solidFill>
                <a:latin typeface="Rockwell"/>
                <a:cs typeface="Rockwell"/>
              </a:rPr>
              <a:t> </a:t>
            </a:r>
            <a:r>
              <a:rPr sz="1500" dirty="0">
                <a:solidFill>
                  <a:srgbClr val="FFFFFF"/>
                </a:solidFill>
                <a:latin typeface="Rockwell"/>
                <a:cs typeface="Rockwell"/>
              </a:rPr>
              <a:t>for</a:t>
            </a:r>
            <a:r>
              <a:rPr sz="1500" spc="-30" dirty="0">
                <a:solidFill>
                  <a:srgbClr val="FFFFFF"/>
                </a:solidFill>
                <a:latin typeface="Rockwell"/>
                <a:cs typeface="Rockwell"/>
              </a:rPr>
              <a:t> </a:t>
            </a:r>
            <a:r>
              <a:rPr sz="1500" dirty="0">
                <a:solidFill>
                  <a:srgbClr val="FFFFFF"/>
                </a:solidFill>
                <a:latin typeface="Rockwell"/>
                <a:cs typeface="Rockwell"/>
              </a:rPr>
              <a:t>you</a:t>
            </a:r>
            <a:r>
              <a:rPr sz="1500" spc="-23" dirty="0">
                <a:solidFill>
                  <a:srgbClr val="FFFFFF"/>
                </a:solidFill>
                <a:latin typeface="Rockwell"/>
                <a:cs typeface="Rockwell"/>
              </a:rPr>
              <a:t> </a:t>
            </a:r>
            <a:r>
              <a:rPr sz="1500" dirty="0">
                <a:solidFill>
                  <a:srgbClr val="FFFFFF"/>
                </a:solidFill>
                <a:latin typeface="Rockwell"/>
                <a:cs typeface="Rockwell"/>
              </a:rPr>
              <a:t>on</a:t>
            </a:r>
            <a:r>
              <a:rPr sz="1500" spc="-30" dirty="0">
                <a:solidFill>
                  <a:srgbClr val="FFFFFF"/>
                </a:solidFill>
                <a:latin typeface="Rockwell"/>
                <a:cs typeface="Rockwell"/>
              </a:rPr>
              <a:t> </a:t>
            </a:r>
            <a:r>
              <a:rPr sz="1500" dirty="0">
                <a:solidFill>
                  <a:srgbClr val="FFFFFF"/>
                </a:solidFill>
                <a:latin typeface="Rockwell"/>
                <a:cs typeface="Rockwell"/>
              </a:rPr>
              <a:t>new</a:t>
            </a:r>
            <a:r>
              <a:rPr sz="1500" spc="-26" dirty="0">
                <a:solidFill>
                  <a:srgbClr val="FFFFFF"/>
                </a:solidFill>
                <a:latin typeface="Rockwell"/>
                <a:cs typeface="Rockwell"/>
              </a:rPr>
              <a:t> </a:t>
            </a:r>
            <a:r>
              <a:rPr sz="1500" spc="-15" dirty="0">
                <a:solidFill>
                  <a:srgbClr val="FFFFFF"/>
                </a:solidFill>
                <a:latin typeface="Rockwell"/>
                <a:cs typeface="Rockwell"/>
              </a:rPr>
              <a:t>data</a:t>
            </a:r>
            <a:endParaRPr sz="1500">
              <a:latin typeface="Rockwell"/>
              <a:cs typeface="Rockwell"/>
            </a:endParaRPr>
          </a:p>
        </p:txBody>
      </p:sp>
      <p:sp>
        <p:nvSpPr>
          <p:cNvPr id="6" name="object 6"/>
          <p:cNvSpPr txBox="1"/>
          <p:nvPr/>
        </p:nvSpPr>
        <p:spPr>
          <a:xfrm>
            <a:off x="4114800" y="1109377"/>
            <a:ext cx="4518184" cy="2447304"/>
          </a:xfrm>
          <a:prstGeom prst="rect">
            <a:avLst/>
          </a:prstGeom>
          <a:solidFill>
            <a:srgbClr val="855D5D"/>
          </a:solidFill>
        </p:spPr>
        <p:txBody>
          <a:bodyPr vert="horz" wrap="square" lIns="0" tIns="476" rIns="0" bIns="0" rtlCol="0">
            <a:spAutoFit/>
          </a:bodyPr>
          <a:lstStyle/>
          <a:p>
            <a:pPr marL="476" algn="ctr">
              <a:spcBef>
                <a:spcPts val="4"/>
              </a:spcBef>
            </a:pPr>
            <a:r>
              <a:rPr sz="2400" b="1" dirty="0">
                <a:solidFill>
                  <a:srgbClr val="FFFFFF"/>
                </a:solidFill>
                <a:latin typeface="Rockwell"/>
                <a:cs typeface="Rockwell"/>
              </a:rPr>
              <a:t>How</a:t>
            </a:r>
            <a:r>
              <a:rPr sz="2400" b="1" spc="-68" dirty="0">
                <a:solidFill>
                  <a:srgbClr val="FFFFFF"/>
                </a:solidFill>
                <a:latin typeface="Rockwell"/>
                <a:cs typeface="Rockwell"/>
              </a:rPr>
              <a:t> </a:t>
            </a:r>
            <a:r>
              <a:rPr sz="2400" b="1" spc="-15" dirty="0">
                <a:solidFill>
                  <a:srgbClr val="FFFFFF"/>
                </a:solidFill>
                <a:latin typeface="Rockwell"/>
                <a:cs typeface="Rockwell"/>
              </a:rPr>
              <a:t>it</a:t>
            </a:r>
            <a:r>
              <a:rPr lang="en-US" sz="2400" b="1" spc="-15" dirty="0">
                <a:solidFill>
                  <a:srgbClr val="FFFFFF"/>
                </a:solidFill>
                <a:latin typeface="Rockwell"/>
                <a:cs typeface="Rockwell"/>
              </a:rPr>
              <a:t> </a:t>
            </a:r>
            <a:r>
              <a:rPr sz="2400" b="1" spc="-248" dirty="0">
                <a:solidFill>
                  <a:srgbClr val="FFFFFF"/>
                </a:solidFill>
                <a:latin typeface="Rockwell"/>
                <a:cs typeface="Rockwell"/>
              </a:rPr>
              <a:t> </a:t>
            </a:r>
            <a:r>
              <a:rPr sz="2400" b="1" spc="-8" dirty="0">
                <a:solidFill>
                  <a:srgbClr val="FFFFFF"/>
                </a:solidFill>
                <a:latin typeface="Rockwell"/>
                <a:cs typeface="Rockwell"/>
              </a:rPr>
              <a:t>Works?</a:t>
            </a:r>
            <a:endParaRPr sz="2400" dirty="0">
              <a:latin typeface="Rockwell"/>
              <a:cs typeface="Rockwell"/>
            </a:endParaRPr>
          </a:p>
          <a:p>
            <a:pPr marL="69056" marR="103823">
              <a:spcBef>
                <a:spcPts val="30"/>
              </a:spcBef>
            </a:pPr>
            <a:r>
              <a:rPr sz="1500" dirty="0">
                <a:solidFill>
                  <a:srgbClr val="FFFFFF"/>
                </a:solidFill>
                <a:latin typeface="Rockwell"/>
                <a:cs typeface="Rockwell"/>
              </a:rPr>
              <a:t>A</a:t>
            </a:r>
            <a:r>
              <a:rPr sz="1500" spc="-11" dirty="0">
                <a:solidFill>
                  <a:srgbClr val="FFFFFF"/>
                </a:solidFill>
                <a:latin typeface="Rockwell"/>
                <a:cs typeface="Rockwell"/>
              </a:rPr>
              <a:t> </a:t>
            </a:r>
            <a:r>
              <a:rPr sz="1500" dirty="0">
                <a:solidFill>
                  <a:srgbClr val="FFFFFF"/>
                </a:solidFill>
                <a:latin typeface="Rockwell"/>
                <a:cs typeface="Rockwell"/>
              </a:rPr>
              <a:t>human</a:t>
            </a:r>
            <a:r>
              <a:rPr sz="1500" spc="-11" dirty="0">
                <a:solidFill>
                  <a:srgbClr val="FFFFFF"/>
                </a:solidFill>
                <a:latin typeface="Rockwell"/>
                <a:cs typeface="Rockwell"/>
              </a:rPr>
              <a:t> </a:t>
            </a:r>
            <a:r>
              <a:rPr sz="1500" dirty="0">
                <a:solidFill>
                  <a:srgbClr val="FFFFFF"/>
                </a:solidFill>
                <a:latin typeface="Rockwell"/>
                <a:cs typeface="Rockwell"/>
              </a:rPr>
              <a:t>labels</a:t>
            </a:r>
            <a:r>
              <a:rPr sz="1500" spc="-30" dirty="0">
                <a:solidFill>
                  <a:srgbClr val="FFFFFF"/>
                </a:solidFill>
                <a:latin typeface="Rockwell"/>
                <a:cs typeface="Rockwell"/>
              </a:rPr>
              <a:t> </a:t>
            </a:r>
            <a:r>
              <a:rPr sz="1500" dirty="0">
                <a:solidFill>
                  <a:srgbClr val="FFFFFF"/>
                </a:solidFill>
                <a:latin typeface="Rockwell"/>
                <a:cs typeface="Rockwell"/>
              </a:rPr>
              <a:t>the</a:t>
            </a:r>
            <a:r>
              <a:rPr sz="1500" spc="-11" dirty="0">
                <a:solidFill>
                  <a:srgbClr val="FFFFFF"/>
                </a:solidFill>
                <a:latin typeface="Rockwell"/>
                <a:cs typeface="Rockwell"/>
              </a:rPr>
              <a:t> </a:t>
            </a:r>
            <a:r>
              <a:rPr sz="1500" dirty="0">
                <a:solidFill>
                  <a:srgbClr val="FFFFFF"/>
                </a:solidFill>
                <a:latin typeface="Rockwell"/>
                <a:cs typeface="Rockwell"/>
              </a:rPr>
              <a:t>input</a:t>
            </a:r>
            <a:r>
              <a:rPr sz="1500" spc="-15" dirty="0">
                <a:solidFill>
                  <a:srgbClr val="FFFFFF"/>
                </a:solidFill>
                <a:latin typeface="Rockwell"/>
                <a:cs typeface="Rockwell"/>
              </a:rPr>
              <a:t> </a:t>
            </a:r>
            <a:r>
              <a:rPr sz="1500" dirty="0">
                <a:solidFill>
                  <a:srgbClr val="FFFFFF"/>
                </a:solidFill>
                <a:latin typeface="Rockwell"/>
                <a:cs typeface="Rockwell"/>
              </a:rPr>
              <a:t>data</a:t>
            </a:r>
            <a:r>
              <a:rPr sz="1500" spc="-11" dirty="0">
                <a:solidFill>
                  <a:srgbClr val="FFFFFF"/>
                </a:solidFill>
                <a:latin typeface="Rockwell"/>
                <a:cs typeface="Rockwell"/>
              </a:rPr>
              <a:t> </a:t>
            </a:r>
            <a:r>
              <a:rPr sz="1500" spc="-23" dirty="0">
                <a:solidFill>
                  <a:srgbClr val="FFFFFF"/>
                </a:solidFill>
                <a:latin typeface="Rockwell"/>
                <a:cs typeface="Rockwell"/>
              </a:rPr>
              <a:t>(eg,</a:t>
            </a:r>
            <a:r>
              <a:rPr sz="1500" spc="-120" dirty="0">
                <a:solidFill>
                  <a:srgbClr val="FFFFFF"/>
                </a:solidFill>
                <a:latin typeface="Rockwell"/>
                <a:cs typeface="Rockwell"/>
              </a:rPr>
              <a:t> </a:t>
            </a:r>
            <a:r>
              <a:rPr sz="1500" dirty="0">
                <a:solidFill>
                  <a:srgbClr val="FFFFFF"/>
                </a:solidFill>
                <a:latin typeface="Rockwell"/>
                <a:cs typeface="Rockwell"/>
              </a:rPr>
              <a:t>in</a:t>
            </a:r>
            <a:r>
              <a:rPr sz="1500" spc="-11" dirty="0">
                <a:solidFill>
                  <a:srgbClr val="FFFFFF"/>
                </a:solidFill>
                <a:latin typeface="Rockwell"/>
                <a:cs typeface="Rockwell"/>
              </a:rPr>
              <a:t> </a:t>
            </a:r>
            <a:r>
              <a:rPr sz="1500" dirty="0">
                <a:solidFill>
                  <a:srgbClr val="FFFFFF"/>
                </a:solidFill>
                <a:latin typeface="Rockwell"/>
                <a:cs typeface="Rockwell"/>
              </a:rPr>
              <a:t>the</a:t>
            </a:r>
            <a:r>
              <a:rPr sz="1500" spc="-4" dirty="0">
                <a:solidFill>
                  <a:srgbClr val="FFFFFF"/>
                </a:solidFill>
                <a:latin typeface="Rockwell"/>
                <a:cs typeface="Rockwell"/>
              </a:rPr>
              <a:t> </a:t>
            </a:r>
            <a:r>
              <a:rPr sz="1500" dirty="0">
                <a:solidFill>
                  <a:srgbClr val="FFFFFF"/>
                </a:solidFill>
                <a:latin typeface="Rockwell"/>
                <a:cs typeface="Rockwell"/>
              </a:rPr>
              <a:t>case</a:t>
            </a:r>
            <a:r>
              <a:rPr sz="1500" spc="-26" dirty="0">
                <a:solidFill>
                  <a:srgbClr val="FFFFFF"/>
                </a:solidFill>
                <a:latin typeface="Rockwell"/>
                <a:cs typeface="Rockwell"/>
              </a:rPr>
              <a:t> </a:t>
            </a:r>
            <a:r>
              <a:rPr sz="1500" spc="-19" dirty="0">
                <a:solidFill>
                  <a:srgbClr val="FFFFFF"/>
                </a:solidFill>
                <a:latin typeface="Rockwell"/>
                <a:cs typeface="Rockwell"/>
              </a:rPr>
              <a:t>of </a:t>
            </a:r>
            <a:r>
              <a:rPr sz="1500" dirty="0">
                <a:solidFill>
                  <a:srgbClr val="FFFFFF"/>
                </a:solidFill>
                <a:latin typeface="Rockwell"/>
                <a:cs typeface="Rockwell"/>
              </a:rPr>
              <a:t>predicting</a:t>
            </a:r>
            <a:r>
              <a:rPr sz="1500" spc="-38" dirty="0">
                <a:solidFill>
                  <a:srgbClr val="FFFFFF"/>
                </a:solidFill>
                <a:latin typeface="Rockwell"/>
                <a:cs typeface="Rockwell"/>
              </a:rPr>
              <a:t> </a:t>
            </a:r>
            <a:r>
              <a:rPr sz="1500" spc="-8" dirty="0">
                <a:solidFill>
                  <a:srgbClr val="FFFFFF"/>
                </a:solidFill>
                <a:latin typeface="Rockwell"/>
                <a:cs typeface="Rockwell"/>
              </a:rPr>
              <a:t>returns,</a:t>
            </a:r>
            <a:r>
              <a:rPr sz="1500" spc="-131" dirty="0">
                <a:solidFill>
                  <a:srgbClr val="FFFFFF"/>
                </a:solidFill>
                <a:latin typeface="Rockwell"/>
                <a:cs typeface="Rockwell"/>
              </a:rPr>
              <a:t> </a:t>
            </a:r>
            <a:r>
              <a:rPr sz="1500" dirty="0">
                <a:solidFill>
                  <a:srgbClr val="FFFFFF"/>
                </a:solidFill>
                <a:latin typeface="Rockwell"/>
                <a:cs typeface="Rockwell"/>
              </a:rPr>
              <a:t>labels</a:t>
            </a:r>
            <a:r>
              <a:rPr sz="1500" spc="-38" dirty="0">
                <a:solidFill>
                  <a:srgbClr val="FFFFFF"/>
                </a:solidFill>
                <a:latin typeface="Rockwell"/>
                <a:cs typeface="Rockwell"/>
              </a:rPr>
              <a:t> </a:t>
            </a:r>
            <a:r>
              <a:rPr sz="1500" dirty="0">
                <a:solidFill>
                  <a:srgbClr val="FFFFFF"/>
                </a:solidFill>
                <a:latin typeface="Rockwell"/>
                <a:cs typeface="Rockwell"/>
              </a:rPr>
              <a:t>the</a:t>
            </a:r>
            <a:r>
              <a:rPr sz="1500" spc="-19" dirty="0">
                <a:solidFill>
                  <a:srgbClr val="FFFFFF"/>
                </a:solidFill>
                <a:latin typeface="Rockwell"/>
                <a:cs typeface="Rockwell"/>
              </a:rPr>
              <a:t> </a:t>
            </a:r>
            <a:r>
              <a:rPr sz="1500" dirty="0">
                <a:solidFill>
                  <a:srgbClr val="FFFFFF"/>
                </a:solidFill>
                <a:latin typeface="Rockwell"/>
                <a:cs typeface="Rockwell"/>
              </a:rPr>
              <a:t>input</a:t>
            </a:r>
            <a:r>
              <a:rPr sz="1500" spc="-23" dirty="0">
                <a:solidFill>
                  <a:srgbClr val="FFFFFF"/>
                </a:solidFill>
                <a:latin typeface="Rockwell"/>
                <a:cs typeface="Rockwell"/>
              </a:rPr>
              <a:t> </a:t>
            </a:r>
            <a:r>
              <a:rPr sz="1500" dirty="0">
                <a:solidFill>
                  <a:srgbClr val="FFFFFF"/>
                </a:solidFill>
                <a:latin typeface="Rockwell"/>
                <a:cs typeface="Rockwell"/>
              </a:rPr>
              <a:t>data</a:t>
            </a:r>
            <a:r>
              <a:rPr sz="1500" spc="-19" dirty="0">
                <a:solidFill>
                  <a:srgbClr val="FFFFFF"/>
                </a:solidFill>
                <a:latin typeface="Rockwell"/>
                <a:cs typeface="Rockwell"/>
              </a:rPr>
              <a:t> </a:t>
            </a:r>
            <a:r>
              <a:rPr sz="1500" dirty="0">
                <a:solidFill>
                  <a:srgbClr val="FFFFFF"/>
                </a:solidFill>
                <a:latin typeface="Rockwell"/>
                <a:cs typeface="Rockwell"/>
              </a:rPr>
              <a:t>as</a:t>
            </a:r>
            <a:r>
              <a:rPr sz="1500" spc="-127" dirty="0">
                <a:solidFill>
                  <a:srgbClr val="FFFFFF"/>
                </a:solidFill>
                <a:latin typeface="Rockwell"/>
                <a:cs typeface="Rockwell"/>
              </a:rPr>
              <a:t> </a:t>
            </a:r>
            <a:r>
              <a:rPr sz="1500" spc="-26" dirty="0">
                <a:solidFill>
                  <a:srgbClr val="FFFFFF"/>
                </a:solidFill>
                <a:latin typeface="Rockwell"/>
                <a:cs typeface="Rockwell"/>
              </a:rPr>
              <a:t>“area,” </a:t>
            </a:r>
            <a:r>
              <a:rPr sz="1500" dirty="0">
                <a:solidFill>
                  <a:srgbClr val="FFFFFF"/>
                </a:solidFill>
                <a:latin typeface="Rockwell"/>
                <a:cs typeface="Rockwell"/>
              </a:rPr>
              <a:t>“location”</a:t>
            </a:r>
            <a:r>
              <a:rPr sz="1500" spc="-139" dirty="0">
                <a:solidFill>
                  <a:srgbClr val="FFFFFF"/>
                </a:solidFill>
                <a:latin typeface="Rockwell"/>
                <a:cs typeface="Rockwell"/>
              </a:rPr>
              <a:t> </a:t>
            </a:r>
            <a:r>
              <a:rPr sz="1500" dirty="0">
                <a:solidFill>
                  <a:srgbClr val="FFFFFF"/>
                </a:solidFill>
                <a:latin typeface="Rockwell"/>
                <a:cs typeface="Rockwell"/>
              </a:rPr>
              <a:t>etc)</a:t>
            </a:r>
            <a:r>
              <a:rPr sz="1500" spc="-30" dirty="0">
                <a:solidFill>
                  <a:srgbClr val="FFFFFF"/>
                </a:solidFill>
                <a:latin typeface="Rockwell"/>
                <a:cs typeface="Rockwell"/>
              </a:rPr>
              <a:t> </a:t>
            </a:r>
            <a:r>
              <a:rPr sz="1500" dirty="0">
                <a:solidFill>
                  <a:srgbClr val="FFFFFF"/>
                </a:solidFill>
                <a:latin typeface="Rockwell"/>
                <a:cs typeface="Rockwell"/>
              </a:rPr>
              <a:t>and</a:t>
            </a:r>
            <a:r>
              <a:rPr sz="1500" spc="-11" dirty="0">
                <a:solidFill>
                  <a:srgbClr val="FFFFFF"/>
                </a:solidFill>
                <a:latin typeface="Rockwell"/>
                <a:cs typeface="Rockwell"/>
              </a:rPr>
              <a:t> </a:t>
            </a:r>
            <a:r>
              <a:rPr sz="1500" dirty="0">
                <a:solidFill>
                  <a:srgbClr val="FFFFFF"/>
                </a:solidFill>
                <a:latin typeface="Rockwell"/>
                <a:cs typeface="Rockwell"/>
              </a:rPr>
              <a:t>defines</a:t>
            </a:r>
            <a:r>
              <a:rPr sz="1500" spc="-15" dirty="0">
                <a:solidFill>
                  <a:srgbClr val="FFFFFF"/>
                </a:solidFill>
                <a:latin typeface="Rockwell"/>
                <a:cs typeface="Rockwell"/>
              </a:rPr>
              <a:t> </a:t>
            </a:r>
            <a:r>
              <a:rPr sz="1500" dirty="0">
                <a:solidFill>
                  <a:srgbClr val="FFFFFF"/>
                </a:solidFill>
                <a:latin typeface="Rockwell"/>
                <a:cs typeface="Rockwell"/>
              </a:rPr>
              <a:t>the</a:t>
            </a:r>
            <a:r>
              <a:rPr sz="1500" spc="-8" dirty="0">
                <a:solidFill>
                  <a:srgbClr val="FFFFFF"/>
                </a:solidFill>
                <a:latin typeface="Rockwell"/>
                <a:cs typeface="Rockwell"/>
              </a:rPr>
              <a:t> </a:t>
            </a:r>
            <a:r>
              <a:rPr sz="1500" dirty="0">
                <a:solidFill>
                  <a:srgbClr val="FFFFFF"/>
                </a:solidFill>
                <a:latin typeface="Rockwell"/>
                <a:cs typeface="Rockwell"/>
              </a:rPr>
              <a:t>output</a:t>
            </a:r>
            <a:r>
              <a:rPr sz="1500" spc="-19" dirty="0">
                <a:solidFill>
                  <a:srgbClr val="FFFFFF"/>
                </a:solidFill>
                <a:latin typeface="Rockwell"/>
                <a:cs typeface="Rockwell"/>
              </a:rPr>
              <a:t> </a:t>
            </a:r>
            <a:r>
              <a:rPr sz="1500" spc="-8" dirty="0">
                <a:solidFill>
                  <a:srgbClr val="FFFFFF"/>
                </a:solidFill>
                <a:latin typeface="Rockwell"/>
                <a:cs typeface="Rockwell"/>
              </a:rPr>
              <a:t>variable </a:t>
            </a:r>
            <a:r>
              <a:rPr sz="1500" spc="-23" dirty="0">
                <a:solidFill>
                  <a:srgbClr val="FFFFFF"/>
                </a:solidFill>
                <a:latin typeface="Rockwell"/>
                <a:cs typeface="Rockwell"/>
              </a:rPr>
              <a:t>(eg,</a:t>
            </a:r>
            <a:r>
              <a:rPr sz="1500" spc="-120" dirty="0">
                <a:solidFill>
                  <a:srgbClr val="FFFFFF"/>
                </a:solidFill>
                <a:latin typeface="Rockwell"/>
                <a:cs typeface="Rockwell"/>
              </a:rPr>
              <a:t> </a:t>
            </a:r>
            <a:r>
              <a:rPr sz="1500" spc="-8" dirty="0">
                <a:solidFill>
                  <a:srgbClr val="FFFFFF"/>
                </a:solidFill>
                <a:latin typeface="Rockwell"/>
                <a:cs typeface="Rockwell"/>
              </a:rPr>
              <a:t>returns).</a:t>
            </a:r>
            <a:r>
              <a:rPr sz="1500" spc="-191" dirty="0">
                <a:solidFill>
                  <a:srgbClr val="FFFFFF"/>
                </a:solidFill>
                <a:latin typeface="Rockwell"/>
                <a:cs typeface="Rockwell"/>
              </a:rPr>
              <a:t> </a:t>
            </a:r>
            <a:r>
              <a:rPr sz="1500" dirty="0">
                <a:solidFill>
                  <a:srgbClr val="FFFFFF"/>
                </a:solidFill>
                <a:latin typeface="Rockwell"/>
                <a:cs typeface="Rockwell"/>
              </a:rPr>
              <a:t>The</a:t>
            </a:r>
            <a:r>
              <a:rPr sz="1500" spc="-34" dirty="0">
                <a:solidFill>
                  <a:srgbClr val="FFFFFF"/>
                </a:solidFill>
                <a:latin typeface="Rockwell"/>
                <a:cs typeface="Rockwell"/>
              </a:rPr>
              <a:t> </a:t>
            </a:r>
            <a:r>
              <a:rPr sz="1500" dirty="0">
                <a:solidFill>
                  <a:srgbClr val="FFFFFF"/>
                </a:solidFill>
                <a:latin typeface="Rockwell"/>
                <a:cs typeface="Rockwell"/>
              </a:rPr>
              <a:t>algorithm</a:t>
            </a:r>
            <a:r>
              <a:rPr sz="1500" spc="-34" dirty="0">
                <a:solidFill>
                  <a:srgbClr val="FFFFFF"/>
                </a:solidFill>
                <a:latin typeface="Rockwell"/>
                <a:cs typeface="Rockwell"/>
              </a:rPr>
              <a:t> </a:t>
            </a:r>
            <a:r>
              <a:rPr sz="1500" dirty="0">
                <a:solidFill>
                  <a:srgbClr val="FFFFFF"/>
                </a:solidFill>
                <a:latin typeface="Rockwell"/>
                <a:cs typeface="Rockwell"/>
              </a:rPr>
              <a:t>is</a:t>
            </a:r>
            <a:r>
              <a:rPr sz="1500" spc="-11" dirty="0">
                <a:solidFill>
                  <a:srgbClr val="FFFFFF"/>
                </a:solidFill>
                <a:latin typeface="Rockwell"/>
                <a:cs typeface="Rockwell"/>
              </a:rPr>
              <a:t> </a:t>
            </a:r>
            <a:r>
              <a:rPr sz="1500" dirty="0">
                <a:solidFill>
                  <a:srgbClr val="FFFFFF"/>
                </a:solidFill>
                <a:latin typeface="Rockwell"/>
                <a:cs typeface="Rockwell"/>
              </a:rPr>
              <a:t>trained</a:t>
            </a:r>
            <a:r>
              <a:rPr sz="1500" spc="-34" dirty="0">
                <a:solidFill>
                  <a:srgbClr val="FFFFFF"/>
                </a:solidFill>
                <a:latin typeface="Rockwell"/>
                <a:cs typeface="Rockwell"/>
              </a:rPr>
              <a:t> </a:t>
            </a:r>
            <a:r>
              <a:rPr sz="1500" dirty="0">
                <a:solidFill>
                  <a:srgbClr val="FFFFFF"/>
                </a:solidFill>
                <a:latin typeface="Rockwell"/>
                <a:cs typeface="Rockwell"/>
              </a:rPr>
              <a:t>on</a:t>
            </a:r>
            <a:r>
              <a:rPr sz="1500" spc="-11" dirty="0">
                <a:solidFill>
                  <a:srgbClr val="FFFFFF"/>
                </a:solidFill>
                <a:latin typeface="Rockwell"/>
                <a:cs typeface="Rockwell"/>
              </a:rPr>
              <a:t> </a:t>
            </a:r>
            <a:r>
              <a:rPr sz="1500" dirty="0">
                <a:solidFill>
                  <a:srgbClr val="FFFFFF"/>
                </a:solidFill>
                <a:latin typeface="Rockwell"/>
                <a:cs typeface="Rockwell"/>
              </a:rPr>
              <a:t>the</a:t>
            </a:r>
            <a:r>
              <a:rPr sz="1500" spc="-11" dirty="0">
                <a:solidFill>
                  <a:srgbClr val="FFFFFF"/>
                </a:solidFill>
                <a:latin typeface="Rockwell"/>
                <a:cs typeface="Rockwell"/>
              </a:rPr>
              <a:t> </a:t>
            </a:r>
            <a:r>
              <a:rPr sz="1500" spc="-15" dirty="0">
                <a:solidFill>
                  <a:srgbClr val="FFFFFF"/>
                </a:solidFill>
                <a:latin typeface="Rockwell"/>
                <a:cs typeface="Rockwell"/>
              </a:rPr>
              <a:t>data </a:t>
            </a:r>
            <a:r>
              <a:rPr sz="1500" dirty="0">
                <a:solidFill>
                  <a:srgbClr val="FFFFFF"/>
                </a:solidFill>
                <a:latin typeface="Rockwell"/>
                <a:cs typeface="Rockwell"/>
              </a:rPr>
              <a:t>to</a:t>
            </a:r>
            <a:r>
              <a:rPr sz="1500" spc="-34" dirty="0">
                <a:solidFill>
                  <a:srgbClr val="FFFFFF"/>
                </a:solidFill>
                <a:latin typeface="Rockwell"/>
                <a:cs typeface="Rockwell"/>
              </a:rPr>
              <a:t> </a:t>
            </a:r>
            <a:r>
              <a:rPr sz="1500" dirty="0">
                <a:solidFill>
                  <a:srgbClr val="FFFFFF"/>
                </a:solidFill>
                <a:latin typeface="Rockwell"/>
                <a:cs typeface="Rockwell"/>
              </a:rPr>
              <a:t>find</a:t>
            </a:r>
            <a:r>
              <a:rPr sz="1500" spc="-26" dirty="0">
                <a:solidFill>
                  <a:srgbClr val="FFFFFF"/>
                </a:solidFill>
                <a:latin typeface="Rockwell"/>
                <a:cs typeface="Rockwell"/>
              </a:rPr>
              <a:t> </a:t>
            </a:r>
            <a:r>
              <a:rPr sz="1500" dirty="0">
                <a:solidFill>
                  <a:srgbClr val="FFFFFF"/>
                </a:solidFill>
                <a:latin typeface="Rockwell"/>
                <a:cs typeface="Rockwell"/>
              </a:rPr>
              <a:t>the</a:t>
            </a:r>
            <a:r>
              <a:rPr sz="1500" spc="-26" dirty="0">
                <a:solidFill>
                  <a:srgbClr val="FFFFFF"/>
                </a:solidFill>
                <a:latin typeface="Rockwell"/>
                <a:cs typeface="Rockwell"/>
              </a:rPr>
              <a:t> </a:t>
            </a:r>
            <a:r>
              <a:rPr sz="1500" dirty="0">
                <a:solidFill>
                  <a:srgbClr val="FFFFFF"/>
                </a:solidFill>
                <a:latin typeface="Rockwell"/>
                <a:cs typeface="Rockwell"/>
              </a:rPr>
              <a:t>connection</a:t>
            </a:r>
            <a:r>
              <a:rPr sz="1500" spc="-41" dirty="0">
                <a:solidFill>
                  <a:srgbClr val="FFFFFF"/>
                </a:solidFill>
                <a:latin typeface="Rockwell"/>
                <a:cs typeface="Rockwell"/>
              </a:rPr>
              <a:t> </a:t>
            </a:r>
            <a:r>
              <a:rPr sz="1500" dirty="0">
                <a:solidFill>
                  <a:srgbClr val="FFFFFF"/>
                </a:solidFill>
                <a:latin typeface="Rockwell"/>
                <a:cs typeface="Rockwell"/>
              </a:rPr>
              <a:t>between</a:t>
            </a:r>
            <a:r>
              <a:rPr sz="1500" spc="-45" dirty="0">
                <a:solidFill>
                  <a:srgbClr val="FFFFFF"/>
                </a:solidFill>
                <a:latin typeface="Rockwell"/>
                <a:cs typeface="Rockwell"/>
              </a:rPr>
              <a:t> </a:t>
            </a:r>
            <a:r>
              <a:rPr sz="1500" dirty="0">
                <a:solidFill>
                  <a:srgbClr val="FFFFFF"/>
                </a:solidFill>
                <a:latin typeface="Rockwell"/>
                <a:cs typeface="Rockwell"/>
              </a:rPr>
              <a:t>the</a:t>
            </a:r>
            <a:r>
              <a:rPr sz="1500" spc="-30" dirty="0">
                <a:solidFill>
                  <a:srgbClr val="FFFFFF"/>
                </a:solidFill>
                <a:latin typeface="Rockwell"/>
                <a:cs typeface="Rockwell"/>
              </a:rPr>
              <a:t> </a:t>
            </a:r>
            <a:r>
              <a:rPr sz="1500" spc="-8" dirty="0">
                <a:solidFill>
                  <a:srgbClr val="FFFFFF"/>
                </a:solidFill>
                <a:latin typeface="Rockwell"/>
                <a:cs typeface="Rockwell"/>
              </a:rPr>
              <a:t>input </a:t>
            </a:r>
            <a:r>
              <a:rPr sz="1500" dirty="0">
                <a:solidFill>
                  <a:srgbClr val="FFFFFF"/>
                </a:solidFill>
                <a:latin typeface="Rockwell"/>
                <a:cs typeface="Rockwell"/>
              </a:rPr>
              <a:t>variables</a:t>
            </a:r>
            <a:r>
              <a:rPr sz="1500" spc="-56" dirty="0">
                <a:solidFill>
                  <a:srgbClr val="FFFFFF"/>
                </a:solidFill>
                <a:latin typeface="Rockwell"/>
                <a:cs typeface="Rockwell"/>
              </a:rPr>
              <a:t> </a:t>
            </a:r>
            <a:r>
              <a:rPr sz="1500" dirty="0">
                <a:solidFill>
                  <a:srgbClr val="FFFFFF"/>
                </a:solidFill>
                <a:latin typeface="Rockwell"/>
                <a:cs typeface="Rockwell"/>
              </a:rPr>
              <a:t>and</a:t>
            </a:r>
            <a:r>
              <a:rPr sz="1500" spc="-30" dirty="0">
                <a:solidFill>
                  <a:srgbClr val="FFFFFF"/>
                </a:solidFill>
                <a:latin typeface="Rockwell"/>
                <a:cs typeface="Rockwell"/>
              </a:rPr>
              <a:t> </a:t>
            </a:r>
            <a:r>
              <a:rPr sz="1500" dirty="0">
                <a:solidFill>
                  <a:srgbClr val="FFFFFF"/>
                </a:solidFill>
                <a:latin typeface="Rockwell"/>
                <a:cs typeface="Rockwell"/>
              </a:rPr>
              <a:t>the</a:t>
            </a:r>
            <a:r>
              <a:rPr sz="1500" spc="-26" dirty="0">
                <a:solidFill>
                  <a:srgbClr val="FFFFFF"/>
                </a:solidFill>
                <a:latin typeface="Rockwell"/>
                <a:cs typeface="Rockwell"/>
              </a:rPr>
              <a:t> </a:t>
            </a:r>
            <a:r>
              <a:rPr sz="1500" spc="-8" dirty="0">
                <a:solidFill>
                  <a:srgbClr val="FFFFFF"/>
                </a:solidFill>
                <a:latin typeface="Rockwell"/>
                <a:cs typeface="Rockwell"/>
              </a:rPr>
              <a:t>output.</a:t>
            </a:r>
            <a:r>
              <a:rPr sz="1500" spc="-127" dirty="0">
                <a:solidFill>
                  <a:srgbClr val="FFFFFF"/>
                </a:solidFill>
                <a:latin typeface="Rockwell"/>
                <a:cs typeface="Rockwell"/>
              </a:rPr>
              <a:t> </a:t>
            </a:r>
            <a:r>
              <a:rPr sz="1500" dirty="0">
                <a:solidFill>
                  <a:srgbClr val="FFFFFF"/>
                </a:solidFill>
                <a:latin typeface="Rockwell"/>
                <a:cs typeface="Rockwell"/>
              </a:rPr>
              <a:t>Once</a:t>
            </a:r>
            <a:r>
              <a:rPr sz="1500" spc="-30" dirty="0">
                <a:solidFill>
                  <a:srgbClr val="FFFFFF"/>
                </a:solidFill>
                <a:latin typeface="Rockwell"/>
                <a:cs typeface="Rockwell"/>
              </a:rPr>
              <a:t> </a:t>
            </a:r>
            <a:r>
              <a:rPr sz="1500" dirty="0">
                <a:solidFill>
                  <a:srgbClr val="FFFFFF"/>
                </a:solidFill>
                <a:latin typeface="Rockwell"/>
                <a:cs typeface="Rockwell"/>
              </a:rPr>
              <a:t>training</a:t>
            </a:r>
            <a:r>
              <a:rPr sz="1500" spc="-26" dirty="0">
                <a:solidFill>
                  <a:srgbClr val="FFFFFF"/>
                </a:solidFill>
                <a:latin typeface="Rockwell"/>
                <a:cs typeface="Rockwell"/>
              </a:rPr>
              <a:t> </a:t>
            </a:r>
            <a:r>
              <a:rPr sz="1500" spc="-19" dirty="0">
                <a:solidFill>
                  <a:srgbClr val="FFFFFF"/>
                </a:solidFill>
                <a:latin typeface="Rockwell"/>
                <a:cs typeface="Rockwell"/>
              </a:rPr>
              <a:t>is </a:t>
            </a:r>
            <a:r>
              <a:rPr sz="1500" spc="-8" dirty="0">
                <a:solidFill>
                  <a:srgbClr val="FFFFFF"/>
                </a:solidFill>
                <a:latin typeface="Rockwell"/>
                <a:cs typeface="Rockwell"/>
              </a:rPr>
              <a:t>complete–typically</a:t>
            </a:r>
            <a:r>
              <a:rPr sz="1500" spc="-41" dirty="0">
                <a:solidFill>
                  <a:srgbClr val="FFFFFF"/>
                </a:solidFill>
                <a:latin typeface="Rockwell"/>
                <a:cs typeface="Rockwell"/>
              </a:rPr>
              <a:t> </a:t>
            </a:r>
            <a:r>
              <a:rPr sz="1500" dirty="0">
                <a:solidFill>
                  <a:srgbClr val="FFFFFF"/>
                </a:solidFill>
                <a:latin typeface="Rockwell"/>
                <a:cs typeface="Rockwell"/>
              </a:rPr>
              <a:t>when</a:t>
            </a:r>
            <a:r>
              <a:rPr sz="1500" spc="-23" dirty="0">
                <a:solidFill>
                  <a:srgbClr val="FFFFFF"/>
                </a:solidFill>
                <a:latin typeface="Rockwell"/>
                <a:cs typeface="Rockwell"/>
              </a:rPr>
              <a:t> </a:t>
            </a:r>
            <a:r>
              <a:rPr sz="1500" dirty="0">
                <a:solidFill>
                  <a:srgbClr val="FFFFFF"/>
                </a:solidFill>
                <a:latin typeface="Rockwell"/>
                <a:cs typeface="Rockwell"/>
              </a:rPr>
              <a:t>the</a:t>
            </a:r>
            <a:r>
              <a:rPr sz="1500" spc="-15" dirty="0">
                <a:solidFill>
                  <a:srgbClr val="FFFFFF"/>
                </a:solidFill>
                <a:latin typeface="Rockwell"/>
                <a:cs typeface="Rockwell"/>
              </a:rPr>
              <a:t> </a:t>
            </a:r>
            <a:r>
              <a:rPr sz="1500" dirty="0">
                <a:solidFill>
                  <a:srgbClr val="FFFFFF"/>
                </a:solidFill>
                <a:latin typeface="Rockwell"/>
                <a:cs typeface="Rockwell"/>
              </a:rPr>
              <a:t>algorithm</a:t>
            </a:r>
            <a:r>
              <a:rPr sz="1500" spc="-19" dirty="0">
                <a:solidFill>
                  <a:srgbClr val="FFFFFF"/>
                </a:solidFill>
                <a:latin typeface="Rockwell"/>
                <a:cs typeface="Rockwell"/>
              </a:rPr>
              <a:t> is </a:t>
            </a:r>
            <a:r>
              <a:rPr sz="1500" dirty="0">
                <a:solidFill>
                  <a:srgbClr val="FFFFFF"/>
                </a:solidFill>
                <a:latin typeface="Rockwell"/>
                <a:cs typeface="Rockwell"/>
              </a:rPr>
              <a:t>sufficiently</a:t>
            </a:r>
            <a:r>
              <a:rPr sz="1500" spc="-56" dirty="0">
                <a:solidFill>
                  <a:srgbClr val="FFFFFF"/>
                </a:solidFill>
                <a:latin typeface="Rockwell"/>
                <a:cs typeface="Rockwell"/>
              </a:rPr>
              <a:t> </a:t>
            </a:r>
            <a:r>
              <a:rPr sz="1500" dirty="0">
                <a:solidFill>
                  <a:srgbClr val="FFFFFF"/>
                </a:solidFill>
                <a:latin typeface="Rockwell"/>
                <a:cs typeface="Rockwell"/>
              </a:rPr>
              <a:t>accurate–the</a:t>
            </a:r>
            <a:r>
              <a:rPr sz="1500" spc="-56" dirty="0">
                <a:solidFill>
                  <a:srgbClr val="FFFFFF"/>
                </a:solidFill>
                <a:latin typeface="Rockwell"/>
                <a:cs typeface="Rockwell"/>
              </a:rPr>
              <a:t> </a:t>
            </a:r>
            <a:r>
              <a:rPr sz="1500" dirty="0">
                <a:solidFill>
                  <a:srgbClr val="FFFFFF"/>
                </a:solidFill>
                <a:latin typeface="Rockwell"/>
                <a:cs typeface="Rockwell"/>
              </a:rPr>
              <a:t>algorithm</a:t>
            </a:r>
            <a:r>
              <a:rPr sz="1500" spc="-49" dirty="0">
                <a:solidFill>
                  <a:srgbClr val="FFFFFF"/>
                </a:solidFill>
                <a:latin typeface="Rockwell"/>
                <a:cs typeface="Rockwell"/>
              </a:rPr>
              <a:t> </a:t>
            </a:r>
            <a:r>
              <a:rPr sz="1500" dirty="0">
                <a:solidFill>
                  <a:srgbClr val="FFFFFF"/>
                </a:solidFill>
                <a:latin typeface="Rockwell"/>
                <a:cs typeface="Rockwell"/>
              </a:rPr>
              <a:t>is</a:t>
            </a:r>
            <a:r>
              <a:rPr sz="1500" spc="-30" dirty="0">
                <a:solidFill>
                  <a:srgbClr val="FFFFFF"/>
                </a:solidFill>
                <a:latin typeface="Rockwell"/>
                <a:cs typeface="Rockwell"/>
              </a:rPr>
              <a:t> </a:t>
            </a:r>
            <a:r>
              <a:rPr sz="1500" dirty="0">
                <a:solidFill>
                  <a:srgbClr val="FFFFFF"/>
                </a:solidFill>
                <a:latin typeface="Rockwell"/>
                <a:cs typeface="Rockwell"/>
              </a:rPr>
              <a:t>applied</a:t>
            </a:r>
            <a:r>
              <a:rPr sz="1500" spc="-30" dirty="0">
                <a:solidFill>
                  <a:srgbClr val="FFFFFF"/>
                </a:solidFill>
                <a:latin typeface="Rockwell"/>
                <a:cs typeface="Rockwell"/>
              </a:rPr>
              <a:t> </a:t>
            </a:r>
            <a:r>
              <a:rPr sz="1500" spc="-19" dirty="0">
                <a:solidFill>
                  <a:srgbClr val="FFFFFF"/>
                </a:solidFill>
                <a:latin typeface="Rockwell"/>
                <a:cs typeface="Rockwell"/>
              </a:rPr>
              <a:t>to </a:t>
            </a:r>
            <a:r>
              <a:rPr sz="1500" dirty="0">
                <a:solidFill>
                  <a:srgbClr val="FFFFFF"/>
                </a:solidFill>
                <a:latin typeface="Rockwell"/>
                <a:cs typeface="Rockwell"/>
              </a:rPr>
              <a:t>new</a:t>
            </a:r>
            <a:r>
              <a:rPr sz="1500" spc="-60" dirty="0">
                <a:solidFill>
                  <a:srgbClr val="FFFFFF"/>
                </a:solidFill>
                <a:latin typeface="Rockwell"/>
                <a:cs typeface="Rockwell"/>
              </a:rPr>
              <a:t> </a:t>
            </a:r>
            <a:r>
              <a:rPr sz="1500" spc="-15" dirty="0">
                <a:solidFill>
                  <a:srgbClr val="FFFFFF"/>
                </a:solidFill>
                <a:latin typeface="Rockwell"/>
                <a:cs typeface="Rockwell"/>
              </a:rPr>
              <a:t>data</a:t>
            </a:r>
            <a:endParaRPr sz="1500" dirty="0">
              <a:latin typeface="Rockwell"/>
              <a:cs typeface="Rockwe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B2FF1-1B9E-94DB-6F53-CCD5658C61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1DC64C-24C4-E31D-FA8F-29C500B382BE}"/>
              </a:ext>
            </a:extLst>
          </p:cNvPr>
          <p:cNvSpPr>
            <a:spLocks noGrp="1"/>
          </p:cNvSpPr>
          <p:nvPr>
            <p:ph type="title"/>
          </p:nvPr>
        </p:nvSpPr>
        <p:spPr/>
        <p:txBody>
          <a:bodyPr/>
          <a:lstStyle/>
          <a:p>
            <a:r>
              <a:rPr lang="en-GB" dirty="0"/>
              <a:t>Supervised Learning (Our focus today)</a:t>
            </a:r>
          </a:p>
        </p:txBody>
      </p:sp>
      <p:sp>
        <p:nvSpPr>
          <p:cNvPr id="3" name="Content Placeholder 2">
            <a:extLst>
              <a:ext uri="{FF2B5EF4-FFF2-40B4-BE49-F238E27FC236}">
                <a16:creationId xmlns:a16="http://schemas.microsoft.com/office/drawing/2014/main" id="{4CA97ED1-2A99-EA00-6742-DF03D2B888A3}"/>
              </a:ext>
            </a:extLst>
          </p:cNvPr>
          <p:cNvSpPr>
            <a:spLocks noGrp="1"/>
          </p:cNvSpPr>
          <p:nvPr>
            <p:ph idx="1"/>
          </p:nvPr>
        </p:nvSpPr>
        <p:spPr>
          <a:xfrm>
            <a:off x="411401" y="856776"/>
            <a:ext cx="8210550" cy="3262312"/>
          </a:xfrm>
        </p:spPr>
        <p:txBody>
          <a:bodyPr/>
          <a:lstStyle/>
          <a:p>
            <a:pPr marL="287338" lvl="1" indent="-287338"/>
            <a:r>
              <a:rPr lang="en-GB" dirty="0"/>
              <a:t>The data is </a:t>
            </a:r>
            <a:r>
              <a:rPr lang="en-GB" b="1" dirty="0" err="1"/>
              <a:t>labeled</a:t>
            </a:r>
            <a:r>
              <a:rPr lang="en-GB" dirty="0"/>
              <a:t>. We have an input (X) and a known correct output (y).</a:t>
            </a:r>
          </a:p>
          <a:p>
            <a:pPr marL="287338" lvl="1" indent="-287338"/>
            <a:r>
              <a:rPr lang="en-GB" b="1" dirty="0"/>
              <a:t>Analogy:</a:t>
            </a:r>
            <a:r>
              <a:rPr lang="en-GB" dirty="0"/>
              <a:t> Showing a child flashcards. You show a picture of an apple (X) and say "apple" (y). After many examples, the child can identify a new apple.</a:t>
            </a:r>
          </a:p>
          <a:p>
            <a:pPr marL="287338" lvl="1" indent="-287338"/>
            <a:r>
              <a:rPr lang="en-GB" b="1" dirty="0"/>
              <a:t>Goal:</a:t>
            </a:r>
            <a:r>
              <a:rPr lang="en-GB" dirty="0"/>
              <a:t> Learn a "mapping function" that can predict the output (y) for a new, unseen input (X).</a:t>
            </a:r>
          </a:p>
        </p:txBody>
      </p:sp>
    </p:spTree>
    <p:extLst>
      <p:ext uri="{BB962C8B-B14F-4D97-AF65-F5344CB8AC3E}">
        <p14:creationId xmlns:p14="http://schemas.microsoft.com/office/powerpoint/2010/main" val="10580512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23007" y="1138990"/>
            <a:ext cx="3308033" cy="569387"/>
          </a:xfrm>
          <a:prstGeom prst="rect">
            <a:avLst/>
          </a:prstGeom>
          <a:solidFill>
            <a:srgbClr val="9B2C1F"/>
          </a:solidFill>
          <a:ln w="12700">
            <a:solidFill>
              <a:srgbClr val="701E13"/>
            </a:solidFill>
          </a:ln>
        </p:spPr>
        <p:txBody>
          <a:bodyPr vert="horz" wrap="square" lIns="0" tIns="15240" rIns="0" bIns="0" rtlCol="0">
            <a:spAutoFit/>
          </a:bodyPr>
          <a:lstStyle/>
          <a:p>
            <a:pPr marL="1135380" marR="491014" indent="-640080">
              <a:lnSpc>
                <a:spcPct val="100000"/>
              </a:lnSpc>
              <a:spcBef>
                <a:spcPts val="120"/>
              </a:spcBef>
            </a:pPr>
            <a:r>
              <a:rPr sz="1800" dirty="0">
                <a:solidFill>
                  <a:srgbClr val="FFFFFF"/>
                </a:solidFill>
                <a:latin typeface="Rockwell"/>
                <a:cs typeface="Rockwell"/>
              </a:rPr>
              <a:t>Supervised</a:t>
            </a:r>
            <a:r>
              <a:rPr sz="1800" spc="49" dirty="0">
                <a:solidFill>
                  <a:srgbClr val="FFFFFF"/>
                </a:solidFill>
                <a:latin typeface="Rockwell"/>
                <a:cs typeface="Rockwell"/>
              </a:rPr>
              <a:t> </a:t>
            </a:r>
            <a:r>
              <a:rPr sz="1800" spc="-8" dirty="0">
                <a:solidFill>
                  <a:srgbClr val="FFFFFF"/>
                </a:solidFill>
                <a:latin typeface="Rockwell"/>
                <a:cs typeface="Rockwell"/>
              </a:rPr>
              <a:t>Machine Learning</a:t>
            </a:r>
            <a:endParaRPr sz="1800">
              <a:latin typeface="Rockwell"/>
              <a:cs typeface="Rockwell"/>
            </a:endParaRPr>
          </a:p>
        </p:txBody>
      </p:sp>
      <p:grpSp>
        <p:nvGrpSpPr>
          <p:cNvPr id="3" name="object 3"/>
          <p:cNvGrpSpPr/>
          <p:nvPr/>
        </p:nvGrpSpPr>
        <p:grpSpPr>
          <a:xfrm>
            <a:off x="721375" y="2082250"/>
            <a:ext cx="3317558" cy="604838"/>
            <a:chOff x="961834" y="2776334"/>
            <a:chExt cx="4423410" cy="806450"/>
          </a:xfrm>
        </p:grpSpPr>
        <p:sp>
          <p:nvSpPr>
            <p:cNvPr id="4" name="object 4"/>
            <p:cNvSpPr/>
            <p:nvPr/>
          </p:nvSpPr>
          <p:spPr>
            <a:xfrm>
              <a:off x="968184" y="2782684"/>
              <a:ext cx="4410710" cy="793750"/>
            </a:xfrm>
            <a:custGeom>
              <a:avLst/>
              <a:gdLst/>
              <a:ahLst/>
              <a:cxnLst/>
              <a:rect l="l" t="t" r="r" b="b"/>
              <a:pathLst>
                <a:path w="4410710" h="793750">
                  <a:moveTo>
                    <a:pt x="4410583" y="0"/>
                  </a:moveTo>
                  <a:lnTo>
                    <a:pt x="0" y="0"/>
                  </a:lnTo>
                  <a:lnTo>
                    <a:pt x="0" y="793381"/>
                  </a:lnTo>
                  <a:lnTo>
                    <a:pt x="4410583" y="793381"/>
                  </a:lnTo>
                  <a:lnTo>
                    <a:pt x="4410583" y="0"/>
                  </a:lnTo>
                  <a:close/>
                </a:path>
              </a:pathLst>
            </a:custGeom>
            <a:solidFill>
              <a:srgbClr val="918485"/>
            </a:solidFill>
          </p:spPr>
          <p:txBody>
            <a:bodyPr wrap="square" lIns="0" tIns="0" rIns="0" bIns="0" rtlCol="0"/>
            <a:lstStyle/>
            <a:p>
              <a:endParaRPr sz="1013"/>
            </a:p>
          </p:txBody>
        </p:sp>
        <p:sp>
          <p:nvSpPr>
            <p:cNvPr id="5" name="object 5"/>
            <p:cNvSpPr/>
            <p:nvPr/>
          </p:nvSpPr>
          <p:spPr>
            <a:xfrm>
              <a:off x="968184" y="2782684"/>
              <a:ext cx="4410710" cy="793750"/>
            </a:xfrm>
            <a:custGeom>
              <a:avLst/>
              <a:gdLst/>
              <a:ahLst/>
              <a:cxnLst/>
              <a:rect l="l" t="t" r="r" b="b"/>
              <a:pathLst>
                <a:path w="4410710" h="793750">
                  <a:moveTo>
                    <a:pt x="0" y="793381"/>
                  </a:moveTo>
                  <a:lnTo>
                    <a:pt x="4410583" y="793381"/>
                  </a:lnTo>
                  <a:lnTo>
                    <a:pt x="4410583" y="0"/>
                  </a:lnTo>
                  <a:lnTo>
                    <a:pt x="0" y="0"/>
                  </a:lnTo>
                  <a:lnTo>
                    <a:pt x="0" y="793381"/>
                  </a:lnTo>
                  <a:close/>
                </a:path>
              </a:pathLst>
            </a:custGeom>
            <a:ln w="12700">
              <a:solidFill>
                <a:srgbClr val="695F5F"/>
              </a:solidFill>
            </a:ln>
          </p:spPr>
          <p:txBody>
            <a:bodyPr wrap="square" lIns="0" tIns="0" rIns="0" bIns="0" rtlCol="0"/>
            <a:lstStyle/>
            <a:p>
              <a:endParaRPr sz="1013"/>
            </a:p>
          </p:txBody>
        </p:sp>
      </p:grpSp>
      <p:sp>
        <p:nvSpPr>
          <p:cNvPr id="6" name="object 6"/>
          <p:cNvSpPr txBox="1"/>
          <p:nvPr/>
        </p:nvSpPr>
        <p:spPr>
          <a:xfrm>
            <a:off x="1138714" y="2230279"/>
            <a:ext cx="2481739" cy="286617"/>
          </a:xfrm>
          <a:prstGeom prst="rect">
            <a:avLst/>
          </a:prstGeom>
        </p:spPr>
        <p:txBody>
          <a:bodyPr vert="horz" wrap="square" lIns="0" tIns="9525" rIns="0" bIns="0" rtlCol="0">
            <a:spAutoFit/>
          </a:bodyPr>
          <a:lstStyle/>
          <a:p>
            <a:pPr marL="9525">
              <a:spcBef>
                <a:spcPts val="75"/>
              </a:spcBef>
            </a:pPr>
            <a:r>
              <a:rPr sz="1800" b="1" dirty="0">
                <a:solidFill>
                  <a:srgbClr val="FFFFFF"/>
                </a:solidFill>
                <a:latin typeface="Rockwell"/>
                <a:cs typeface="Rockwell"/>
              </a:rPr>
              <a:t>Classification</a:t>
            </a:r>
            <a:r>
              <a:rPr sz="1800" b="1" spc="-64" dirty="0">
                <a:solidFill>
                  <a:srgbClr val="FFFFFF"/>
                </a:solidFill>
                <a:latin typeface="Rockwell"/>
                <a:cs typeface="Rockwell"/>
              </a:rPr>
              <a:t> </a:t>
            </a:r>
            <a:r>
              <a:rPr sz="1800" b="1" spc="-8" dirty="0">
                <a:solidFill>
                  <a:srgbClr val="FFFFFF"/>
                </a:solidFill>
                <a:latin typeface="Rockwell"/>
                <a:cs typeface="Rockwell"/>
              </a:rPr>
              <a:t>Models</a:t>
            </a:r>
            <a:endParaRPr sz="1800">
              <a:latin typeface="Rockwell"/>
              <a:cs typeface="Rockwell"/>
            </a:endParaRPr>
          </a:p>
        </p:txBody>
      </p:sp>
      <p:grpSp>
        <p:nvGrpSpPr>
          <p:cNvPr id="7" name="object 7"/>
          <p:cNvGrpSpPr/>
          <p:nvPr/>
        </p:nvGrpSpPr>
        <p:grpSpPr>
          <a:xfrm>
            <a:off x="4493323" y="2082250"/>
            <a:ext cx="3317558" cy="604838"/>
            <a:chOff x="5991097" y="2776334"/>
            <a:chExt cx="4423410" cy="806450"/>
          </a:xfrm>
        </p:grpSpPr>
        <p:sp>
          <p:nvSpPr>
            <p:cNvPr id="8" name="object 8"/>
            <p:cNvSpPr/>
            <p:nvPr/>
          </p:nvSpPr>
          <p:spPr>
            <a:xfrm>
              <a:off x="5997447" y="2782684"/>
              <a:ext cx="4410710" cy="793750"/>
            </a:xfrm>
            <a:custGeom>
              <a:avLst/>
              <a:gdLst/>
              <a:ahLst/>
              <a:cxnLst/>
              <a:rect l="l" t="t" r="r" b="b"/>
              <a:pathLst>
                <a:path w="4410709" h="793750">
                  <a:moveTo>
                    <a:pt x="4410583" y="0"/>
                  </a:moveTo>
                  <a:lnTo>
                    <a:pt x="0" y="0"/>
                  </a:lnTo>
                  <a:lnTo>
                    <a:pt x="0" y="793381"/>
                  </a:lnTo>
                  <a:lnTo>
                    <a:pt x="4410583" y="793381"/>
                  </a:lnTo>
                  <a:lnTo>
                    <a:pt x="4410583" y="0"/>
                  </a:lnTo>
                  <a:close/>
                </a:path>
              </a:pathLst>
            </a:custGeom>
            <a:solidFill>
              <a:srgbClr val="918485"/>
            </a:solidFill>
          </p:spPr>
          <p:txBody>
            <a:bodyPr wrap="square" lIns="0" tIns="0" rIns="0" bIns="0" rtlCol="0"/>
            <a:lstStyle/>
            <a:p>
              <a:endParaRPr sz="1013"/>
            </a:p>
          </p:txBody>
        </p:sp>
        <p:sp>
          <p:nvSpPr>
            <p:cNvPr id="9" name="object 9"/>
            <p:cNvSpPr/>
            <p:nvPr/>
          </p:nvSpPr>
          <p:spPr>
            <a:xfrm>
              <a:off x="5997447" y="2782684"/>
              <a:ext cx="4410710" cy="793750"/>
            </a:xfrm>
            <a:custGeom>
              <a:avLst/>
              <a:gdLst/>
              <a:ahLst/>
              <a:cxnLst/>
              <a:rect l="l" t="t" r="r" b="b"/>
              <a:pathLst>
                <a:path w="4410709" h="793750">
                  <a:moveTo>
                    <a:pt x="0" y="793381"/>
                  </a:moveTo>
                  <a:lnTo>
                    <a:pt x="4410583" y="793381"/>
                  </a:lnTo>
                  <a:lnTo>
                    <a:pt x="4410583" y="0"/>
                  </a:lnTo>
                  <a:lnTo>
                    <a:pt x="0" y="0"/>
                  </a:lnTo>
                  <a:lnTo>
                    <a:pt x="0" y="793381"/>
                  </a:lnTo>
                  <a:close/>
                </a:path>
              </a:pathLst>
            </a:custGeom>
            <a:ln w="12700">
              <a:solidFill>
                <a:srgbClr val="695F5F"/>
              </a:solidFill>
            </a:ln>
          </p:spPr>
          <p:txBody>
            <a:bodyPr wrap="square" lIns="0" tIns="0" rIns="0" bIns="0" rtlCol="0"/>
            <a:lstStyle/>
            <a:p>
              <a:endParaRPr sz="1013"/>
            </a:p>
          </p:txBody>
        </p:sp>
      </p:grpSp>
      <p:sp>
        <p:nvSpPr>
          <p:cNvPr id="10" name="object 10"/>
          <p:cNvSpPr txBox="1"/>
          <p:nvPr/>
        </p:nvSpPr>
        <p:spPr>
          <a:xfrm>
            <a:off x="5063108" y="2230279"/>
            <a:ext cx="2178368" cy="286617"/>
          </a:xfrm>
          <a:prstGeom prst="rect">
            <a:avLst/>
          </a:prstGeom>
        </p:spPr>
        <p:txBody>
          <a:bodyPr vert="horz" wrap="square" lIns="0" tIns="9525" rIns="0" bIns="0" rtlCol="0">
            <a:spAutoFit/>
          </a:bodyPr>
          <a:lstStyle/>
          <a:p>
            <a:pPr marL="9525">
              <a:spcBef>
                <a:spcPts val="75"/>
              </a:spcBef>
            </a:pPr>
            <a:r>
              <a:rPr sz="1800" b="1" dirty="0">
                <a:solidFill>
                  <a:srgbClr val="FFFFFF"/>
                </a:solidFill>
                <a:latin typeface="Rockwell"/>
                <a:cs typeface="Rockwell"/>
              </a:rPr>
              <a:t>Regression</a:t>
            </a:r>
            <a:r>
              <a:rPr sz="1800" b="1" spc="-75" dirty="0">
                <a:solidFill>
                  <a:srgbClr val="FFFFFF"/>
                </a:solidFill>
                <a:latin typeface="Rockwell"/>
                <a:cs typeface="Rockwell"/>
              </a:rPr>
              <a:t> </a:t>
            </a:r>
            <a:r>
              <a:rPr sz="1800" b="1" spc="-8" dirty="0">
                <a:solidFill>
                  <a:srgbClr val="FFFFFF"/>
                </a:solidFill>
                <a:latin typeface="Rockwell"/>
                <a:cs typeface="Rockwell"/>
              </a:rPr>
              <a:t>Models</a:t>
            </a:r>
            <a:endParaRPr sz="1800">
              <a:latin typeface="Rockwell"/>
              <a:cs typeface="Rockwell"/>
            </a:endParaRPr>
          </a:p>
        </p:txBody>
      </p:sp>
      <p:sp>
        <p:nvSpPr>
          <p:cNvPr id="11" name="object 11"/>
          <p:cNvSpPr/>
          <p:nvPr/>
        </p:nvSpPr>
        <p:spPr>
          <a:xfrm>
            <a:off x="2380107" y="1719929"/>
            <a:ext cx="3771900" cy="394335"/>
          </a:xfrm>
          <a:custGeom>
            <a:avLst/>
            <a:gdLst/>
            <a:ahLst/>
            <a:cxnLst/>
            <a:rect l="l" t="t" r="r" b="b"/>
            <a:pathLst>
              <a:path w="5029200" h="525780">
                <a:moveTo>
                  <a:pt x="5029200" y="489458"/>
                </a:moveTo>
                <a:lnTo>
                  <a:pt x="4928235" y="411099"/>
                </a:lnTo>
                <a:lnTo>
                  <a:pt x="4920831" y="448411"/>
                </a:lnTo>
                <a:lnTo>
                  <a:pt x="2666238" y="127"/>
                </a:lnTo>
                <a:lnTo>
                  <a:pt x="2662555" y="18770"/>
                </a:lnTo>
                <a:lnTo>
                  <a:pt x="2659253" y="0"/>
                </a:lnTo>
                <a:lnTo>
                  <a:pt x="109245" y="450723"/>
                </a:lnTo>
                <a:lnTo>
                  <a:pt x="102603" y="413258"/>
                </a:lnTo>
                <a:lnTo>
                  <a:pt x="0" y="489458"/>
                </a:lnTo>
                <a:lnTo>
                  <a:pt x="122542" y="525780"/>
                </a:lnTo>
                <a:lnTo>
                  <a:pt x="116497" y="491617"/>
                </a:lnTo>
                <a:lnTo>
                  <a:pt x="115912" y="488302"/>
                </a:lnTo>
                <a:lnTo>
                  <a:pt x="2662148" y="38125"/>
                </a:lnTo>
                <a:lnTo>
                  <a:pt x="4913414" y="485762"/>
                </a:lnTo>
                <a:lnTo>
                  <a:pt x="4906010" y="523113"/>
                </a:lnTo>
                <a:lnTo>
                  <a:pt x="5029200" y="489458"/>
                </a:lnTo>
                <a:close/>
              </a:path>
            </a:pathLst>
          </a:custGeom>
          <a:solidFill>
            <a:srgbClr val="7E7E7E"/>
          </a:solidFill>
        </p:spPr>
        <p:txBody>
          <a:bodyPr wrap="square" lIns="0" tIns="0" rIns="0" bIns="0" rtlCol="0"/>
          <a:lstStyle/>
          <a:p>
            <a:endParaRPr sz="1013"/>
          </a:p>
        </p:txBody>
      </p:sp>
      <p:sp>
        <p:nvSpPr>
          <p:cNvPr id="12" name="object 12"/>
          <p:cNvSpPr txBox="1"/>
          <p:nvPr/>
        </p:nvSpPr>
        <p:spPr>
          <a:xfrm>
            <a:off x="1075658" y="3195637"/>
            <a:ext cx="2630805" cy="425116"/>
          </a:xfrm>
          <a:prstGeom prst="rect">
            <a:avLst/>
          </a:prstGeom>
        </p:spPr>
        <p:txBody>
          <a:bodyPr vert="horz" wrap="square" lIns="0" tIns="9525" rIns="0" bIns="0" rtlCol="0">
            <a:spAutoFit/>
          </a:bodyPr>
          <a:lstStyle/>
          <a:p>
            <a:pPr marL="9525" marR="3810">
              <a:spcBef>
                <a:spcPts val="75"/>
              </a:spcBef>
            </a:pPr>
            <a:r>
              <a:rPr b="1" spc="-38" dirty="0">
                <a:latin typeface="Rockwell"/>
                <a:cs typeface="Rockwell"/>
              </a:rPr>
              <a:t>To</a:t>
            </a:r>
            <a:r>
              <a:rPr b="1" spc="-49" dirty="0">
                <a:latin typeface="Rockwell"/>
                <a:cs typeface="Rockwell"/>
              </a:rPr>
              <a:t> </a:t>
            </a:r>
            <a:r>
              <a:rPr b="1" dirty="0">
                <a:latin typeface="Rockwell"/>
                <a:cs typeface="Rockwell"/>
              </a:rPr>
              <a:t>label</a:t>
            </a:r>
            <a:r>
              <a:rPr b="1" spc="-45" dirty="0">
                <a:latin typeface="Rockwell"/>
                <a:cs typeface="Rockwell"/>
              </a:rPr>
              <a:t> </a:t>
            </a:r>
            <a:r>
              <a:rPr b="1" dirty="0">
                <a:latin typeface="Rockwell"/>
                <a:cs typeface="Rockwell"/>
              </a:rPr>
              <a:t>historical</a:t>
            </a:r>
            <a:r>
              <a:rPr b="1" spc="-26" dirty="0">
                <a:latin typeface="Rockwell"/>
                <a:cs typeface="Rockwell"/>
              </a:rPr>
              <a:t> </a:t>
            </a:r>
            <a:r>
              <a:rPr b="1" spc="-15" dirty="0">
                <a:latin typeface="Rockwell"/>
                <a:cs typeface="Rockwell"/>
              </a:rPr>
              <a:t>data </a:t>
            </a:r>
            <a:r>
              <a:rPr b="1" dirty="0">
                <a:latin typeface="Rockwell"/>
                <a:cs typeface="Rockwell"/>
              </a:rPr>
              <a:t>Transform into</a:t>
            </a:r>
            <a:r>
              <a:rPr b="1" spc="-11" dirty="0">
                <a:latin typeface="Rockwell"/>
                <a:cs typeface="Rockwell"/>
              </a:rPr>
              <a:t> </a:t>
            </a:r>
            <a:r>
              <a:rPr b="1" dirty="0">
                <a:latin typeface="Rockwell"/>
                <a:cs typeface="Rockwell"/>
              </a:rPr>
              <a:t>structured</a:t>
            </a:r>
            <a:r>
              <a:rPr b="1" spc="-4" dirty="0">
                <a:latin typeface="Rockwell"/>
                <a:cs typeface="Rockwell"/>
              </a:rPr>
              <a:t> </a:t>
            </a:r>
            <a:r>
              <a:rPr b="1" spc="-15" dirty="0">
                <a:latin typeface="Rockwell"/>
                <a:cs typeface="Rockwell"/>
              </a:rPr>
              <a:t>data</a:t>
            </a:r>
            <a:endParaRPr>
              <a:latin typeface="Rockwell"/>
              <a:cs typeface="Rockwell"/>
            </a:endParaRPr>
          </a:p>
        </p:txBody>
      </p:sp>
      <p:sp>
        <p:nvSpPr>
          <p:cNvPr id="13" name="object 13"/>
          <p:cNvSpPr txBox="1"/>
          <p:nvPr/>
        </p:nvSpPr>
        <p:spPr>
          <a:xfrm>
            <a:off x="5012817" y="3195637"/>
            <a:ext cx="2685097" cy="425116"/>
          </a:xfrm>
          <a:prstGeom prst="rect">
            <a:avLst/>
          </a:prstGeom>
        </p:spPr>
        <p:txBody>
          <a:bodyPr vert="horz" wrap="square" lIns="0" tIns="9525" rIns="0" bIns="0" rtlCol="0">
            <a:spAutoFit/>
          </a:bodyPr>
          <a:lstStyle/>
          <a:p>
            <a:pPr marL="9525" marR="3810">
              <a:spcBef>
                <a:spcPts val="75"/>
              </a:spcBef>
            </a:pPr>
            <a:r>
              <a:rPr b="1" dirty="0">
                <a:latin typeface="Rockwell"/>
                <a:cs typeface="Rockwell"/>
              </a:rPr>
              <a:t>Using</a:t>
            </a:r>
            <a:r>
              <a:rPr b="1" spc="-26" dirty="0">
                <a:latin typeface="Rockwell"/>
                <a:cs typeface="Rockwell"/>
              </a:rPr>
              <a:t> </a:t>
            </a:r>
            <a:r>
              <a:rPr b="1" dirty="0">
                <a:latin typeface="Rockwell"/>
                <a:cs typeface="Rockwell"/>
              </a:rPr>
              <a:t>structured data</a:t>
            </a:r>
            <a:r>
              <a:rPr b="1" spc="-15" dirty="0">
                <a:latin typeface="Rockwell"/>
                <a:cs typeface="Rockwell"/>
              </a:rPr>
              <a:t> </a:t>
            </a:r>
            <a:r>
              <a:rPr b="1" dirty="0">
                <a:latin typeface="Rockwell"/>
                <a:cs typeface="Rockwell"/>
              </a:rPr>
              <a:t>to</a:t>
            </a:r>
            <a:r>
              <a:rPr b="1" spc="-11" dirty="0">
                <a:latin typeface="Rockwell"/>
                <a:cs typeface="Rockwell"/>
              </a:rPr>
              <a:t> </a:t>
            </a:r>
            <a:r>
              <a:rPr b="1" spc="-8" dirty="0">
                <a:latin typeface="Rockwell"/>
                <a:cs typeface="Rockwell"/>
              </a:rPr>
              <a:t>predict </a:t>
            </a:r>
            <a:r>
              <a:rPr b="1" dirty="0">
                <a:latin typeface="Rockwell"/>
                <a:cs typeface="Rockwell"/>
              </a:rPr>
              <a:t>for</a:t>
            </a:r>
            <a:r>
              <a:rPr b="1" spc="-15" dirty="0">
                <a:latin typeface="Rockwell"/>
                <a:cs typeface="Rockwell"/>
              </a:rPr>
              <a:t> </a:t>
            </a:r>
            <a:r>
              <a:rPr b="1" dirty="0">
                <a:latin typeface="Rockwell"/>
                <a:cs typeface="Rockwell"/>
              </a:rPr>
              <a:t>the</a:t>
            </a:r>
            <a:r>
              <a:rPr b="1" spc="-15" dirty="0">
                <a:latin typeface="Rockwell"/>
                <a:cs typeface="Rockwell"/>
              </a:rPr>
              <a:t> </a:t>
            </a:r>
            <a:r>
              <a:rPr b="1" spc="-8" dirty="0">
                <a:latin typeface="Rockwell"/>
                <a:cs typeface="Rockwell"/>
              </a:rPr>
              <a:t>future</a:t>
            </a:r>
            <a:endParaRPr>
              <a:latin typeface="Rockwell"/>
              <a:cs typeface="Rockwe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28403-0335-2456-2A78-4990F4E3C097}"/>
              </a:ext>
            </a:extLst>
          </p:cNvPr>
          <p:cNvSpPr>
            <a:spLocks noGrp="1"/>
          </p:cNvSpPr>
          <p:nvPr>
            <p:ph type="title"/>
          </p:nvPr>
        </p:nvSpPr>
        <p:spPr/>
        <p:txBody>
          <a:bodyPr/>
          <a:lstStyle/>
          <a:p>
            <a:r>
              <a:rPr lang="en-GB" sz="2400" dirty="0"/>
              <a:t>Supervised Learning: Classification vs. Regression</a:t>
            </a:r>
            <a:br>
              <a:rPr lang="en-GB" dirty="0"/>
            </a:br>
            <a:br>
              <a:rPr lang="en-US" dirty="0"/>
            </a:br>
            <a:endParaRPr lang="en-US" dirty="0"/>
          </a:p>
        </p:txBody>
      </p:sp>
      <p:sp>
        <p:nvSpPr>
          <p:cNvPr id="3" name="Content Placeholder 2">
            <a:extLst>
              <a:ext uri="{FF2B5EF4-FFF2-40B4-BE49-F238E27FC236}">
                <a16:creationId xmlns:a16="http://schemas.microsoft.com/office/drawing/2014/main" id="{46887A1B-1453-BFF2-C5CE-421B2F346FE9}"/>
              </a:ext>
            </a:extLst>
          </p:cNvPr>
          <p:cNvSpPr>
            <a:spLocks noGrp="1"/>
          </p:cNvSpPr>
          <p:nvPr>
            <p:ph idx="1"/>
          </p:nvPr>
        </p:nvSpPr>
        <p:spPr>
          <a:xfrm>
            <a:off x="411401" y="886826"/>
            <a:ext cx="8210550" cy="3262312"/>
          </a:xfrm>
        </p:spPr>
        <p:txBody>
          <a:bodyPr/>
          <a:lstStyle/>
          <a:p>
            <a:r>
              <a:rPr lang="en-GB" dirty="0"/>
              <a:t>Within Supervised Learning, there are two main types of problems:</a:t>
            </a:r>
          </a:p>
          <a:p>
            <a:r>
              <a:rPr lang="en-GB" b="1" dirty="0"/>
              <a:t>Classification:</a:t>
            </a:r>
            <a:r>
              <a:rPr lang="en-GB" dirty="0"/>
              <a:t> The output variable (y) is a </a:t>
            </a:r>
            <a:r>
              <a:rPr lang="en-GB" b="1" dirty="0"/>
              <a:t>category</a:t>
            </a:r>
            <a:r>
              <a:rPr lang="en-GB" dirty="0"/>
              <a:t>.</a:t>
            </a:r>
          </a:p>
          <a:p>
            <a:pPr lvl="1"/>
            <a:r>
              <a:rPr lang="en-GB" dirty="0"/>
              <a:t>Will this customer default on their loan? (Yes / No)</a:t>
            </a:r>
          </a:p>
          <a:p>
            <a:pPr lvl="1"/>
            <a:r>
              <a:rPr lang="en-GB" dirty="0"/>
              <a:t>Is this email spam or not spam?</a:t>
            </a:r>
          </a:p>
          <a:p>
            <a:pPr lvl="1"/>
            <a:r>
              <a:rPr lang="en-GB" dirty="0"/>
              <a:t>Does this news article belong to the "M&amp;A" or "Earnings" category?</a:t>
            </a:r>
          </a:p>
          <a:p>
            <a:pPr lvl="1"/>
            <a:r>
              <a:rPr lang="en-GB" b="1" dirty="0"/>
              <a:t>Financial Application:</a:t>
            </a:r>
            <a:r>
              <a:rPr lang="en-GB" dirty="0"/>
              <a:t> Will the stock go </a:t>
            </a:r>
            <a:r>
              <a:rPr lang="en-GB" b="1" dirty="0"/>
              <a:t>Up</a:t>
            </a:r>
            <a:r>
              <a:rPr lang="en-GB" dirty="0"/>
              <a:t> or </a:t>
            </a:r>
            <a:r>
              <a:rPr lang="en-GB" b="1" dirty="0"/>
              <a:t>Down</a:t>
            </a:r>
            <a:r>
              <a:rPr lang="en-GB" dirty="0"/>
              <a:t> tomorrow?</a:t>
            </a:r>
          </a:p>
          <a:p>
            <a:endParaRPr lang="en-US" dirty="0"/>
          </a:p>
        </p:txBody>
      </p:sp>
    </p:spTree>
    <p:extLst>
      <p:ext uri="{BB962C8B-B14F-4D97-AF65-F5344CB8AC3E}">
        <p14:creationId xmlns:p14="http://schemas.microsoft.com/office/powerpoint/2010/main" val="39630579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0A9126-A22F-D1FB-40C6-804565D35E60}"/>
              </a:ext>
            </a:extLst>
          </p:cNvPr>
          <p:cNvSpPr>
            <a:spLocks noGrp="1"/>
          </p:cNvSpPr>
          <p:nvPr>
            <p:ph type="title"/>
          </p:nvPr>
        </p:nvSpPr>
        <p:spPr/>
        <p:txBody>
          <a:bodyPr/>
          <a:lstStyle/>
          <a:p>
            <a:r>
              <a:rPr lang="en-US" dirty="0"/>
              <a:t>Regression</a:t>
            </a:r>
          </a:p>
        </p:txBody>
      </p:sp>
      <p:sp>
        <p:nvSpPr>
          <p:cNvPr id="3" name="Content Placeholder 2">
            <a:extLst>
              <a:ext uri="{FF2B5EF4-FFF2-40B4-BE49-F238E27FC236}">
                <a16:creationId xmlns:a16="http://schemas.microsoft.com/office/drawing/2014/main" id="{C8FBA60F-B1BE-13B2-61AD-AD99F79C26B1}"/>
              </a:ext>
            </a:extLst>
          </p:cNvPr>
          <p:cNvSpPr>
            <a:spLocks noGrp="1"/>
          </p:cNvSpPr>
          <p:nvPr>
            <p:ph idx="1"/>
          </p:nvPr>
        </p:nvSpPr>
        <p:spPr/>
        <p:txBody>
          <a:bodyPr/>
          <a:lstStyle/>
          <a:p>
            <a:r>
              <a:rPr lang="en-GB" b="1" dirty="0"/>
              <a:t>Regression:</a:t>
            </a:r>
            <a:r>
              <a:rPr lang="en-GB" dirty="0"/>
              <a:t> The output variable (y) is a </a:t>
            </a:r>
            <a:r>
              <a:rPr lang="en-GB" b="1" dirty="0"/>
              <a:t>continuous value</a:t>
            </a:r>
            <a:r>
              <a:rPr lang="en-GB" dirty="0"/>
              <a:t>.</a:t>
            </a:r>
          </a:p>
          <a:p>
            <a:r>
              <a:rPr lang="en-GB" dirty="0"/>
              <a:t>What will the price of this house be? ($500,000, $750,000...)</a:t>
            </a:r>
          </a:p>
          <a:p>
            <a:r>
              <a:rPr lang="en-GB" dirty="0"/>
              <a:t>How many units will this product sell next quarter?</a:t>
            </a:r>
          </a:p>
          <a:p>
            <a:r>
              <a:rPr lang="en-GB" b="1" dirty="0"/>
              <a:t>Financial Application:</a:t>
            </a:r>
            <a:r>
              <a:rPr lang="en-GB" dirty="0"/>
              <a:t> What will the </a:t>
            </a:r>
            <a:r>
              <a:rPr lang="en-GB" b="1" dirty="0"/>
              <a:t>exact stock price</a:t>
            </a:r>
            <a:r>
              <a:rPr lang="en-GB" dirty="0"/>
              <a:t> be tomorrow? ($150.23, $151.45.</a:t>
            </a:r>
          </a:p>
          <a:p>
            <a:endParaRPr lang="en-US" dirty="0"/>
          </a:p>
        </p:txBody>
      </p:sp>
    </p:spTree>
    <p:extLst>
      <p:ext uri="{BB962C8B-B14F-4D97-AF65-F5344CB8AC3E}">
        <p14:creationId xmlns:p14="http://schemas.microsoft.com/office/powerpoint/2010/main" val="15291448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7E57D-3AB4-4A18-B006-BA2D36D4CD85}"/>
              </a:ext>
            </a:extLst>
          </p:cNvPr>
          <p:cNvSpPr>
            <a:spLocks noGrp="1"/>
          </p:cNvSpPr>
          <p:nvPr>
            <p:ph type="title"/>
          </p:nvPr>
        </p:nvSpPr>
        <p:spPr>
          <a:xfrm>
            <a:off x="208309" y="227417"/>
            <a:ext cx="8281882" cy="665702"/>
          </a:xfrm>
        </p:spPr>
        <p:txBody>
          <a:bodyPr/>
          <a:lstStyle/>
          <a:p>
            <a:r>
              <a:rPr lang="en-GB" sz="2400" dirty="0"/>
              <a:t>The Core Machine Learning Workflow with Scikit-Learn</a:t>
            </a:r>
            <a:br>
              <a:rPr lang="en-GB" sz="2400" dirty="0"/>
            </a:br>
            <a:endParaRPr lang="en-US" sz="2400" dirty="0"/>
          </a:p>
        </p:txBody>
      </p:sp>
      <p:sp>
        <p:nvSpPr>
          <p:cNvPr id="3" name="Content Placeholder 2">
            <a:extLst>
              <a:ext uri="{FF2B5EF4-FFF2-40B4-BE49-F238E27FC236}">
                <a16:creationId xmlns:a16="http://schemas.microsoft.com/office/drawing/2014/main" id="{3AACC4BC-E0C0-A876-09E3-2B57088BD227}"/>
              </a:ext>
            </a:extLst>
          </p:cNvPr>
          <p:cNvSpPr>
            <a:spLocks noGrp="1"/>
          </p:cNvSpPr>
          <p:nvPr>
            <p:ph idx="1"/>
          </p:nvPr>
        </p:nvSpPr>
        <p:spPr/>
        <p:txBody>
          <a:bodyPr/>
          <a:lstStyle/>
          <a:p>
            <a:r>
              <a:rPr lang="en-GB" b="1" dirty="0"/>
              <a:t>Introducing scikit-learn</a:t>
            </a:r>
            <a:r>
              <a:rPr lang="en-GB" dirty="0"/>
              <a:t>: The "Swiss Army Knife" for ML in Python.</a:t>
            </a:r>
          </a:p>
          <a:p>
            <a:pPr lvl="1"/>
            <a:r>
              <a:rPr lang="en-GB" dirty="0"/>
              <a:t>It provides a simple, consistent API for hundreds of models and tools.</a:t>
            </a:r>
          </a:p>
          <a:p>
            <a:pPr lvl="1"/>
            <a:r>
              <a:rPr lang="en-GB" dirty="0"/>
              <a:t>It integrates perfectly with pandas, NumPy, and matplotlib.</a:t>
            </a:r>
          </a:p>
          <a:p>
            <a:pPr lvl="1"/>
            <a:r>
              <a:rPr lang="en-GB" dirty="0"/>
              <a:t>!pip install scikit-learn</a:t>
            </a:r>
          </a:p>
          <a:p>
            <a:endParaRPr lang="en-US" dirty="0"/>
          </a:p>
        </p:txBody>
      </p:sp>
    </p:spTree>
    <p:extLst>
      <p:ext uri="{BB962C8B-B14F-4D97-AF65-F5344CB8AC3E}">
        <p14:creationId xmlns:p14="http://schemas.microsoft.com/office/powerpoint/2010/main" val="6045481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C97AD-BD6D-ED95-786B-DA9C0DBD0519}"/>
              </a:ext>
            </a:extLst>
          </p:cNvPr>
          <p:cNvSpPr>
            <a:spLocks noGrp="1"/>
          </p:cNvSpPr>
          <p:nvPr>
            <p:ph type="title"/>
          </p:nvPr>
        </p:nvSpPr>
        <p:spPr/>
        <p:txBody>
          <a:bodyPr/>
          <a:lstStyle/>
          <a:p>
            <a:r>
              <a:rPr lang="en-US" dirty="0"/>
              <a:t>5 Step Process for supervised learning</a:t>
            </a:r>
          </a:p>
        </p:txBody>
      </p:sp>
      <p:sp>
        <p:nvSpPr>
          <p:cNvPr id="3" name="Content Placeholder 2">
            <a:extLst>
              <a:ext uri="{FF2B5EF4-FFF2-40B4-BE49-F238E27FC236}">
                <a16:creationId xmlns:a16="http://schemas.microsoft.com/office/drawing/2014/main" id="{B2161923-092B-CA86-4505-5D473FBD009F}"/>
              </a:ext>
            </a:extLst>
          </p:cNvPr>
          <p:cNvSpPr>
            <a:spLocks noGrp="1"/>
          </p:cNvSpPr>
          <p:nvPr>
            <p:ph idx="1"/>
          </p:nvPr>
        </p:nvSpPr>
        <p:spPr>
          <a:xfrm>
            <a:off x="447067" y="989858"/>
            <a:ext cx="8210550" cy="3262312"/>
          </a:xfrm>
        </p:spPr>
        <p:txBody>
          <a:bodyPr/>
          <a:lstStyle/>
          <a:p>
            <a:pPr marL="342900" indent="-342900">
              <a:buFont typeface="+mj-lt"/>
              <a:buAutoNum type="arabicPeriod"/>
            </a:pPr>
            <a:r>
              <a:rPr lang="en-GB" sz="1600" b="1" dirty="0"/>
              <a:t>Prepare Data</a:t>
            </a:r>
            <a:r>
              <a:rPr lang="en-GB" sz="1600" dirty="0"/>
              <a:t>: Separate data into features </a:t>
            </a:r>
            <a:r>
              <a:rPr lang="en-GB" sz="1600" b="1" dirty="0"/>
              <a:t>X</a:t>
            </a:r>
            <a:r>
              <a:rPr lang="en-GB" sz="1600" dirty="0"/>
              <a:t> (the inputs, must be numbers) and the target </a:t>
            </a:r>
            <a:r>
              <a:rPr lang="en-GB" sz="1600" b="1" dirty="0"/>
              <a:t>y</a:t>
            </a:r>
            <a:r>
              <a:rPr lang="en-GB" sz="1600" dirty="0"/>
              <a:t> (what you want to predict).</a:t>
            </a:r>
          </a:p>
          <a:p>
            <a:pPr marL="342900" indent="-342900">
              <a:buFont typeface="+mj-lt"/>
              <a:buAutoNum type="arabicPeriod"/>
            </a:pPr>
            <a:r>
              <a:rPr lang="en-GB" sz="1600" b="1" dirty="0"/>
              <a:t>Split Data</a:t>
            </a:r>
            <a:r>
              <a:rPr lang="en-GB" sz="1600" dirty="0"/>
              <a:t>: Divide X and y into a </a:t>
            </a:r>
            <a:r>
              <a:rPr lang="en-GB" sz="1600" b="1" dirty="0"/>
              <a:t>training set</a:t>
            </a:r>
            <a:r>
              <a:rPr lang="en-GB" sz="1600" dirty="0"/>
              <a:t> and a </a:t>
            </a:r>
            <a:r>
              <a:rPr lang="en-GB" sz="1600" b="1" dirty="0"/>
              <a:t>testing set</a:t>
            </a:r>
            <a:r>
              <a:rPr lang="en-GB" sz="1600" dirty="0"/>
              <a:t>.</a:t>
            </a:r>
          </a:p>
          <a:p>
            <a:pPr lvl="1"/>
            <a:r>
              <a:rPr lang="en-GB" sz="1400" b="1" dirty="0"/>
              <a:t>Why?</a:t>
            </a:r>
            <a:r>
              <a:rPr lang="en-GB" sz="1400" dirty="0"/>
              <a:t> To simulate a real-world scenario. The model learns from the training set. We then evaluate its performance on the unseen testing set to get an honest assessment of how it will perform on new data.</a:t>
            </a:r>
          </a:p>
          <a:p>
            <a:pPr lvl="1"/>
            <a:r>
              <a:rPr lang="en-GB" sz="1400" i="1" dirty="0"/>
              <a:t>Analogy</a:t>
            </a:r>
            <a:r>
              <a:rPr lang="en-GB" sz="1400" dirty="0"/>
              <a:t>: The training set is the textbook and practice problems. The test set is the final exam. You can't use the final exam to study!</a:t>
            </a:r>
          </a:p>
          <a:p>
            <a:pPr marL="342900" indent="-342900">
              <a:buFont typeface="+mj-lt"/>
              <a:buAutoNum type="arabicPeriod"/>
            </a:pPr>
            <a:r>
              <a:rPr lang="en-GB" sz="1600" b="1" dirty="0"/>
              <a:t>Choose &amp; Train a Model</a:t>
            </a:r>
            <a:r>
              <a:rPr lang="en-GB" sz="1600" dirty="0"/>
              <a:t>: Select a model and use the .fit() method on the training data. This is where the "learning" happens.</a:t>
            </a:r>
          </a:p>
          <a:p>
            <a:pPr marL="342900" indent="-342900">
              <a:buFont typeface="+mj-lt"/>
              <a:buAutoNum type="arabicPeriod"/>
            </a:pPr>
            <a:r>
              <a:rPr lang="en-GB" sz="1600" b="1" dirty="0"/>
              <a:t>Evaluate the Model</a:t>
            </a:r>
            <a:r>
              <a:rPr lang="en-GB" sz="1600" dirty="0"/>
              <a:t>: Use the trained model to make predictions ( .predict() ) on the </a:t>
            </a:r>
            <a:r>
              <a:rPr lang="en-GB" sz="1600" i="1" dirty="0"/>
              <a:t>test set</a:t>
            </a:r>
            <a:r>
              <a:rPr lang="en-GB" sz="1600" dirty="0"/>
              <a:t> and compare them to the true test labels to measure performance (e.g., accuracy, error).</a:t>
            </a:r>
          </a:p>
          <a:p>
            <a:pPr marL="342900" indent="-342900">
              <a:buFont typeface="+mj-lt"/>
              <a:buAutoNum type="arabicPeriod"/>
            </a:pPr>
            <a:r>
              <a:rPr lang="en-GB" sz="1600" b="1" dirty="0"/>
              <a:t>Make Predictions</a:t>
            </a:r>
            <a:r>
              <a:rPr lang="en-GB" sz="1600" dirty="0"/>
              <a:t>: Use the final, trained model on new, live data to make real predictions.</a:t>
            </a:r>
          </a:p>
        </p:txBody>
      </p:sp>
    </p:spTree>
    <p:extLst>
      <p:ext uri="{BB962C8B-B14F-4D97-AF65-F5344CB8AC3E}">
        <p14:creationId xmlns:p14="http://schemas.microsoft.com/office/powerpoint/2010/main" val="35721317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F2613-98D3-E11A-B5C7-6C09B3424850}"/>
              </a:ext>
            </a:extLst>
          </p:cNvPr>
          <p:cNvSpPr>
            <a:spLocks noGrp="1"/>
          </p:cNvSpPr>
          <p:nvPr>
            <p:ph type="title"/>
          </p:nvPr>
        </p:nvSpPr>
        <p:spPr>
          <a:xfrm>
            <a:off x="375735" y="51405"/>
            <a:ext cx="8281882" cy="665702"/>
          </a:xfrm>
        </p:spPr>
        <p:txBody>
          <a:bodyPr/>
          <a:lstStyle/>
          <a:p>
            <a:r>
              <a:rPr lang="en-GB" sz="2400" dirty="0"/>
              <a:t>Demo Exercise 1: A Simple Stock Price Prediction (Regression)</a:t>
            </a:r>
            <a:br>
              <a:rPr lang="en-GB" sz="2400" dirty="0"/>
            </a:br>
            <a:endParaRPr lang="en-US" sz="2400" dirty="0"/>
          </a:p>
        </p:txBody>
      </p:sp>
      <p:sp>
        <p:nvSpPr>
          <p:cNvPr id="3" name="Content Placeholder 2">
            <a:extLst>
              <a:ext uri="{FF2B5EF4-FFF2-40B4-BE49-F238E27FC236}">
                <a16:creationId xmlns:a16="http://schemas.microsoft.com/office/drawing/2014/main" id="{8664805F-4FD7-8C2A-AEAD-410EAE8C7697}"/>
              </a:ext>
            </a:extLst>
          </p:cNvPr>
          <p:cNvSpPr>
            <a:spLocks noGrp="1"/>
          </p:cNvSpPr>
          <p:nvPr>
            <p:ph idx="1"/>
          </p:nvPr>
        </p:nvSpPr>
        <p:spPr/>
        <p:txBody>
          <a:bodyPr/>
          <a:lstStyle/>
          <a:p>
            <a:r>
              <a:rPr lang="en-GB" sz="2000" b="1" dirty="0"/>
              <a:t>Objective:</a:t>
            </a:r>
            <a:r>
              <a:rPr lang="en-GB" sz="2000" dirty="0"/>
              <a:t> Use a simple regression model to predict a stock's next-day closing price based on its Open, High, and Low for the day. This is a very simple example, but it demonstrates the workflow perfectly.</a:t>
            </a:r>
          </a:p>
          <a:p>
            <a:r>
              <a:rPr lang="en-GB" sz="2000" b="1" dirty="0"/>
              <a:t>Our Task:</a:t>
            </a:r>
            <a:endParaRPr lang="en-GB" sz="2000" dirty="0"/>
          </a:p>
          <a:p>
            <a:r>
              <a:rPr lang="en-GB" sz="2000" dirty="0"/>
              <a:t>Load historical stock data using </a:t>
            </a:r>
            <a:r>
              <a:rPr lang="en-GB" sz="2000" dirty="0" err="1"/>
              <a:t>yfinance</a:t>
            </a:r>
            <a:r>
              <a:rPr lang="en-GB" sz="2000" dirty="0"/>
              <a:t>.</a:t>
            </a:r>
          </a:p>
          <a:p>
            <a:r>
              <a:rPr lang="en-GB" sz="2000" dirty="0"/>
              <a:t>Create our features (X) and target (y).</a:t>
            </a:r>
          </a:p>
          <a:p>
            <a:r>
              <a:rPr lang="en-GB" sz="2000" dirty="0"/>
              <a:t>Split, train, and evaluate a </a:t>
            </a:r>
            <a:r>
              <a:rPr lang="en-GB" sz="2000" dirty="0" err="1"/>
              <a:t>LinearRegression</a:t>
            </a:r>
            <a:r>
              <a:rPr lang="en-GB" sz="2000" dirty="0"/>
              <a:t> model.</a:t>
            </a:r>
          </a:p>
          <a:p>
            <a:endParaRPr lang="en-US" sz="2000" dirty="0"/>
          </a:p>
        </p:txBody>
      </p:sp>
      <p:sp>
        <p:nvSpPr>
          <p:cNvPr id="5" name="TextBox 4">
            <a:extLst>
              <a:ext uri="{FF2B5EF4-FFF2-40B4-BE49-F238E27FC236}">
                <a16:creationId xmlns:a16="http://schemas.microsoft.com/office/drawing/2014/main" id="{2B99D5E8-8A63-104D-6233-60C2D2E13A4C}"/>
              </a:ext>
            </a:extLst>
          </p:cNvPr>
          <p:cNvSpPr txBox="1"/>
          <p:nvPr/>
        </p:nvSpPr>
        <p:spPr>
          <a:xfrm>
            <a:off x="447067" y="3618923"/>
            <a:ext cx="7918361" cy="1192634"/>
          </a:xfrm>
          <a:prstGeom prst="rect">
            <a:avLst/>
          </a:prstGeom>
          <a:noFill/>
        </p:spPr>
        <p:txBody>
          <a:bodyPr wrap="square">
            <a:spAutoFit/>
          </a:bodyPr>
          <a:lstStyle/>
          <a:p>
            <a:pPr algn="l">
              <a:spcBef>
                <a:spcPts val="600"/>
              </a:spcBef>
              <a:spcAft>
                <a:spcPts val="600"/>
              </a:spcAft>
              <a:buNone/>
            </a:pPr>
            <a:r>
              <a:rPr lang="en-GB" b="0" i="0" dirty="0">
                <a:solidFill>
                  <a:srgbClr val="1D1C1B"/>
                </a:solidFill>
                <a:effectLst/>
                <a:latin typeface="Roboto" panose="02000000000000000000" pitchFamily="2" charset="0"/>
              </a:rPr>
              <a:t>This output shows how well your model performed when it was asked to predict stock prices on the </a:t>
            </a:r>
            <a:r>
              <a:rPr lang="en-GB" b="1" i="0" dirty="0">
                <a:solidFill>
                  <a:srgbClr val="1D1C1B"/>
                </a:solidFill>
                <a:effectLst/>
                <a:latin typeface="Roboto" panose="02000000000000000000" pitchFamily="2" charset="0"/>
              </a:rPr>
              <a:t>test data</a:t>
            </a:r>
            <a:r>
              <a:rPr lang="en-GB" b="0" i="0" dirty="0">
                <a:solidFill>
                  <a:srgbClr val="1D1C1B"/>
                </a:solidFill>
                <a:effectLst/>
                <a:latin typeface="Roboto" panose="02000000000000000000" pitchFamily="2" charset="0"/>
              </a:rPr>
              <a:t>—the portion of data it had never seen during training. It gives you two perspectives:</a:t>
            </a:r>
          </a:p>
          <a:p>
            <a:pPr algn="l">
              <a:spcBef>
                <a:spcPts val="600"/>
              </a:spcBef>
              <a:spcAft>
                <a:spcPts val="300"/>
              </a:spcAft>
              <a:buFont typeface="+mj-lt"/>
              <a:buAutoNum type="arabicPeriod"/>
            </a:pPr>
            <a:r>
              <a:rPr lang="en-GB" b="0" i="0" dirty="0">
                <a:solidFill>
                  <a:srgbClr val="1D1C1B"/>
                </a:solidFill>
                <a:effectLst/>
                <a:latin typeface="Roboto" panose="02000000000000000000" pitchFamily="2" charset="0"/>
              </a:rPr>
              <a:t>An </a:t>
            </a:r>
            <a:r>
              <a:rPr lang="en-GB" b="1" i="0" dirty="0">
                <a:solidFill>
                  <a:srgbClr val="1D1C1B"/>
                </a:solidFill>
                <a:effectLst/>
                <a:latin typeface="Roboto" panose="02000000000000000000" pitchFamily="2" charset="0"/>
              </a:rPr>
              <a:t>overall performance score</a:t>
            </a:r>
            <a:r>
              <a:rPr lang="en-GB" b="0" i="0" dirty="0">
                <a:solidFill>
                  <a:srgbClr val="1D1C1B"/>
                </a:solidFill>
                <a:effectLst/>
                <a:latin typeface="Roboto" panose="02000000000000000000" pitchFamily="2" charset="0"/>
              </a:rPr>
              <a:t> (the RMSE).</a:t>
            </a:r>
          </a:p>
          <a:p>
            <a:pPr algn="l">
              <a:spcBef>
                <a:spcPts val="600"/>
              </a:spcBef>
              <a:spcAft>
                <a:spcPts val="300"/>
              </a:spcAft>
              <a:buFont typeface="+mj-lt"/>
              <a:buAutoNum type="arabicPeriod"/>
            </a:pPr>
            <a:r>
              <a:rPr lang="en-GB" b="0" i="0" dirty="0">
                <a:solidFill>
                  <a:srgbClr val="1D1C1B"/>
                </a:solidFill>
                <a:effectLst/>
                <a:latin typeface="Roboto" panose="02000000000000000000" pitchFamily="2" charset="0"/>
              </a:rPr>
              <a:t> A </a:t>
            </a:r>
            <a:r>
              <a:rPr lang="en-GB" b="1" i="0" dirty="0">
                <a:solidFill>
                  <a:srgbClr val="1D1C1B"/>
                </a:solidFill>
                <a:effectLst/>
                <a:latin typeface="Roboto" panose="02000000000000000000" pitchFamily="2" charset="0"/>
              </a:rPr>
              <a:t>specific, concrete example</a:t>
            </a:r>
            <a:r>
              <a:rPr lang="en-GB" b="0" i="0" dirty="0">
                <a:solidFill>
                  <a:srgbClr val="1D1C1B"/>
                </a:solidFill>
                <a:effectLst/>
                <a:latin typeface="Roboto" panose="02000000000000000000" pitchFamily="2" charset="0"/>
              </a:rPr>
              <a:t> to help you visualize that performance.</a:t>
            </a:r>
          </a:p>
        </p:txBody>
      </p:sp>
    </p:spTree>
    <p:extLst>
      <p:ext uri="{BB962C8B-B14F-4D97-AF65-F5344CB8AC3E}">
        <p14:creationId xmlns:p14="http://schemas.microsoft.com/office/powerpoint/2010/main" val="15518476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5E841-0D8D-45DE-6E81-C1C9BCF3C202}"/>
              </a:ext>
            </a:extLst>
          </p:cNvPr>
          <p:cNvSpPr>
            <a:spLocks noGrp="1"/>
          </p:cNvSpPr>
          <p:nvPr>
            <p:ph type="title"/>
          </p:nvPr>
        </p:nvSpPr>
        <p:spPr/>
        <p:txBody>
          <a:bodyPr/>
          <a:lstStyle/>
          <a:p>
            <a:r>
              <a:rPr lang="en-US" dirty="0"/>
              <a:t>Recap on metrics</a:t>
            </a:r>
          </a:p>
        </p:txBody>
      </p:sp>
      <p:sp>
        <p:nvSpPr>
          <p:cNvPr id="3" name="Content Placeholder 2">
            <a:extLst>
              <a:ext uri="{FF2B5EF4-FFF2-40B4-BE49-F238E27FC236}">
                <a16:creationId xmlns:a16="http://schemas.microsoft.com/office/drawing/2014/main" id="{48CD48EB-D7EF-76BA-272A-8247F4A7F06C}"/>
              </a:ext>
            </a:extLst>
          </p:cNvPr>
          <p:cNvSpPr>
            <a:spLocks noGrp="1"/>
          </p:cNvSpPr>
          <p:nvPr>
            <p:ph idx="1"/>
          </p:nvPr>
        </p:nvSpPr>
        <p:spPr/>
        <p:txBody>
          <a:bodyPr/>
          <a:lstStyle/>
          <a:p>
            <a:r>
              <a:rPr lang="en-GB" b="1" dirty="0"/>
              <a:t>What is RMSE?</a:t>
            </a:r>
            <a:br>
              <a:rPr lang="en-GB" dirty="0"/>
            </a:br>
            <a:r>
              <a:rPr lang="en-GB" dirty="0"/>
              <a:t>The "Root Mean Squared Error" is a standard way to measure the error of a model that predicts continuous numbers (like a stock price). In simple terms, it represents the </a:t>
            </a:r>
            <a:r>
              <a:rPr lang="en-GB" b="1" dirty="0"/>
              <a:t>typical distance between the prices your model predicted and the actual prices.</a:t>
            </a:r>
            <a:endParaRPr lang="en-GB" dirty="0"/>
          </a:p>
          <a:p>
            <a:endParaRPr lang="en-US" dirty="0"/>
          </a:p>
        </p:txBody>
      </p:sp>
    </p:spTree>
    <p:extLst>
      <p:ext uri="{BB962C8B-B14F-4D97-AF65-F5344CB8AC3E}">
        <p14:creationId xmlns:p14="http://schemas.microsoft.com/office/powerpoint/2010/main" val="15080922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64C81-6B1D-3916-55C0-8CEFEDDFEFD4}"/>
              </a:ext>
            </a:extLst>
          </p:cNvPr>
          <p:cNvSpPr>
            <a:spLocks noGrp="1"/>
          </p:cNvSpPr>
          <p:nvPr>
            <p:ph type="title"/>
          </p:nvPr>
        </p:nvSpPr>
        <p:spPr/>
        <p:txBody>
          <a:bodyPr/>
          <a:lstStyle/>
          <a:p>
            <a:r>
              <a:rPr lang="en-US" dirty="0"/>
              <a:t>Explanation on the </a:t>
            </a:r>
            <a:r>
              <a:rPr lang="en-US" dirty="0" err="1"/>
              <a:t>ouputs</a:t>
            </a:r>
            <a:endParaRPr lang="en-US" dirty="0"/>
          </a:p>
        </p:txBody>
      </p:sp>
      <p:sp>
        <p:nvSpPr>
          <p:cNvPr id="3" name="Content Placeholder 2">
            <a:extLst>
              <a:ext uri="{FF2B5EF4-FFF2-40B4-BE49-F238E27FC236}">
                <a16:creationId xmlns:a16="http://schemas.microsoft.com/office/drawing/2014/main" id="{A6047ADA-FFE9-9FF3-CD19-FC082F612129}"/>
              </a:ext>
            </a:extLst>
          </p:cNvPr>
          <p:cNvSpPr>
            <a:spLocks noGrp="1"/>
          </p:cNvSpPr>
          <p:nvPr>
            <p:ph idx="1"/>
          </p:nvPr>
        </p:nvSpPr>
        <p:spPr/>
        <p:txBody>
          <a:bodyPr/>
          <a:lstStyle/>
          <a:p>
            <a:r>
              <a:rPr lang="en-GB" sz="1600" b="1" dirty="0"/>
              <a:t>What does the number $3.64 mean?</a:t>
            </a:r>
            <a:br>
              <a:rPr lang="en-GB" sz="1600" dirty="0"/>
            </a:br>
            <a:r>
              <a:rPr lang="en-GB" sz="1600" dirty="0"/>
              <a:t>This is the most important part. It means that </a:t>
            </a:r>
            <a:r>
              <a:rPr lang="en-GB" sz="1600" b="1" dirty="0"/>
              <a:t>on average, your model's predictions were off by about $3.64.</a:t>
            </a:r>
            <a:endParaRPr lang="en-GB" sz="1600" dirty="0"/>
          </a:p>
          <a:p>
            <a:r>
              <a:rPr lang="en-GB" sz="1600" dirty="0"/>
              <a:t>Think of it like a weather forecast that predicts the temperature. If the forecast predicts 25°C and the actual temperature is 27°C, the error is 2°C. The RMSE is the typical size of that error across all the days in your test set.</a:t>
            </a:r>
          </a:p>
          <a:p>
            <a:r>
              <a:rPr lang="en-GB" sz="1600" b="1" dirty="0"/>
              <a:t>Is $3.64 good or bad?</a:t>
            </a:r>
            <a:br>
              <a:rPr lang="en-GB" sz="1600" dirty="0"/>
            </a:br>
            <a:r>
              <a:rPr lang="en-GB" sz="1600" dirty="0"/>
              <a:t>The answer is always, "It depends on the context." An error of $3.64 on a stock that trades for $10 is terrible. But on a stock that trades for $130 (like Apple in this period), it's an error of roughly 2.8% (3.64 / 128.00). For a very simple model using only the previous day's price data, this is a reasonable starting point. A professional quantitative analyst would aim to get this number much, much lower.</a:t>
            </a:r>
          </a:p>
          <a:p>
            <a:r>
              <a:rPr lang="en-GB" sz="1600" b="1" dirty="0"/>
              <a:t>In short: The RMSE gives you the average "margin of error" for your model's predictions.</a:t>
            </a:r>
            <a:endParaRPr lang="en-GB" sz="1600" dirty="0"/>
          </a:p>
          <a:p>
            <a:endParaRPr lang="en-US" sz="1600" dirty="0"/>
          </a:p>
        </p:txBody>
      </p:sp>
    </p:spTree>
    <p:extLst>
      <p:ext uri="{BB962C8B-B14F-4D97-AF65-F5344CB8AC3E}">
        <p14:creationId xmlns:p14="http://schemas.microsoft.com/office/powerpoint/2010/main" val="15708208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52389-E0A7-ACED-D758-7A45F33B0010}"/>
              </a:ext>
            </a:extLst>
          </p:cNvPr>
          <p:cNvSpPr>
            <a:spLocks noGrp="1"/>
          </p:cNvSpPr>
          <p:nvPr>
            <p:ph type="title"/>
          </p:nvPr>
        </p:nvSpPr>
        <p:spPr/>
        <p:txBody>
          <a:bodyPr/>
          <a:lstStyle/>
          <a:p>
            <a:r>
              <a:rPr lang="en-US" dirty="0"/>
              <a:t>More Explanation</a:t>
            </a:r>
          </a:p>
        </p:txBody>
      </p:sp>
      <p:sp>
        <p:nvSpPr>
          <p:cNvPr id="3" name="Content Placeholder 2">
            <a:extLst>
              <a:ext uri="{FF2B5EF4-FFF2-40B4-BE49-F238E27FC236}">
                <a16:creationId xmlns:a16="http://schemas.microsoft.com/office/drawing/2014/main" id="{D732C73E-ADBB-C3E6-6418-2DE09B10822E}"/>
              </a:ext>
            </a:extLst>
          </p:cNvPr>
          <p:cNvSpPr>
            <a:spLocks noGrp="1"/>
          </p:cNvSpPr>
          <p:nvPr>
            <p:ph idx="1"/>
          </p:nvPr>
        </p:nvSpPr>
        <p:spPr/>
        <p:txBody>
          <a:bodyPr/>
          <a:lstStyle/>
          <a:p>
            <a:r>
              <a:rPr lang="en-GB" sz="1600" b="1" dirty="0"/>
              <a:t>What is this?</a:t>
            </a:r>
            <a:br>
              <a:rPr lang="en-GB" sz="1600" dirty="0"/>
            </a:br>
            <a:r>
              <a:rPr lang="en-GB" sz="1600" dirty="0"/>
              <a:t>While the RMSE gives you the average error over many days, this section zooms in on a </a:t>
            </a:r>
            <a:r>
              <a:rPr lang="en-GB" sz="1600" b="1" dirty="0"/>
              <a:t>single day</a:t>
            </a:r>
            <a:r>
              <a:rPr lang="en-GB" sz="1600" dirty="0"/>
              <a:t>—the very last day of your test data. It shows you one specific instance of your model in action.</a:t>
            </a:r>
          </a:p>
          <a:p>
            <a:r>
              <a:rPr lang="en-GB" sz="1600" b="1" dirty="0"/>
              <a:t>What does it tell us?</a:t>
            </a:r>
            <a:endParaRPr lang="en-GB" sz="1600" dirty="0"/>
          </a:p>
          <a:p>
            <a:pPr lvl="1"/>
            <a:r>
              <a:rPr lang="en-GB" sz="1400" dirty="0"/>
              <a:t>The Actual Price was $128.00. This is the real, historical closing price for that day.</a:t>
            </a:r>
          </a:p>
          <a:p>
            <a:pPr lvl="1"/>
            <a:r>
              <a:rPr lang="en-GB" sz="1400" dirty="0"/>
              <a:t>Your Model's Predicted Price was $128.95. This is what your model forecasted the price would be, based on the Open, High, Low, and Close from the day before.</a:t>
            </a:r>
          </a:p>
          <a:p>
            <a:r>
              <a:rPr lang="en-GB" sz="1600" b="1" dirty="0"/>
              <a:t>Connecting it to the RMSE:</a:t>
            </a:r>
            <a:br>
              <a:rPr lang="en-GB" sz="1600" dirty="0"/>
            </a:br>
            <a:r>
              <a:rPr lang="en-GB" sz="1600" dirty="0"/>
              <a:t>On this particular day, the model's error was $0.95 ($128.95 - $128.00). This single error is smaller than the average error of $3.64. This is perfectly normal! Just like with a weather forecast, some days the prediction will be very close, and other days it will be further off. The RMSE of $3.64 is the typical error when you average out all these good and bad prediction days.</a:t>
            </a:r>
          </a:p>
          <a:p>
            <a:endParaRPr lang="en-US" sz="1600" dirty="0"/>
          </a:p>
        </p:txBody>
      </p:sp>
    </p:spTree>
    <p:extLst>
      <p:ext uri="{BB962C8B-B14F-4D97-AF65-F5344CB8AC3E}">
        <p14:creationId xmlns:p14="http://schemas.microsoft.com/office/powerpoint/2010/main" val="25419902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9260C-3113-1897-1656-5F42C6937E3A}"/>
              </a:ext>
            </a:extLst>
          </p:cNvPr>
          <p:cNvSpPr>
            <a:spLocks noGrp="1"/>
          </p:cNvSpPr>
          <p:nvPr>
            <p:ph type="title"/>
          </p:nvPr>
        </p:nvSpPr>
        <p:spPr/>
        <p:txBody>
          <a:bodyPr/>
          <a:lstStyle/>
          <a:p>
            <a:r>
              <a:rPr lang="en-US" dirty="0"/>
              <a:t>The Interpretation would be…</a:t>
            </a:r>
          </a:p>
        </p:txBody>
      </p:sp>
      <p:sp>
        <p:nvSpPr>
          <p:cNvPr id="3" name="Content Placeholder 2">
            <a:extLst>
              <a:ext uri="{FF2B5EF4-FFF2-40B4-BE49-F238E27FC236}">
                <a16:creationId xmlns:a16="http://schemas.microsoft.com/office/drawing/2014/main" id="{C8886942-ED73-9320-82DF-9706CF864C29}"/>
              </a:ext>
            </a:extLst>
          </p:cNvPr>
          <p:cNvSpPr>
            <a:spLocks noGrp="1"/>
          </p:cNvSpPr>
          <p:nvPr>
            <p:ph idx="1"/>
          </p:nvPr>
        </p:nvSpPr>
        <p:spPr/>
        <p:txBody>
          <a:bodyPr/>
          <a:lstStyle/>
          <a:p>
            <a:r>
              <a:rPr lang="en-GB" i="1" dirty="0"/>
              <a:t>"We built a Linear Regression model to predict Apple's next-day closing price. When evaluated on unseen data, the model had a Root Mean Squared Error of $3.64, meaning its predictions were typically off by that amount. For example, on the last day of our test period, the actual price was $128.00, and our model predicted $128.95, an error of just $0.95 on that day."</a:t>
            </a:r>
            <a:endParaRPr lang="en-US" dirty="0"/>
          </a:p>
        </p:txBody>
      </p:sp>
    </p:spTree>
    <p:extLst>
      <p:ext uri="{BB962C8B-B14F-4D97-AF65-F5344CB8AC3E}">
        <p14:creationId xmlns:p14="http://schemas.microsoft.com/office/powerpoint/2010/main" val="34851203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26F1F-8272-D10F-8C75-3229886D6ACF}"/>
              </a:ext>
            </a:extLst>
          </p:cNvPr>
          <p:cNvSpPr>
            <a:spLocks noGrp="1"/>
          </p:cNvSpPr>
          <p:nvPr>
            <p:ph type="title"/>
          </p:nvPr>
        </p:nvSpPr>
        <p:spPr/>
        <p:txBody>
          <a:bodyPr/>
          <a:lstStyle/>
          <a:p>
            <a:r>
              <a:rPr lang="en-US" dirty="0"/>
              <a:t>Your simple exercise 1</a:t>
            </a:r>
          </a:p>
        </p:txBody>
      </p:sp>
      <p:sp>
        <p:nvSpPr>
          <p:cNvPr id="3" name="Content Placeholder 2">
            <a:extLst>
              <a:ext uri="{FF2B5EF4-FFF2-40B4-BE49-F238E27FC236}">
                <a16:creationId xmlns:a16="http://schemas.microsoft.com/office/drawing/2014/main" id="{F4E331E8-3DAF-083A-9616-FEA4349073DC}"/>
              </a:ext>
            </a:extLst>
          </p:cNvPr>
          <p:cNvSpPr>
            <a:spLocks noGrp="1"/>
          </p:cNvSpPr>
          <p:nvPr>
            <p:ph idx="1"/>
          </p:nvPr>
        </p:nvSpPr>
        <p:spPr/>
        <p:txBody>
          <a:bodyPr/>
          <a:lstStyle/>
          <a:p>
            <a:r>
              <a:rPr lang="en-GB" b="1" dirty="0"/>
              <a:t>Visualizing Model Performance</a:t>
            </a:r>
          </a:p>
          <a:p>
            <a:endParaRPr lang="en-GB" b="1" dirty="0"/>
          </a:p>
          <a:p>
            <a:r>
              <a:rPr lang="en-GB" b="1" dirty="0"/>
              <a:t>Objective:</a:t>
            </a:r>
            <a:br>
              <a:rPr lang="en-GB" dirty="0"/>
            </a:br>
            <a:r>
              <a:rPr lang="en-GB" dirty="0"/>
              <a:t>A single number like RMSE tells us the </a:t>
            </a:r>
            <a:r>
              <a:rPr lang="en-GB" i="1" dirty="0"/>
              <a:t>average</a:t>
            </a:r>
            <a:r>
              <a:rPr lang="en-GB" dirty="0"/>
              <a:t> error, but it doesn't show us </a:t>
            </a:r>
            <a:r>
              <a:rPr lang="en-GB" i="1" dirty="0"/>
              <a:t>where</a:t>
            </a:r>
            <a:r>
              <a:rPr lang="en-GB" dirty="0"/>
              <a:t> or </a:t>
            </a:r>
            <a:r>
              <a:rPr lang="en-GB" i="1" dirty="0"/>
              <a:t>when</a:t>
            </a:r>
            <a:r>
              <a:rPr lang="en-GB" dirty="0"/>
              <a:t> our model is making mistakes. A visual plot is one of the most powerful tools for understanding a model's </a:t>
            </a:r>
            <a:r>
              <a:rPr lang="en-GB" dirty="0" err="1"/>
              <a:t>behavior</a:t>
            </a:r>
            <a:r>
              <a:rPr lang="en-GB" dirty="0"/>
              <a:t>.</a:t>
            </a:r>
          </a:p>
          <a:p>
            <a:endParaRPr lang="en-US" dirty="0"/>
          </a:p>
        </p:txBody>
      </p:sp>
    </p:spTree>
    <p:extLst>
      <p:ext uri="{BB962C8B-B14F-4D97-AF65-F5344CB8AC3E}">
        <p14:creationId xmlns:p14="http://schemas.microsoft.com/office/powerpoint/2010/main" val="2256792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381BA-FEEC-C26E-03A9-480383F66F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9507F9-FC33-63CF-9D48-F5C43B968370}"/>
              </a:ext>
            </a:extLst>
          </p:cNvPr>
          <p:cNvSpPr>
            <a:spLocks noGrp="1"/>
          </p:cNvSpPr>
          <p:nvPr>
            <p:ph type="title"/>
          </p:nvPr>
        </p:nvSpPr>
        <p:spPr/>
        <p:txBody>
          <a:bodyPr/>
          <a:lstStyle/>
          <a:p>
            <a:r>
              <a:rPr lang="en-US" dirty="0"/>
              <a:t>Your Task 1</a:t>
            </a:r>
          </a:p>
        </p:txBody>
      </p:sp>
      <p:sp>
        <p:nvSpPr>
          <p:cNvPr id="4" name="Content Placeholder 3">
            <a:extLst>
              <a:ext uri="{FF2B5EF4-FFF2-40B4-BE49-F238E27FC236}">
                <a16:creationId xmlns:a16="http://schemas.microsoft.com/office/drawing/2014/main" id="{67EFCC63-2A32-8BE8-36C2-1617819F2EF7}"/>
              </a:ext>
            </a:extLst>
          </p:cNvPr>
          <p:cNvSpPr>
            <a:spLocks noGrp="1"/>
          </p:cNvSpPr>
          <p:nvPr>
            <p:ph idx="1"/>
          </p:nvPr>
        </p:nvSpPr>
        <p:spPr/>
        <p:txBody>
          <a:bodyPr/>
          <a:lstStyle/>
          <a:p>
            <a:r>
              <a:rPr lang="en-GB" dirty="0"/>
              <a:t>To create a professional line chart that compares your model's predicted stock prices against the actual stock prices. This will help you visually assess the strengths and weaknesses of your model. (you can use </a:t>
            </a:r>
            <a:r>
              <a:rPr lang="en-US" dirty="0"/>
              <a:t>matplotlib)</a:t>
            </a:r>
          </a:p>
        </p:txBody>
      </p:sp>
    </p:spTree>
    <p:extLst>
      <p:ext uri="{BB962C8B-B14F-4D97-AF65-F5344CB8AC3E}">
        <p14:creationId xmlns:p14="http://schemas.microsoft.com/office/powerpoint/2010/main" val="19738701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E9388-C916-3DF7-8BDF-E14BC237B770}"/>
              </a:ext>
            </a:extLst>
          </p:cNvPr>
          <p:cNvSpPr>
            <a:spLocks noGrp="1"/>
          </p:cNvSpPr>
          <p:nvPr>
            <p:ph type="title"/>
          </p:nvPr>
        </p:nvSpPr>
        <p:spPr/>
        <p:txBody>
          <a:bodyPr/>
          <a:lstStyle/>
          <a:p>
            <a:r>
              <a:rPr lang="en-US" dirty="0"/>
              <a:t>Your Task 1</a:t>
            </a:r>
          </a:p>
        </p:txBody>
      </p:sp>
      <p:pic>
        <p:nvPicPr>
          <p:cNvPr id="5" name="Content Placeholder 4">
            <a:extLst>
              <a:ext uri="{FF2B5EF4-FFF2-40B4-BE49-F238E27FC236}">
                <a16:creationId xmlns:a16="http://schemas.microsoft.com/office/drawing/2014/main" id="{FD33F2E9-5738-1106-C57B-38B5F04D2D02}"/>
              </a:ext>
            </a:extLst>
          </p:cNvPr>
          <p:cNvPicPr>
            <a:picLocks noGrp="1" noChangeAspect="1"/>
          </p:cNvPicPr>
          <p:nvPr>
            <p:ph idx="1"/>
          </p:nvPr>
        </p:nvPicPr>
        <p:blipFill>
          <a:blip r:embed="rId2"/>
          <a:stretch>
            <a:fillRect/>
          </a:stretch>
        </p:blipFill>
        <p:spPr>
          <a:xfrm>
            <a:off x="1329511" y="1033463"/>
            <a:ext cx="6446878" cy="3262312"/>
          </a:xfrm>
          <a:prstGeom prst="rect">
            <a:avLst/>
          </a:prstGeom>
        </p:spPr>
      </p:pic>
    </p:spTree>
    <p:extLst>
      <p:ext uri="{BB962C8B-B14F-4D97-AF65-F5344CB8AC3E}">
        <p14:creationId xmlns:p14="http://schemas.microsoft.com/office/powerpoint/2010/main" val="35927299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F8371-27B9-7504-E80C-BFC96E992150}"/>
              </a:ext>
            </a:extLst>
          </p:cNvPr>
          <p:cNvSpPr>
            <a:spLocks noGrp="1"/>
          </p:cNvSpPr>
          <p:nvPr>
            <p:ph type="title"/>
          </p:nvPr>
        </p:nvSpPr>
        <p:spPr/>
        <p:txBody>
          <a:bodyPr/>
          <a:lstStyle/>
          <a:p>
            <a:r>
              <a:rPr lang="en-US" dirty="0"/>
              <a:t>Task 2: Discussion Questions</a:t>
            </a:r>
          </a:p>
        </p:txBody>
      </p:sp>
      <p:sp>
        <p:nvSpPr>
          <p:cNvPr id="3" name="Content Placeholder 2">
            <a:extLst>
              <a:ext uri="{FF2B5EF4-FFF2-40B4-BE49-F238E27FC236}">
                <a16:creationId xmlns:a16="http://schemas.microsoft.com/office/drawing/2014/main" id="{723388F4-78B2-A8FE-A14A-FFF84FE3F4A3}"/>
              </a:ext>
            </a:extLst>
          </p:cNvPr>
          <p:cNvSpPr>
            <a:spLocks noGrp="1"/>
          </p:cNvSpPr>
          <p:nvPr>
            <p:ph idx="1"/>
          </p:nvPr>
        </p:nvSpPr>
        <p:spPr/>
        <p:txBody>
          <a:bodyPr/>
          <a:lstStyle/>
          <a:p>
            <a:r>
              <a:rPr lang="en-GB" sz="2400" dirty="0"/>
              <a:t>After creating your plot, answer these questions by looking at your chart:</a:t>
            </a:r>
          </a:p>
          <a:p>
            <a:r>
              <a:rPr lang="en-GB" sz="2400" dirty="0"/>
              <a:t>Does the "Predicted Price" line generally follow the trend of the "Actual Price" line?</a:t>
            </a:r>
          </a:p>
          <a:p>
            <a:r>
              <a:rPr lang="en-GB" sz="2400" dirty="0"/>
              <a:t>Are there specific periods (e.g., a sharp drop or rise) where the model's predictions seem to lag behind the actual price?</a:t>
            </a:r>
          </a:p>
          <a:p>
            <a:r>
              <a:rPr lang="en-GB" sz="2400" dirty="0"/>
              <a:t>Based on the visualization, what is the biggest weakness of this simple model? (Hint: How does it react to sudden changes?)</a:t>
            </a:r>
          </a:p>
          <a:p>
            <a:endParaRPr lang="en-US" sz="2400" dirty="0"/>
          </a:p>
        </p:txBody>
      </p:sp>
    </p:spTree>
    <p:extLst>
      <p:ext uri="{BB962C8B-B14F-4D97-AF65-F5344CB8AC3E}">
        <p14:creationId xmlns:p14="http://schemas.microsoft.com/office/powerpoint/2010/main" val="28987275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99E4D-6ACD-8B26-E4AE-0D2BC766D850}"/>
              </a:ext>
            </a:extLst>
          </p:cNvPr>
          <p:cNvSpPr>
            <a:spLocks noGrp="1"/>
          </p:cNvSpPr>
          <p:nvPr>
            <p:ph type="title"/>
          </p:nvPr>
        </p:nvSpPr>
        <p:spPr/>
        <p:txBody>
          <a:bodyPr/>
          <a:lstStyle/>
          <a:p>
            <a:r>
              <a:rPr lang="en-US" dirty="0"/>
              <a:t>Answers</a:t>
            </a:r>
          </a:p>
        </p:txBody>
      </p:sp>
      <p:sp>
        <p:nvSpPr>
          <p:cNvPr id="3" name="Content Placeholder 2">
            <a:extLst>
              <a:ext uri="{FF2B5EF4-FFF2-40B4-BE49-F238E27FC236}">
                <a16:creationId xmlns:a16="http://schemas.microsoft.com/office/drawing/2014/main" id="{E2092E22-3936-DDB5-E221-97EBE057FA7D}"/>
              </a:ext>
            </a:extLst>
          </p:cNvPr>
          <p:cNvSpPr>
            <a:spLocks noGrp="1"/>
          </p:cNvSpPr>
          <p:nvPr>
            <p:ph idx="1"/>
          </p:nvPr>
        </p:nvSpPr>
        <p:spPr/>
        <p:txBody>
          <a:bodyPr/>
          <a:lstStyle/>
          <a:p>
            <a:r>
              <a:rPr lang="en-GB" sz="1600" b="1" dirty="0"/>
              <a:t>1. Does the "Predicted Price" line generally follow the trend of the "Actual Price" line?</a:t>
            </a:r>
          </a:p>
          <a:p>
            <a:pPr marL="0" indent="0">
              <a:buNone/>
            </a:pPr>
            <a:r>
              <a:rPr lang="en-GB" sz="1600" b="1" dirty="0"/>
              <a:t>Answer:</a:t>
            </a:r>
            <a:r>
              <a:rPr lang="en-GB" sz="1600" dirty="0"/>
              <a:t> </a:t>
            </a:r>
            <a:r>
              <a:rPr lang="en-GB" sz="1600" b="1" dirty="0"/>
              <a:t>Yes, absolutely.</a:t>
            </a:r>
            <a:endParaRPr lang="en-GB" sz="1600" dirty="0"/>
          </a:p>
          <a:p>
            <a:r>
              <a:rPr lang="en-GB" sz="1600" dirty="0"/>
              <a:t>The red "Predicted Price" line does a good job of following the overall trend of the blue "Actual Price" line. When the actual stock price is in a general upward trend over several days, the model's predictions also trend upward. When the actual price trends down, the predictions follow suit.</a:t>
            </a:r>
          </a:p>
          <a:p>
            <a:r>
              <a:rPr lang="en-GB" sz="1600" b="1" dirty="0"/>
              <a:t>Why this happens:</a:t>
            </a:r>
            <a:r>
              <a:rPr lang="en-GB" sz="1600" dirty="0"/>
              <a:t> Our model is a </a:t>
            </a:r>
            <a:r>
              <a:rPr lang="en-GB" sz="1600" dirty="0" err="1"/>
              <a:t>LinearRegression</a:t>
            </a:r>
            <a:r>
              <a:rPr lang="en-GB" sz="1600" dirty="0"/>
              <a:t> model that uses the previous day's Open, High, Low, and Close prices to predict the next day's Close. Stock prices have high "autocorrelation," which is a fancy way of saying that today's price is usually very close to yesterday's price. The model learns this fundamental rule: "The price tomorrow will likely be very near the price today." This allows it to capture the general direction of the market.</a:t>
            </a:r>
          </a:p>
          <a:p>
            <a:endParaRPr lang="en-US" sz="1600" dirty="0"/>
          </a:p>
        </p:txBody>
      </p:sp>
    </p:spTree>
    <p:extLst>
      <p:ext uri="{BB962C8B-B14F-4D97-AF65-F5344CB8AC3E}">
        <p14:creationId xmlns:p14="http://schemas.microsoft.com/office/powerpoint/2010/main" val="14973250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587B48-7062-EE4D-71B9-58339D0A0C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58A953-270C-6B27-06A6-A542FD0642C7}"/>
              </a:ext>
            </a:extLst>
          </p:cNvPr>
          <p:cNvSpPr>
            <a:spLocks noGrp="1"/>
          </p:cNvSpPr>
          <p:nvPr>
            <p:ph type="title"/>
          </p:nvPr>
        </p:nvSpPr>
        <p:spPr/>
        <p:txBody>
          <a:bodyPr/>
          <a:lstStyle/>
          <a:p>
            <a:r>
              <a:rPr lang="en-US" dirty="0"/>
              <a:t>Answers</a:t>
            </a:r>
          </a:p>
        </p:txBody>
      </p:sp>
      <p:sp>
        <p:nvSpPr>
          <p:cNvPr id="3" name="Content Placeholder 2">
            <a:extLst>
              <a:ext uri="{FF2B5EF4-FFF2-40B4-BE49-F238E27FC236}">
                <a16:creationId xmlns:a16="http://schemas.microsoft.com/office/drawing/2014/main" id="{112A3736-21A5-B493-25A0-CBDA7C66F943}"/>
              </a:ext>
            </a:extLst>
          </p:cNvPr>
          <p:cNvSpPr>
            <a:spLocks noGrp="1"/>
          </p:cNvSpPr>
          <p:nvPr>
            <p:ph idx="1"/>
          </p:nvPr>
        </p:nvSpPr>
        <p:spPr/>
        <p:txBody>
          <a:bodyPr/>
          <a:lstStyle/>
          <a:p>
            <a:r>
              <a:rPr lang="en-GB" sz="1400" b="1" dirty="0"/>
              <a:t>2. Are there specific periods (e.g., a sharp drop or rise) where the model's predictions seem to lag behind the actual price?</a:t>
            </a:r>
          </a:p>
          <a:p>
            <a:pPr marL="0" indent="0">
              <a:buNone/>
            </a:pPr>
            <a:r>
              <a:rPr lang="en-GB" sz="1400" b="1" dirty="0"/>
              <a:t>Answer:</a:t>
            </a:r>
            <a:r>
              <a:rPr lang="en-GB" sz="1400" dirty="0"/>
              <a:t> </a:t>
            </a:r>
            <a:r>
              <a:rPr lang="en-GB" sz="1400" b="1" dirty="0"/>
              <a:t>Yes, this is one of the most obvious takeaways from the chart.</a:t>
            </a:r>
            <a:r>
              <a:rPr lang="en-GB" sz="1400" dirty="0"/>
              <a:t> The model's predictions consistently </a:t>
            </a:r>
            <a:r>
              <a:rPr lang="en-GB" sz="1400" b="1" dirty="0"/>
              <a:t>lag</a:t>
            </a:r>
            <a:r>
              <a:rPr lang="en-GB" sz="1400" dirty="0"/>
              <a:t> behind the actual price by one day.</a:t>
            </a:r>
          </a:p>
          <a:p>
            <a:r>
              <a:rPr lang="en-GB" sz="1400" b="1" dirty="0"/>
              <a:t>When there's a sharp drop:</a:t>
            </a:r>
            <a:r>
              <a:rPr lang="en-GB" sz="1400" dirty="0"/>
              <a:t> Look at any day where the blue line drops suddenly. You will see that the red line (the prediction) for that same day is still high. The red line only drops on the </a:t>
            </a:r>
            <a:r>
              <a:rPr lang="en-GB" sz="1400" i="1" dirty="0"/>
              <a:t>next</a:t>
            </a:r>
            <a:r>
              <a:rPr lang="en-GB" sz="1400" dirty="0"/>
              <a:t> day, after it has seen the low price from the day before.</a:t>
            </a:r>
          </a:p>
          <a:p>
            <a:r>
              <a:rPr lang="en-GB" sz="1400" b="1" dirty="0"/>
              <a:t>When there's a sharp rise:</a:t>
            </a:r>
            <a:r>
              <a:rPr lang="en-GB" sz="1400" dirty="0"/>
              <a:t> The same thing happens in reverse. If the stock has a surprisingly good day, the model will not predict it. It will only predict a higher price for the day </a:t>
            </a:r>
            <a:r>
              <a:rPr lang="en-GB" sz="1400" i="1" dirty="0"/>
              <a:t>after</a:t>
            </a:r>
            <a:r>
              <a:rPr lang="en-GB" sz="1400" dirty="0"/>
              <a:t> the jump occurred.</a:t>
            </a:r>
          </a:p>
          <a:p>
            <a:r>
              <a:rPr lang="en-GB" sz="1400" b="1" dirty="0"/>
              <a:t>Why this happens:</a:t>
            </a:r>
            <a:r>
              <a:rPr lang="en-GB" sz="1400" dirty="0"/>
              <a:t> The model has no "crystal ball." Its entire knowledge base for predicting a given day's price comes from the </a:t>
            </a:r>
            <a:r>
              <a:rPr lang="en-GB" sz="1400" i="1" dirty="0"/>
              <a:t>previous day's data</a:t>
            </a:r>
            <a:r>
              <a:rPr lang="en-GB" sz="1400" dirty="0"/>
              <a:t>. It cannot know about a surprise news event or a sudden shift in market sentiment that will happen </a:t>
            </a:r>
            <a:r>
              <a:rPr lang="en-GB" sz="1400" i="1" dirty="0"/>
              <a:t>today</a:t>
            </a:r>
            <a:r>
              <a:rPr lang="en-GB" sz="1400" dirty="0"/>
              <a:t>. It is always looking in the rearview mirror, which causes this characteristic one-day lag.</a:t>
            </a:r>
          </a:p>
        </p:txBody>
      </p:sp>
    </p:spTree>
    <p:extLst>
      <p:ext uri="{BB962C8B-B14F-4D97-AF65-F5344CB8AC3E}">
        <p14:creationId xmlns:p14="http://schemas.microsoft.com/office/powerpoint/2010/main" val="8316220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90CA8-C2AB-60BE-E649-6A9F7D7F16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703CCD-703B-5583-99F3-23985DC93CE7}"/>
              </a:ext>
            </a:extLst>
          </p:cNvPr>
          <p:cNvSpPr>
            <a:spLocks noGrp="1"/>
          </p:cNvSpPr>
          <p:nvPr>
            <p:ph type="title"/>
          </p:nvPr>
        </p:nvSpPr>
        <p:spPr/>
        <p:txBody>
          <a:bodyPr/>
          <a:lstStyle/>
          <a:p>
            <a:r>
              <a:rPr lang="en-US" dirty="0"/>
              <a:t>Answers</a:t>
            </a:r>
          </a:p>
        </p:txBody>
      </p:sp>
      <p:sp>
        <p:nvSpPr>
          <p:cNvPr id="3" name="Content Placeholder 2">
            <a:extLst>
              <a:ext uri="{FF2B5EF4-FFF2-40B4-BE49-F238E27FC236}">
                <a16:creationId xmlns:a16="http://schemas.microsoft.com/office/drawing/2014/main" id="{7B398E5D-FCC1-FE2F-F39B-3DF65D28FF6F}"/>
              </a:ext>
            </a:extLst>
          </p:cNvPr>
          <p:cNvSpPr>
            <a:spLocks noGrp="1"/>
          </p:cNvSpPr>
          <p:nvPr>
            <p:ph idx="1"/>
          </p:nvPr>
        </p:nvSpPr>
        <p:spPr>
          <a:xfrm>
            <a:off x="411401" y="940594"/>
            <a:ext cx="8210550" cy="3262312"/>
          </a:xfrm>
        </p:spPr>
        <p:txBody>
          <a:bodyPr/>
          <a:lstStyle/>
          <a:p>
            <a:r>
              <a:rPr lang="en-GB" sz="1400" b="1" dirty="0"/>
              <a:t>3. Based on the visualization, what is the biggest weakness of this simple model?</a:t>
            </a:r>
          </a:p>
          <a:p>
            <a:pPr marL="0" indent="0">
              <a:buNone/>
            </a:pPr>
            <a:r>
              <a:rPr lang="en-GB" sz="1400" b="1" dirty="0"/>
              <a:t>Answer:</a:t>
            </a:r>
            <a:r>
              <a:rPr lang="en-GB" sz="1400" dirty="0"/>
              <a:t> </a:t>
            </a:r>
            <a:r>
              <a:rPr lang="en-GB" sz="1400" b="1" dirty="0"/>
              <a:t>The model's biggest weakness is its inability to predict volatility and sudden changes.</a:t>
            </a:r>
            <a:endParaRPr lang="en-GB" sz="1400" dirty="0"/>
          </a:p>
          <a:p>
            <a:r>
              <a:rPr lang="en-GB" sz="1400" dirty="0"/>
              <a:t>The visualization makes this weakness clear:</a:t>
            </a:r>
          </a:p>
          <a:p>
            <a:r>
              <a:rPr lang="en-GB" sz="1400" b="1" dirty="0"/>
              <a:t>It smooths out the price:</a:t>
            </a:r>
            <a:r>
              <a:rPr lang="en-GB" sz="1400" dirty="0"/>
              <a:t> The actual price (blue line) is jagged and volatile, with many small and large daily ups and downs. The predicted price (red line) is much smoother. The model is essentially averaging out the potential movements and is too conservative to predict a large jump or drop.</a:t>
            </a:r>
          </a:p>
          <a:p>
            <a:r>
              <a:rPr lang="en-GB" sz="1400" b="1" dirty="0"/>
              <a:t>It fails at turning points:</a:t>
            </a:r>
            <a:r>
              <a:rPr lang="en-GB" sz="1400" dirty="0"/>
              <a:t> The model is at its worst when the market changes direction. It will continue predicting a rise even on the first day of a drop, and vice versa. It's always one step behind.</a:t>
            </a:r>
          </a:p>
          <a:p>
            <a:r>
              <a:rPr lang="en-GB" sz="1400" b="1" dirty="0"/>
              <a:t>Why this happens:</a:t>
            </a:r>
            <a:r>
              <a:rPr lang="en-GB" sz="1400" dirty="0"/>
              <a:t> This model is too simple. It only knows about the price from the day before. It has no information about market sentiment, trading volume spikes, news headlines, or broader economic indicators. Without this richer context, it cannot possibly anticipate a sudden change; it can only react to it after the fact. In the real world, predicting </a:t>
            </a:r>
            <a:r>
              <a:rPr lang="en-GB" sz="1400" i="1" dirty="0"/>
              <a:t>changes</a:t>
            </a:r>
            <a:r>
              <a:rPr lang="en-GB" sz="1400" dirty="0"/>
              <a:t> in trend (the volatility) is where the real value lies, and this model completely fails at that.</a:t>
            </a:r>
          </a:p>
        </p:txBody>
      </p:sp>
    </p:spTree>
    <p:extLst>
      <p:ext uri="{BB962C8B-B14F-4D97-AF65-F5344CB8AC3E}">
        <p14:creationId xmlns:p14="http://schemas.microsoft.com/office/powerpoint/2010/main" val="31946469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73076-B45E-F38A-42FE-6305E5EC233E}"/>
              </a:ext>
            </a:extLst>
          </p:cNvPr>
          <p:cNvSpPr>
            <a:spLocks noGrp="1"/>
          </p:cNvSpPr>
          <p:nvPr>
            <p:ph type="title"/>
          </p:nvPr>
        </p:nvSpPr>
        <p:spPr/>
        <p:txBody>
          <a:bodyPr/>
          <a:lstStyle/>
          <a:p>
            <a:r>
              <a:rPr lang="en-GB" sz="2400" dirty="0"/>
              <a:t>Demo Exercise 2: Introduction to ML Classification</a:t>
            </a:r>
            <a:br>
              <a:rPr lang="en-GB" sz="3200" dirty="0"/>
            </a:br>
            <a:endParaRPr lang="en-US" dirty="0"/>
          </a:p>
        </p:txBody>
      </p:sp>
      <p:sp>
        <p:nvSpPr>
          <p:cNvPr id="3" name="Content Placeholder 2">
            <a:extLst>
              <a:ext uri="{FF2B5EF4-FFF2-40B4-BE49-F238E27FC236}">
                <a16:creationId xmlns:a16="http://schemas.microsoft.com/office/drawing/2014/main" id="{BA36D2A6-1E57-CD28-F893-A42A8D0A87BF}"/>
              </a:ext>
            </a:extLst>
          </p:cNvPr>
          <p:cNvSpPr>
            <a:spLocks noGrp="1"/>
          </p:cNvSpPr>
          <p:nvPr>
            <p:ph idx="1"/>
          </p:nvPr>
        </p:nvSpPr>
        <p:spPr/>
        <p:txBody>
          <a:bodyPr/>
          <a:lstStyle/>
          <a:p>
            <a:pPr marL="0" indent="0">
              <a:buNone/>
            </a:pPr>
            <a:r>
              <a:rPr lang="en-GB" sz="2000" b="1" dirty="0"/>
              <a:t>Objective:</a:t>
            </a:r>
            <a:br>
              <a:rPr lang="en-GB" sz="2000" dirty="0"/>
            </a:br>
            <a:r>
              <a:rPr lang="en-GB" sz="2000" dirty="0"/>
              <a:t>In the previous exercise, we predicted a </a:t>
            </a:r>
            <a:r>
              <a:rPr lang="en-GB" sz="2000" i="1" dirty="0"/>
              <a:t>number</a:t>
            </a:r>
            <a:r>
              <a:rPr lang="en-GB" sz="2000" dirty="0"/>
              <a:t> (a stock price). Now, we will predict a </a:t>
            </a:r>
            <a:r>
              <a:rPr lang="en-GB" sz="2000" i="1" dirty="0"/>
              <a:t>category</a:t>
            </a:r>
            <a:r>
              <a:rPr lang="en-GB" sz="2000" dirty="0"/>
              <a:t>. This is called </a:t>
            </a:r>
            <a:r>
              <a:rPr lang="en-GB" sz="2000" b="1" dirty="0"/>
              <a:t>classification</a:t>
            </a:r>
            <a:r>
              <a:rPr lang="en-GB" sz="2000" dirty="0"/>
              <a:t>.</a:t>
            </a:r>
          </a:p>
          <a:p>
            <a:r>
              <a:rPr lang="en-GB" sz="2000" dirty="0"/>
              <a:t>Our goal is to build a model that can predict whether a breast </a:t>
            </a:r>
            <a:r>
              <a:rPr lang="en-GB" sz="2000" dirty="0" err="1"/>
              <a:t>tumor</a:t>
            </a:r>
            <a:r>
              <a:rPr lang="en-GB" sz="2000" dirty="0"/>
              <a:t> is </a:t>
            </a:r>
            <a:r>
              <a:rPr lang="en-GB" sz="2000" b="1" dirty="0"/>
              <a:t>malignant</a:t>
            </a:r>
            <a:r>
              <a:rPr lang="en-GB" sz="2000" dirty="0"/>
              <a:t> (cancerous) or </a:t>
            </a:r>
            <a:r>
              <a:rPr lang="en-GB" sz="2000" b="1" dirty="0"/>
              <a:t>benign</a:t>
            </a:r>
            <a:r>
              <a:rPr lang="en-GB" sz="2000" dirty="0"/>
              <a:t> (not cancerous) based on real medical measurements from </a:t>
            </a:r>
            <a:r>
              <a:rPr lang="en-GB" sz="2000" dirty="0" err="1"/>
              <a:t>tumor</a:t>
            </a:r>
            <a:r>
              <a:rPr lang="en-GB" sz="2000" dirty="0"/>
              <a:t> cells.</a:t>
            </a:r>
          </a:p>
          <a:p>
            <a:r>
              <a:rPr lang="en-GB" sz="2000" b="1" dirty="0"/>
              <a:t>The Model:</a:t>
            </a:r>
            <a:r>
              <a:rPr lang="en-GB" sz="2000" dirty="0"/>
              <a:t> We will use </a:t>
            </a:r>
            <a:r>
              <a:rPr lang="en-GB" sz="2000" b="1" dirty="0"/>
              <a:t>Logistic Regression</a:t>
            </a:r>
            <a:r>
              <a:rPr lang="en-GB" sz="2000" dirty="0"/>
              <a:t>, which is the "Hello, World!" of classification models. Despite its name, it's used for classification, not regression. It works by learning a boundary to separate the different categories.</a:t>
            </a:r>
          </a:p>
          <a:p>
            <a:endParaRPr lang="en-US" sz="2000" dirty="0"/>
          </a:p>
        </p:txBody>
      </p:sp>
    </p:spTree>
    <p:extLst>
      <p:ext uri="{BB962C8B-B14F-4D97-AF65-F5344CB8AC3E}">
        <p14:creationId xmlns:p14="http://schemas.microsoft.com/office/powerpoint/2010/main" val="3747099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76D25-0B50-BCE9-EB82-FF089F68936F}"/>
              </a:ext>
            </a:extLst>
          </p:cNvPr>
          <p:cNvSpPr>
            <a:spLocks noGrp="1"/>
          </p:cNvSpPr>
          <p:nvPr>
            <p:ph type="title"/>
          </p:nvPr>
        </p:nvSpPr>
        <p:spPr/>
        <p:txBody>
          <a:bodyPr/>
          <a:lstStyle/>
          <a:p>
            <a:r>
              <a:rPr lang="en-GB" dirty="0"/>
              <a:t>Step 1: Setup and Data Loading</a:t>
            </a:r>
            <a:br>
              <a:rPr lang="en-GB" dirty="0"/>
            </a:br>
            <a:endParaRPr lang="en-US" dirty="0"/>
          </a:p>
        </p:txBody>
      </p:sp>
      <p:sp>
        <p:nvSpPr>
          <p:cNvPr id="3" name="Content Placeholder 2">
            <a:extLst>
              <a:ext uri="{FF2B5EF4-FFF2-40B4-BE49-F238E27FC236}">
                <a16:creationId xmlns:a16="http://schemas.microsoft.com/office/drawing/2014/main" id="{1F676E20-9DA9-CE60-82F0-50236F3BB319}"/>
              </a:ext>
            </a:extLst>
          </p:cNvPr>
          <p:cNvSpPr>
            <a:spLocks noGrp="1"/>
          </p:cNvSpPr>
          <p:nvPr>
            <p:ph idx="1"/>
          </p:nvPr>
        </p:nvSpPr>
        <p:spPr/>
        <p:txBody>
          <a:bodyPr/>
          <a:lstStyle/>
          <a:p>
            <a:r>
              <a:rPr lang="en-GB" dirty="0"/>
              <a:t>First, let's import the libraries we need and load our dataset. We will use the "Wisconsin Breast Cancer" dataset, which is conveniently included with scikit-learn.</a:t>
            </a:r>
            <a:br>
              <a:rPr lang="en-GB" dirty="0"/>
            </a:br>
            <a:endParaRPr lang="en-GB" dirty="0"/>
          </a:p>
          <a:p>
            <a:r>
              <a:rPr lang="en-GB" sz="2000" dirty="0"/>
              <a:t>Code: We've loaded a dataset with 30 different measurements (like mean radius, mean texture, etc.).</a:t>
            </a:r>
          </a:p>
          <a:p>
            <a:r>
              <a:rPr lang="en-GB" sz="2000" dirty="0"/>
              <a:t>The target column is our goal. It contains a 0 if the </a:t>
            </a:r>
            <a:r>
              <a:rPr lang="en-GB" sz="2000" dirty="0" err="1"/>
              <a:t>tumor</a:t>
            </a:r>
            <a:r>
              <a:rPr lang="en-GB" sz="2000" dirty="0"/>
              <a:t> was malignant or a 1 if it was benign. This is the category we want our model to predict</a:t>
            </a:r>
            <a:r>
              <a:rPr lang="en-GB" dirty="0"/>
              <a:t>.</a:t>
            </a:r>
          </a:p>
          <a:p>
            <a:endParaRPr lang="en-US" dirty="0"/>
          </a:p>
        </p:txBody>
      </p:sp>
    </p:spTree>
    <p:extLst>
      <p:ext uri="{BB962C8B-B14F-4D97-AF65-F5344CB8AC3E}">
        <p14:creationId xmlns:p14="http://schemas.microsoft.com/office/powerpoint/2010/main" val="10851675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FF686-8C72-464E-7EDB-AA13713E36E1}"/>
              </a:ext>
            </a:extLst>
          </p:cNvPr>
          <p:cNvSpPr>
            <a:spLocks noGrp="1"/>
          </p:cNvSpPr>
          <p:nvPr>
            <p:ph type="title"/>
          </p:nvPr>
        </p:nvSpPr>
        <p:spPr/>
        <p:txBody>
          <a:bodyPr/>
          <a:lstStyle/>
          <a:p>
            <a:r>
              <a:rPr lang="en-GB" dirty="0"/>
              <a:t>Step 2: Prepare the Data for </a:t>
            </a:r>
            <a:r>
              <a:rPr lang="en-GB" dirty="0" err="1"/>
              <a:t>Modeling</a:t>
            </a:r>
            <a:br>
              <a:rPr lang="en-GB" dirty="0"/>
            </a:br>
            <a:endParaRPr lang="en-US" dirty="0"/>
          </a:p>
        </p:txBody>
      </p:sp>
      <p:sp>
        <p:nvSpPr>
          <p:cNvPr id="3" name="Content Placeholder 2">
            <a:extLst>
              <a:ext uri="{FF2B5EF4-FFF2-40B4-BE49-F238E27FC236}">
                <a16:creationId xmlns:a16="http://schemas.microsoft.com/office/drawing/2014/main" id="{F30ADA2E-0FDA-39B9-33B1-42D004212638}"/>
              </a:ext>
            </a:extLst>
          </p:cNvPr>
          <p:cNvSpPr>
            <a:spLocks noGrp="1"/>
          </p:cNvSpPr>
          <p:nvPr>
            <p:ph idx="1"/>
          </p:nvPr>
        </p:nvSpPr>
        <p:spPr>
          <a:xfrm>
            <a:off x="447067" y="886826"/>
            <a:ext cx="8210550" cy="3262312"/>
          </a:xfrm>
        </p:spPr>
        <p:txBody>
          <a:bodyPr/>
          <a:lstStyle/>
          <a:p>
            <a:r>
              <a:rPr lang="en-GB" sz="2400" dirty="0"/>
              <a:t>Just like in regression, we must separate our data into features (X)—the data we use to make a prediction—and the target (y)—what we are trying to predict.</a:t>
            </a:r>
          </a:p>
          <a:p>
            <a:r>
              <a:rPr lang="en-GB" sz="2400" dirty="0"/>
              <a:t>Then, we'll split them into a training set (for the model to learn from) and a test set (to evaluate its performance on unseen data).</a:t>
            </a:r>
          </a:p>
          <a:p>
            <a:r>
              <a:rPr lang="en-GB" sz="2400" dirty="0"/>
              <a:t>The machine learning process remains the same: we have features (</a:t>
            </a:r>
            <a:r>
              <a:rPr lang="en-GB" sz="2400" dirty="0" err="1"/>
              <a:t>X_train</a:t>
            </a:r>
            <a:r>
              <a:rPr lang="en-GB" sz="2400" dirty="0"/>
              <a:t>) and answers (</a:t>
            </a:r>
            <a:r>
              <a:rPr lang="en-GB" sz="2400" dirty="0" err="1"/>
              <a:t>y_train</a:t>
            </a:r>
            <a:r>
              <a:rPr lang="en-GB" sz="2400" dirty="0"/>
              <a:t>) for the model to study. Later, we will give it the test features (</a:t>
            </a:r>
            <a:r>
              <a:rPr lang="en-GB" sz="2400" dirty="0" err="1"/>
              <a:t>X_test</a:t>
            </a:r>
            <a:r>
              <a:rPr lang="en-GB" sz="2400" dirty="0"/>
              <a:t>) and see if its predictions match the real answers (</a:t>
            </a:r>
            <a:r>
              <a:rPr lang="en-GB" sz="2400" dirty="0" err="1"/>
              <a:t>y_test</a:t>
            </a:r>
            <a:r>
              <a:rPr lang="en-GB" sz="2400" dirty="0"/>
              <a:t>).</a:t>
            </a:r>
            <a:br>
              <a:rPr lang="en-GB" sz="2400" dirty="0"/>
            </a:br>
            <a:endParaRPr lang="en-US" sz="2400" dirty="0"/>
          </a:p>
        </p:txBody>
      </p:sp>
    </p:spTree>
    <p:extLst>
      <p:ext uri="{BB962C8B-B14F-4D97-AF65-F5344CB8AC3E}">
        <p14:creationId xmlns:p14="http://schemas.microsoft.com/office/powerpoint/2010/main" val="24470547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ABD0A-C73F-D1AF-2B76-7084C779B8DD}"/>
              </a:ext>
            </a:extLst>
          </p:cNvPr>
          <p:cNvSpPr>
            <a:spLocks noGrp="1"/>
          </p:cNvSpPr>
          <p:nvPr>
            <p:ph type="title"/>
          </p:nvPr>
        </p:nvSpPr>
        <p:spPr/>
        <p:txBody>
          <a:bodyPr/>
          <a:lstStyle/>
          <a:p>
            <a:r>
              <a:rPr lang="en-US" dirty="0"/>
              <a:t>Step 3: Train the Classification Model</a:t>
            </a:r>
            <a:br>
              <a:rPr lang="en-US" dirty="0"/>
            </a:br>
            <a:endParaRPr lang="en-US" dirty="0"/>
          </a:p>
        </p:txBody>
      </p:sp>
      <p:sp>
        <p:nvSpPr>
          <p:cNvPr id="3" name="Content Placeholder 2">
            <a:extLst>
              <a:ext uri="{FF2B5EF4-FFF2-40B4-BE49-F238E27FC236}">
                <a16:creationId xmlns:a16="http://schemas.microsoft.com/office/drawing/2014/main" id="{942B72A1-545B-4845-A03E-BE8F09891EED}"/>
              </a:ext>
            </a:extLst>
          </p:cNvPr>
          <p:cNvSpPr>
            <a:spLocks noGrp="1"/>
          </p:cNvSpPr>
          <p:nvPr>
            <p:ph idx="1"/>
          </p:nvPr>
        </p:nvSpPr>
        <p:spPr/>
        <p:txBody>
          <a:bodyPr/>
          <a:lstStyle/>
          <a:p>
            <a:r>
              <a:rPr lang="en-GB" dirty="0"/>
              <a:t>Now we create an instance of our </a:t>
            </a:r>
            <a:r>
              <a:rPr lang="en-GB" dirty="0" err="1"/>
              <a:t>LogisticRegression</a:t>
            </a:r>
            <a:r>
              <a:rPr lang="en-GB" dirty="0"/>
              <a:t> model and train it using the .fit() method on our training data.</a:t>
            </a:r>
          </a:p>
          <a:p>
            <a:r>
              <a:rPr lang="en-GB" dirty="0"/>
              <a:t>During the .fit() process, the model </a:t>
            </a:r>
            <a:r>
              <a:rPr lang="en-GB" dirty="0" err="1"/>
              <a:t>analyzed</a:t>
            </a:r>
            <a:r>
              <a:rPr lang="en-GB" dirty="0"/>
              <a:t> the 30 features for all the </a:t>
            </a:r>
            <a:r>
              <a:rPr lang="en-GB" dirty="0" err="1"/>
              <a:t>tumors</a:t>
            </a:r>
            <a:r>
              <a:rPr lang="en-GB" dirty="0"/>
              <a:t> in </a:t>
            </a:r>
            <a:r>
              <a:rPr lang="en-GB" dirty="0" err="1"/>
              <a:t>X_train</a:t>
            </a:r>
            <a:r>
              <a:rPr lang="en-GB" dirty="0"/>
              <a:t> and learned the patterns that tend to separate malignant </a:t>
            </a:r>
            <a:r>
              <a:rPr lang="en-GB" dirty="0" err="1"/>
              <a:t>tumors</a:t>
            </a:r>
            <a:r>
              <a:rPr lang="en-GB" dirty="0"/>
              <a:t> (0) from benign ones (1).</a:t>
            </a:r>
            <a:endParaRPr lang="en-US" dirty="0"/>
          </a:p>
        </p:txBody>
      </p:sp>
    </p:spTree>
    <p:extLst>
      <p:ext uri="{BB962C8B-B14F-4D97-AF65-F5344CB8AC3E}">
        <p14:creationId xmlns:p14="http://schemas.microsoft.com/office/powerpoint/2010/main" val="31790716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14335-D513-27CF-5C11-1854CBB13D9A}"/>
              </a:ext>
            </a:extLst>
          </p:cNvPr>
          <p:cNvSpPr>
            <a:spLocks noGrp="1"/>
          </p:cNvSpPr>
          <p:nvPr>
            <p:ph type="title"/>
          </p:nvPr>
        </p:nvSpPr>
        <p:spPr/>
        <p:txBody>
          <a:bodyPr/>
          <a:lstStyle/>
          <a:p>
            <a:r>
              <a:rPr lang="en-US" dirty="0"/>
              <a:t>Step 4: Evaluation</a:t>
            </a:r>
          </a:p>
        </p:txBody>
      </p:sp>
      <p:sp>
        <p:nvSpPr>
          <p:cNvPr id="3" name="Content Placeholder 2">
            <a:extLst>
              <a:ext uri="{FF2B5EF4-FFF2-40B4-BE49-F238E27FC236}">
                <a16:creationId xmlns:a16="http://schemas.microsoft.com/office/drawing/2014/main" id="{CAFA95DC-A670-849B-5825-8AD39A0A79FA}"/>
              </a:ext>
            </a:extLst>
          </p:cNvPr>
          <p:cNvSpPr>
            <a:spLocks noGrp="1"/>
          </p:cNvSpPr>
          <p:nvPr>
            <p:ph idx="1"/>
          </p:nvPr>
        </p:nvSpPr>
        <p:spPr/>
        <p:txBody>
          <a:bodyPr/>
          <a:lstStyle/>
          <a:p>
            <a:r>
              <a:rPr lang="en-GB" sz="2400" dirty="0"/>
              <a:t>For classification, we can't use RMSE. An error of "0.5" doesn't make sense when the answers are categories. Instead, we use different metrics.</a:t>
            </a:r>
          </a:p>
          <a:p>
            <a:r>
              <a:rPr lang="en-GB" sz="2400" b="1" dirty="0"/>
              <a:t>Accuracy Score</a:t>
            </a:r>
          </a:p>
          <a:p>
            <a:r>
              <a:rPr lang="en-GB" sz="2400" dirty="0"/>
              <a:t>The simplest metric is </a:t>
            </a:r>
            <a:r>
              <a:rPr lang="en-GB" sz="2400" b="1" dirty="0"/>
              <a:t>accuracy</a:t>
            </a:r>
            <a:r>
              <a:rPr lang="en-GB" sz="2400" dirty="0"/>
              <a:t>: What percentage of the time did the model guess the correct category?</a:t>
            </a:r>
          </a:p>
          <a:p>
            <a:r>
              <a:rPr lang="en-GB" sz="2400" dirty="0"/>
              <a:t>An accuracy of 0.9561 means the model correctly classified </a:t>
            </a:r>
            <a:r>
              <a:rPr lang="en-GB" sz="2400" b="1" dirty="0"/>
              <a:t>95.61%</a:t>
            </a:r>
            <a:r>
              <a:rPr lang="en-GB" sz="2400" dirty="0"/>
              <a:t> of the </a:t>
            </a:r>
            <a:r>
              <a:rPr lang="en-GB" sz="2400" dirty="0" err="1"/>
              <a:t>tumors</a:t>
            </a:r>
            <a:r>
              <a:rPr lang="en-GB" sz="2400" dirty="0"/>
              <a:t> in the test set it had never seen before. This sounds very good!</a:t>
            </a:r>
          </a:p>
          <a:p>
            <a:endParaRPr lang="en-GB" sz="2400" dirty="0"/>
          </a:p>
          <a:p>
            <a:endParaRPr lang="en-US" sz="2400" dirty="0"/>
          </a:p>
        </p:txBody>
      </p:sp>
    </p:spTree>
    <p:extLst>
      <p:ext uri="{BB962C8B-B14F-4D97-AF65-F5344CB8AC3E}">
        <p14:creationId xmlns:p14="http://schemas.microsoft.com/office/powerpoint/2010/main" val="4966728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53513-5A05-1966-EF86-2A09CB7F1F68}"/>
              </a:ext>
            </a:extLst>
          </p:cNvPr>
          <p:cNvSpPr>
            <a:spLocks noGrp="1"/>
          </p:cNvSpPr>
          <p:nvPr>
            <p:ph type="title"/>
          </p:nvPr>
        </p:nvSpPr>
        <p:spPr/>
        <p:txBody>
          <a:bodyPr/>
          <a:lstStyle/>
          <a:p>
            <a:r>
              <a:rPr lang="en-US" dirty="0"/>
              <a:t>Step 4: Evaluation</a:t>
            </a:r>
          </a:p>
        </p:txBody>
      </p:sp>
      <p:sp>
        <p:nvSpPr>
          <p:cNvPr id="3" name="Content Placeholder 2">
            <a:extLst>
              <a:ext uri="{FF2B5EF4-FFF2-40B4-BE49-F238E27FC236}">
                <a16:creationId xmlns:a16="http://schemas.microsoft.com/office/drawing/2014/main" id="{024149EC-E02D-6ED3-4BE1-A892548D5702}"/>
              </a:ext>
            </a:extLst>
          </p:cNvPr>
          <p:cNvSpPr>
            <a:spLocks noGrp="1"/>
          </p:cNvSpPr>
          <p:nvPr>
            <p:ph idx="1"/>
          </p:nvPr>
        </p:nvSpPr>
        <p:spPr/>
        <p:txBody>
          <a:bodyPr/>
          <a:lstStyle/>
          <a:p>
            <a:r>
              <a:rPr lang="en-GB" sz="1800" b="1" dirty="0"/>
              <a:t>B. The Confusion Matrix</a:t>
            </a:r>
          </a:p>
          <a:p>
            <a:r>
              <a:rPr lang="en-GB" sz="1800" dirty="0"/>
              <a:t>Accuracy is useful, but it doesn't tell the whole story. What </a:t>
            </a:r>
            <a:r>
              <a:rPr lang="en-GB" sz="1800" i="1" dirty="0"/>
              <a:t>kind</a:t>
            </a:r>
            <a:r>
              <a:rPr lang="en-GB" sz="1800" dirty="0"/>
              <a:t> of mistakes is the model making? A </a:t>
            </a:r>
            <a:r>
              <a:rPr lang="en-GB" sz="1800" b="1" dirty="0"/>
              <a:t>Confusion Matrix</a:t>
            </a:r>
            <a:r>
              <a:rPr lang="en-GB" sz="1800" dirty="0"/>
              <a:t> gives us a more detailed look. It's a table that shows:</a:t>
            </a:r>
          </a:p>
          <a:p>
            <a:r>
              <a:rPr lang="en-GB" sz="1800" dirty="0"/>
              <a:t>How many times did we predict </a:t>
            </a:r>
            <a:r>
              <a:rPr lang="en-GB" sz="1800" b="1" dirty="0"/>
              <a:t>Benign</a:t>
            </a:r>
            <a:r>
              <a:rPr lang="en-GB" sz="1800" dirty="0"/>
              <a:t> and it was actually </a:t>
            </a:r>
            <a:r>
              <a:rPr lang="en-GB" sz="1800" b="1" dirty="0"/>
              <a:t>Benign</a:t>
            </a:r>
            <a:r>
              <a:rPr lang="en-GB" sz="1800" dirty="0"/>
              <a:t>? (True Positive)</a:t>
            </a:r>
          </a:p>
          <a:p>
            <a:r>
              <a:rPr lang="en-GB" sz="1800" dirty="0"/>
              <a:t>How many times did we predict </a:t>
            </a:r>
            <a:r>
              <a:rPr lang="en-GB" sz="1800" b="1" dirty="0"/>
              <a:t>Malignant</a:t>
            </a:r>
            <a:r>
              <a:rPr lang="en-GB" sz="1800" dirty="0"/>
              <a:t> and it was actually </a:t>
            </a:r>
            <a:r>
              <a:rPr lang="en-GB" sz="1800" b="1" dirty="0"/>
              <a:t>Malignant</a:t>
            </a:r>
            <a:r>
              <a:rPr lang="en-GB" sz="1800" dirty="0"/>
              <a:t>? (True Negative)</a:t>
            </a:r>
          </a:p>
          <a:p>
            <a:r>
              <a:rPr lang="en-GB" sz="1800" dirty="0"/>
              <a:t>How many times did we predict </a:t>
            </a:r>
            <a:r>
              <a:rPr lang="en-GB" sz="1800" b="1" dirty="0"/>
              <a:t>Benign</a:t>
            </a:r>
            <a:r>
              <a:rPr lang="en-GB" sz="1800" dirty="0"/>
              <a:t> but it was actually </a:t>
            </a:r>
            <a:r>
              <a:rPr lang="en-GB" sz="1800" b="1" dirty="0"/>
              <a:t>Malignant</a:t>
            </a:r>
            <a:r>
              <a:rPr lang="en-GB" sz="1800" dirty="0"/>
              <a:t>? (False Positive - A very dangerous mistake!)</a:t>
            </a:r>
          </a:p>
          <a:p>
            <a:r>
              <a:rPr lang="en-GB" sz="1800" dirty="0"/>
              <a:t>How many times did we predict </a:t>
            </a:r>
            <a:r>
              <a:rPr lang="en-GB" sz="1800" b="1" dirty="0"/>
              <a:t>Malignant</a:t>
            </a:r>
            <a:r>
              <a:rPr lang="en-GB" sz="1800" dirty="0"/>
              <a:t> but it was actually </a:t>
            </a:r>
            <a:r>
              <a:rPr lang="en-GB" sz="1800" b="1" dirty="0"/>
              <a:t>Benign</a:t>
            </a:r>
            <a:r>
              <a:rPr lang="en-GB" sz="1800" dirty="0"/>
              <a:t>? (False Negative)</a:t>
            </a:r>
          </a:p>
          <a:p>
            <a:endParaRPr lang="en-US" sz="1800" dirty="0"/>
          </a:p>
        </p:txBody>
      </p:sp>
    </p:spTree>
    <p:extLst>
      <p:ext uri="{BB962C8B-B14F-4D97-AF65-F5344CB8AC3E}">
        <p14:creationId xmlns:p14="http://schemas.microsoft.com/office/powerpoint/2010/main" val="36889493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C779D-A1A7-5E6A-93E9-018C8AABA999}"/>
              </a:ext>
            </a:extLst>
          </p:cNvPr>
          <p:cNvSpPr>
            <a:spLocks noGrp="1"/>
          </p:cNvSpPr>
          <p:nvPr>
            <p:ph type="title"/>
          </p:nvPr>
        </p:nvSpPr>
        <p:spPr/>
        <p:txBody>
          <a:bodyPr/>
          <a:lstStyle/>
          <a:p>
            <a:r>
              <a:rPr lang="en-US" dirty="0"/>
              <a:t>Confusion Matrix</a:t>
            </a:r>
          </a:p>
        </p:txBody>
      </p:sp>
      <p:sp>
        <p:nvSpPr>
          <p:cNvPr id="3" name="Content Placeholder 2">
            <a:extLst>
              <a:ext uri="{FF2B5EF4-FFF2-40B4-BE49-F238E27FC236}">
                <a16:creationId xmlns:a16="http://schemas.microsoft.com/office/drawing/2014/main" id="{9C349F2E-AB39-E8B2-398B-42CD907EA203}"/>
              </a:ext>
            </a:extLst>
          </p:cNvPr>
          <p:cNvSpPr>
            <a:spLocks noGrp="1"/>
          </p:cNvSpPr>
          <p:nvPr>
            <p:ph idx="1"/>
          </p:nvPr>
        </p:nvSpPr>
        <p:spPr/>
        <p:txBody>
          <a:bodyPr/>
          <a:lstStyle/>
          <a:p>
            <a:pPr marL="0" indent="0">
              <a:buNone/>
            </a:pPr>
            <a:r>
              <a:rPr lang="en-GB" sz="1600" b="1" dirty="0"/>
              <a:t>How to Read the Confusion Matrix:</a:t>
            </a:r>
            <a:endParaRPr lang="en-GB" sz="1600" dirty="0"/>
          </a:p>
          <a:p>
            <a:r>
              <a:rPr lang="en-GB" sz="1600" b="1" dirty="0"/>
              <a:t>Top-Left (True Negative):</a:t>
            </a:r>
            <a:r>
              <a:rPr lang="en-GB" sz="1600" dirty="0"/>
              <a:t> The model correctly predicted </a:t>
            </a:r>
            <a:r>
              <a:rPr lang="en-GB" sz="1600" b="1" dirty="0"/>
              <a:t>39</a:t>
            </a:r>
            <a:r>
              <a:rPr lang="en-GB" sz="1600" dirty="0"/>
              <a:t> </a:t>
            </a:r>
            <a:r>
              <a:rPr lang="en-GB" sz="1600" dirty="0" err="1"/>
              <a:t>tumors</a:t>
            </a:r>
            <a:r>
              <a:rPr lang="en-GB" sz="1600" dirty="0"/>
              <a:t> were malignant.</a:t>
            </a:r>
          </a:p>
          <a:p>
            <a:r>
              <a:rPr lang="en-GB" sz="1600" b="1" dirty="0"/>
              <a:t>Bottom-Right (True Positive):</a:t>
            </a:r>
            <a:r>
              <a:rPr lang="en-GB" sz="1600" dirty="0"/>
              <a:t> The model correctly predicted </a:t>
            </a:r>
            <a:r>
              <a:rPr lang="en-GB" sz="1600" b="1" dirty="0"/>
              <a:t>70</a:t>
            </a:r>
            <a:r>
              <a:rPr lang="en-GB" sz="1600" dirty="0"/>
              <a:t> </a:t>
            </a:r>
            <a:r>
              <a:rPr lang="en-GB" sz="1600" dirty="0" err="1"/>
              <a:t>tumors</a:t>
            </a:r>
            <a:r>
              <a:rPr lang="en-GB" sz="1600" dirty="0"/>
              <a:t> were benign.</a:t>
            </a:r>
          </a:p>
          <a:p>
            <a:r>
              <a:rPr lang="en-GB" sz="1600" b="1" dirty="0"/>
              <a:t>Top-Right (False Positive):</a:t>
            </a:r>
            <a:r>
              <a:rPr lang="en-GB" sz="1600" dirty="0"/>
              <a:t> The model incorrectly predicted </a:t>
            </a:r>
            <a:r>
              <a:rPr lang="en-GB" sz="1600" b="1" dirty="0"/>
              <a:t>4</a:t>
            </a:r>
            <a:r>
              <a:rPr lang="en-GB" sz="1600" dirty="0"/>
              <a:t> malignant </a:t>
            </a:r>
            <a:r>
              <a:rPr lang="en-GB" sz="1600" dirty="0" err="1"/>
              <a:t>tumors</a:t>
            </a:r>
            <a:r>
              <a:rPr lang="en-GB" sz="1600" dirty="0"/>
              <a:t> were benign. </a:t>
            </a:r>
            <a:r>
              <a:rPr lang="en-GB" sz="1600" b="1" dirty="0"/>
              <a:t>This is the most dangerous error in a medical context.</a:t>
            </a:r>
            <a:endParaRPr lang="en-GB" sz="1600" dirty="0"/>
          </a:p>
          <a:p>
            <a:r>
              <a:rPr lang="en-GB" sz="1600" b="1" dirty="0"/>
              <a:t>Bottom-Left (False Negative):</a:t>
            </a:r>
            <a:r>
              <a:rPr lang="en-GB" sz="1600" dirty="0"/>
              <a:t> The model incorrectly predicted </a:t>
            </a:r>
            <a:r>
              <a:rPr lang="en-GB" sz="1600" b="1" dirty="0"/>
              <a:t>1</a:t>
            </a:r>
            <a:r>
              <a:rPr lang="en-GB" sz="1600" dirty="0"/>
              <a:t> benign </a:t>
            </a:r>
            <a:r>
              <a:rPr lang="en-GB" sz="1600" dirty="0" err="1"/>
              <a:t>tumors</a:t>
            </a:r>
            <a:r>
              <a:rPr lang="en-GB" sz="1600" dirty="0"/>
              <a:t> were malignant. This would cause unnecessary stress for a patient but is less dangerous than a missed cancer diagnosis.</a:t>
            </a:r>
          </a:p>
          <a:p>
            <a:r>
              <a:rPr lang="en-GB" sz="1600" b="1" dirty="0"/>
              <a:t>Conclusion:</a:t>
            </a:r>
            <a:br>
              <a:rPr lang="en-GB" sz="1600" dirty="0"/>
            </a:br>
            <a:r>
              <a:rPr lang="en-GB" sz="1600" dirty="0"/>
              <a:t>This simple classification model performs remarkably well, with over 95% accuracy. However, the confusion matrix reveals that it still makes a few critical errors, highlighting the need for more advanced models and careful evaluation in real-world medical applications.</a:t>
            </a:r>
          </a:p>
          <a:p>
            <a:endParaRPr lang="en-US" sz="1600" dirty="0"/>
          </a:p>
        </p:txBody>
      </p:sp>
    </p:spTree>
    <p:extLst>
      <p:ext uri="{BB962C8B-B14F-4D97-AF65-F5344CB8AC3E}">
        <p14:creationId xmlns:p14="http://schemas.microsoft.com/office/powerpoint/2010/main" val="10061991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15C44-1CE3-A41D-9A93-63779D74F129}"/>
              </a:ext>
            </a:extLst>
          </p:cNvPr>
          <p:cNvSpPr>
            <a:spLocks noGrp="1"/>
          </p:cNvSpPr>
          <p:nvPr>
            <p:ph type="title"/>
          </p:nvPr>
        </p:nvSpPr>
        <p:spPr/>
        <p:txBody>
          <a:bodyPr/>
          <a:lstStyle/>
          <a:p>
            <a:r>
              <a:rPr lang="en-US" dirty="0"/>
              <a:t>Capstone Exercise (in Class Submission)</a:t>
            </a:r>
          </a:p>
        </p:txBody>
      </p:sp>
      <p:sp>
        <p:nvSpPr>
          <p:cNvPr id="3" name="Content Placeholder 2">
            <a:extLst>
              <a:ext uri="{FF2B5EF4-FFF2-40B4-BE49-F238E27FC236}">
                <a16:creationId xmlns:a16="http://schemas.microsoft.com/office/drawing/2014/main" id="{95B9469B-26F3-2B37-5A12-C6830DB8FE8C}"/>
              </a:ext>
            </a:extLst>
          </p:cNvPr>
          <p:cNvSpPr>
            <a:spLocks noGrp="1"/>
          </p:cNvSpPr>
          <p:nvPr>
            <p:ph idx="1"/>
          </p:nvPr>
        </p:nvSpPr>
        <p:spPr/>
        <p:txBody>
          <a:bodyPr/>
          <a:lstStyle/>
          <a:p>
            <a:pPr marL="0" indent="0">
              <a:buNone/>
            </a:pPr>
            <a:r>
              <a:rPr lang="en-GB" sz="1600" b="1" dirty="0"/>
              <a:t>Predicting Medical Insurance Costs</a:t>
            </a:r>
          </a:p>
          <a:p>
            <a:r>
              <a:rPr lang="en-GB" sz="1600" b="1" dirty="0"/>
              <a:t>Scenario:</a:t>
            </a:r>
            <a:br>
              <a:rPr lang="en-GB" sz="1600" dirty="0"/>
            </a:br>
            <a:r>
              <a:rPr lang="en-GB" sz="1600" dirty="0"/>
              <a:t>You are a junior data scientist at a health insurance company. Your manager wants to understand what factors influence a person's medical costs and wants you to build a model to predict these costs for new customers. This will help the company set fair prices for their insurance plans.</a:t>
            </a:r>
          </a:p>
          <a:p>
            <a:r>
              <a:rPr lang="en-GB" sz="1600" dirty="0"/>
              <a:t>You have been given a dataset containing information about past customers.</a:t>
            </a:r>
          </a:p>
          <a:p>
            <a:pPr marL="0" indent="0">
              <a:buNone/>
            </a:pPr>
            <a:r>
              <a:rPr lang="en-US" sz="1600" dirty="0">
                <a:hlinkClick r:id="rId2"/>
              </a:rPr>
              <a:t>https://raw.githubusercontent.com/stedy/Machine-Learning-with-R-datasets/master/insurance.csv</a:t>
            </a:r>
            <a:endParaRPr lang="en-US" sz="1600" dirty="0"/>
          </a:p>
          <a:p>
            <a:r>
              <a:rPr lang="en-GB" sz="1600" b="1" dirty="0"/>
              <a:t>Your Mission:</a:t>
            </a:r>
            <a:br>
              <a:rPr lang="en-GB" sz="1600" dirty="0"/>
            </a:br>
            <a:r>
              <a:rPr lang="en-GB" sz="1600" dirty="0"/>
              <a:t>From start to finish, you will load, </a:t>
            </a:r>
            <a:r>
              <a:rPr lang="en-GB" sz="1600" dirty="0" err="1"/>
              <a:t>analyze</a:t>
            </a:r>
            <a:r>
              <a:rPr lang="en-GB" sz="1600" dirty="0"/>
              <a:t>, and model this data. You will build </a:t>
            </a:r>
            <a:r>
              <a:rPr lang="en-GB" sz="1600" b="1" dirty="0"/>
              <a:t>one regression model (part 1)</a:t>
            </a:r>
            <a:r>
              <a:rPr lang="en-GB" sz="1600" dirty="0"/>
              <a:t> to predict the exact insurance cost and </a:t>
            </a:r>
            <a:r>
              <a:rPr lang="en-GB" sz="1600" b="1" dirty="0"/>
              <a:t>one classification model</a:t>
            </a:r>
            <a:r>
              <a:rPr lang="en-GB" sz="1600" dirty="0"/>
              <a:t> </a:t>
            </a:r>
            <a:r>
              <a:rPr lang="en-GB" sz="1600" b="1" dirty="0"/>
              <a:t>(part 2)</a:t>
            </a:r>
            <a:r>
              <a:rPr lang="en-GB" sz="1600" dirty="0"/>
              <a:t> to predict whether a person is a smoker. You will then evaluate and compare your models.</a:t>
            </a:r>
          </a:p>
          <a:p>
            <a:br>
              <a:rPr lang="en-GB" sz="1600" dirty="0"/>
            </a:br>
            <a:endParaRPr lang="en-US" sz="1600" dirty="0"/>
          </a:p>
        </p:txBody>
      </p:sp>
    </p:spTree>
    <p:extLst>
      <p:ext uri="{BB962C8B-B14F-4D97-AF65-F5344CB8AC3E}">
        <p14:creationId xmlns:p14="http://schemas.microsoft.com/office/powerpoint/2010/main" val="18060866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87A49-FAAE-F30E-A4DD-9562EE536D90}"/>
              </a:ext>
            </a:extLst>
          </p:cNvPr>
          <p:cNvSpPr>
            <a:spLocks noGrp="1"/>
          </p:cNvSpPr>
          <p:nvPr>
            <p:ph type="title"/>
          </p:nvPr>
        </p:nvSpPr>
        <p:spPr/>
        <p:txBody>
          <a:bodyPr/>
          <a:lstStyle/>
          <a:p>
            <a:r>
              <a:rPr lang="en-US" dirty="0"/>
              <a:t>Hints (1) – Part 1</a:t>
            </a:r>
          </a:p>
        </p:txBody>
      </p:sp>
      <p:sp>
        <p:nvSpPr>
          <p:cNvPr id="7" name="TextBox 6">
            <a:extLst>
              <a:ext uri="{FF2B5EF4-FFF2-40B4-BE49-F238E27FC236}">
                <a16:creationId xmlns:a16="http://schemas.microsoft.com/office/drawing/2014/main" id="{B88A85BE-8701-E70D-DCDB-CFB976FBBE72}"/>
              </a:ext>
            </a:extLst>
          </p:cNvPr>
          <p:cNvSpPr txBox="1"/>
          <p:nvPr/>
        </p:nvSpPr>
        <p:spPr>
          <a:xfrm>
            <a:off x="326264" y="774019"/>
            <a:ext cx="8281881" cy="415498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100" b="1" i="0" u="none" strike="noStrike" cap="none" normalizeH="0" baseline="0" dirty="0">
                <a:ln>
                  <a:noFill/>
                </a:ln>
                <a:solidFill>
                  <a:srgbClr val="1D1C1B"/>
                </a:solidFill>
                <a:effectLst/>
                <a:latin typeface="+mj-lt"/>
              </a:rPr>
              <a:t>Load the Data:</a:t>
            </a:r>
            <a:endParaRPr kumimoji="0" lang="en-US" altLang="en-US" sz="1100" b="0" i="0" u="none" strike="noStrike" cap="none" normalizeH="0" baseline="0" dirty="0">
              <a:ln>
                <a:noFill/>
              </a:ln>
              <a:solidFill>
                <a:srgbClr val="1D1C1B"/>
              </a:solidFill>
              <a:effectLst/>
              <a:latin typeface="+mj-l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rgbClr val="1D1C1B"/>
                </a:solidFill>
                <a:effectLst/>
                <a:latin typeface="+mj-lt"/>
              </a:rPr>
              <a:t>The dataset is available directly through a public URL. Load it into a pandas </a:t>
            </a:r>
            <a:r>
              <a:rPr kumimoji="0" lang="en-US" altLang="en-US" sz="1100" b="0" i="0" u="none" strike="noStrike" cap="none" normalizeH="0" baseline="0" dirty="0" err="1">
                <a:ln>
                  <a:noFill/>
                </a:ln>
                <a:solidFill>
                  <a:srgbClr val="1D1C1B"/>
                </a:solidFill>
                <a:effectLst/>
                <a:latin typeface="+mj-lt"/>
              </a:rPr>
              <a:t>DataFrame</a:t>
            </a:r>
            <a:r>
              <a:rPr kumimoji="0" lang="en-US" altLang="en-US" sz="1100" b="0" i="0" u="none" strike="noStrike" cap="none" normalizeH="0" baseline="0" dirty="0">
                <a:ln>
                  <a:noFill/>
                </a:ln>
                <a:solidFill>
                  <a:srgbClr val="1D1C1B"/>
                </a:solidFill>
                <a:effectLst/>
                <a:latin typeface="+mj-lt"/>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CF222E"/>
                </a:solidFill>
                <a:effectLst/>
                <a:latin typeface="+mj-lt"/>
                <a:ea typeface="ui-monospace"/>
              </a:rPr>
              <a:t>import</a:t>
            </a:r>
            <a:r>
              <a:rPr kumimoji="0" lang="en-US" altLang="en-US" sz="1100" b="0" i="0" u="none" strike="noStrike" cap="none" normalizeH="0" baseline="0" dirty="0">
                <a:ln>
                  <a:noFill/>
                </a:ln>
                <a:solidFill>
                  <a:srgbClr val="24292E"/>
                </a:solidFill>
                <a:effectLst/>
                <a:latin typeface="+mj-lt"/>
                <a:ea typeface="ui-monospace"/>
              </a:rPr>
              <a:t> pandas </a:t>
            </a:r>
            <a:r>
              <a:rPr kumimoji="0" lang="en-US" altLang="en-US" sz="1100" b="0" i="0" u="none" strike="noStrike" cap="none" normalizeH="0" baseline="0" dirty="0">
                <a:ln>
                  <a:noFill/>
                </a:ln>
                <a:solidFill>
                  <a:srgbClr val="CF222E"/>
                </a:solidFill>
                <a:effectLst/>
                <a:latin typeface="+mj-lt"/>
                <a:ea typeface="ui-monospace"/>
              </a:rPr>
              <a:t>as</a:t>
            </a:r>
            <a:r>
              <a:rPr kumimoji="0" lang="en-US" altLang="en-US" sz="1100" b="0" i="0" u="none" strike="noStrike" cap="none" normalizeH="0" baseline="0" dirty="0">
                <a:ln>
                  <a:noFill/>
                </a:ln>
                <a:solidFill>
                  <a:srgbClr val="24292E"/>
                </a:solidFill>
                <a:effectLst/>
                <a:latin typeface="+mj-lt"/>
                <a:ea typeface="ui-monospace"/>
              </a:rPr>
              <a:t> pd </a:t>
            </a:r>
            <a:r>
              <a:rPr kumimoji="0" lang="en-US" altLang="en-US" sz="1100" b="0" i="0" u="none" strike="noStrike" cap="none" normalizeH="0" baseline="0" dirty="0" err="1">
                <a:ln>
                  <a:noFill/>
                </a:ln>
                <a:solidFill>
                  <a:srgbClr val="24292E"/>
                </a:solidFill>
                <a:effectLst/>
                <a:latin typeface="+mj-lt"/>
                <a:ea typeface="ui-monospace"/>
              </a:rPr>
              <a:t>url</a:t>
            </a:r>
            <a:r>
              <a:rPr kumimoji="0" lang="en-US" altLang="en-US" sz="1100" b="0" i="0" u="none" strike="noStrike" cap="none" normalizeH="0" baseline="0" dirty="0">
                <a:ln>
                  <a:noFill/>
                </a:ln>
                <a:solidFill>
                  <a:srgbClr val="24292E"/>
                </a:solidFill>
                <a:effectLst/>
                <a:latin typeface="+mj-lt"/>
                <a:ea typeface="ui-monospace"/>
              </a:rPr>
              <a:t> = </a:t>
            </a:r>
            <a:r>
              <a:rPr kumimoji="0" lang="en-US" altLang="en-US" sz="1100" b="0" i="0" u="none" strike="noStrike" cap="none" normalizeH="0" baseline="0" dirty="0">
                <a:ln>
                  <a:noFill/>
                </a:ln>
                <a:solidFill>
                  <a:srgbClr val="0550AE"/>
                </a:solidFill>
                <a:effectLst/>
                <a:latin typeface="+mj-lt"/>
                <a:ea typeface="ui-monospace"/>
              </a:rPr>
              <a:t>'https://raw.githubusercontent.com/</a:t>
            </a:r>
            <a:r>
              <a:rPr kumimoji="0" lang="en-US" altLang="en-US" sz="1100" b="0" i="0" u="none" strike="noStrike" cap="none" normalizeH="0" baseline="0" dirty="0" err="1">
                <a:ln>
                  <a:noFill/>
                </a:ln>
                <a:solidFill>
                  <a:srgbClr val="0550AE"/>
                </a:solidFill>
                <a:effectLst/>
                <a:latin typeface="+mj-lt"/>
                <a:ea typeface="ui-monospace"/>
              </a:rPr>
              <a:t>stedy</a:t>
            </a:r>
            <a:r>
              <a:rPr kumimoji="0" lang="en-US" altLang="en-US" sz="1100" b="0" i="0" u="none" strike="noStrike" cap="none" normalizeH="0" baseline="0" dirty="0">
                <a:ln>
                  <a:noFill/>
                </a:ln>
                <a:solidFill>
                  <a:srgbClr val="0550AE"/>
                </a:solidFill>
                <a:effectLst/>
                <a:latin typeface="+mj-lt"/>
                <a:ea typeface="ui-monospace"/>
              </a:rPr>
              <a:t>/Machine-Learning-with-R-datasets/master/insurance.csv'</a:t>
            </a:r>
            <a:r>
              <a:rPr kumimoji="0" lang="en-US" altLang="en-US" sz="1100" b="0" i="0" u="none" strike="noStrike" cap="none" normalizeH="0" baseline="0" dirty="0">
                <a:ln>
                  <a:noFill/>
                </a:ln>
                <a:solidFill>
                  <a:srgbClr val="24292E"/>
                </a:solidFill>
                <a:effectLst/>
                <a:latin typeface="+mj-lt"/>
                <a:ea typeface="ui-monospace"/>
              </a:rPr>
              <a:t> </a:t>
            </a:r>
            <a:r>
              <a:rPr kumimoji="0" lang="en-US" altLang="en-US" sz="1100" b="0" i="0" u="none" strike="noStrike" cap="none" normalizeH="0" baseline="0" dirty="0" err="1">
                <a:ln>
                  <a:noFill/>
                </a:ln>
                <a:solidFill>
                  <a:srgbClr val="24292E"/>
                </a:solidFill>
                <a:effectLst/>
                <a:latin typeface="+mj-lt"/>
                <a:ea typeface="ui-monospace"/>
              </a:rPr>
              <a:t>df</a:t>
            </a:r>
            <a:r>
              <a:rPr kumimoji="0" lang="en-US" altLang="en-US" sz="1100" b="0" i="0" u="none" strike="noStrike" cap="none" normalizeH="0" baseline="0" dirty="0">
                <a:ln>
                  <a:noFill/>
                </a:ln>
                <a:solidFill>
                  <a:srgbClr val="24292E"/>
                </a:solidFill>
                <a:effectLst/>
                <a:latin typeface="+mj-lt"/>
                <a:ea typeface="ui-monospace"/>
              </a:rPr>
              <a:t> = </a:t>
            </a:r>
            <a:r>
              <a:rPr kumimoji="0" lang="en-US" altLang="en-US" sz="1100" b="0" i="0" u="none" strike="noStrike" cap="none" normalizeH="0" baseline="0" dirty="0" err="1">
                <a:ln>
                  <a:noFill/>
                </a:ln>
                <a:solidFill>
                  <a:srgbClr val="24292E"/>
                </a:solidFill>
                <a:effectLst/>
                <a:latin typeface="+mj-lt"/>
                <a:ea typeface="ui-monospace"/>
              </a:rPr>
              <a:t>pd.read_csv</a:t>
            </a:r>
            <a:r>
              <a:rPr kumimoji="0" lang="en-US" altLang="en-US" sz="1100" b="0" i="0" u="none" strike="noStrike" cap="none" normalizeH="0" baseline="0" dirty="0">
                <a:ln>
                  <a:noFill/>
                </a:ln>
                <a:solidFill>
                  <a:srgbClr val="24292E"/>
                </a:solidFill>
                <a:effectLst/>
                <a:latin typeface="+mj-lt"/>
                <a:ea typeface="ui-monospace"/>
              </a:rPr>
              <a:t>(</a:t>
            </a:r>
            <a:r>
              <a:rPr kumimoji="0" lang="en-US" altLang="en-US" sz="1100" b="0" i="0" u="none" strike="noStrike" cap="none" normalizeH="0" baseline="0" dirty="0" err="1">
                <a:ln>
                  <a:noFill/>
                </a:ln>
                <a:solidFill>
                  <a:srgbClr val="24292E"/>
                </a:solidFill>
                <a:effectLst/>
                <a:latin typeface="+mj-lt"/>
                <a:ea typeface="ui-monospace"/>
              </a:rPr>
              <a:t>url</a:t>
            </a:r>
            <a:r>
              <a:rPr kumimoji="0" lang="en-US" altLang="en-US" sz="1100" b="0" i="0" u="none" strike="noStrike" cap="none" normalizeH="0" baseline="0" dirty="0">
                <a:ln>
                  <a:noFill/>
                </a:ln>
                <a:solidFill>
                  <a:srgbClr val="24292E"/>
                </a:solidFill>
                <a:effectLst/>
                <a:latin typeface="+mj-lt"/>
                <a:ea typeface="ui-monospace"/>
              </a:rPr>
              <a:t>)</a:t>
            </a:r>
            <a:endParaRPr kumimoji="0" lang="en-US" altLang="en-US" sz="1100" b="0" i="0" u="none" strike="noStrike" cap="none" normalizeH="0" baseline="0" dirty="0">
              <a:ln>
                <a:noFill/>
              </a:ln>
              <a:solidFill>
                <a:srgbClr val="1D1C1B"/>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100" b="1" i="0" u="none" strike="noStrike" cap="none" normalizeH="0" baseline="0" dirty="0">
                <a:ln>
                  <a:noFill/>
                </a:ln>
                <a:solidFill>
                  <a:srgbClr val="1D1C1B"/>
                </a:solidFill>
                <a:effectLst/>
                <a:latin typeface="+mj-lt"/>
              </a:rPr>
              <a:t>Initial Data Inspection:</a:t>
            </a:r>
            <a:endParaRPr kumimoji="0" lang="en-US" altLang="en-US" sz="1100" b="0" i="0" u="none" strike="noStrike" cap="none" normalizeH="0" baseline="0" dirty="0">
              <a:ln>
                <a:noFill/>
              </a:ln>
              <a:solidFill>
                <a:srgbClr val="1D1C1B"/>
              </a:solidFill>
              <a:effectLst/>
              <a:latin typeface="+mj-l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rgbClr val="1D1C1B"/>
                </a:solidFill>
                <a:effectLst/>
                <a:latin typeface="+mj-lt"/>
              </a:rPr>
              <a:t>Display the first 5 rows (</a:t>
            </a:r>
            <a:r>
              <a:rPr kumimoji="0" lang="en-US" altLang="en-US" sz="1100" b="0" i="0" u="none" strike="noStrike" cap="none" normalizeH="0" baseline="0" dirty="0">
                <a:ln>
                  <a:noFill/>
                </a:ln>
                <a:solidFill>
                  <a:srgbClr val="1D1C1B"/>
                </a:solidFill>
                <a:effectLst/>
                <a:latin typeface="+mj-lt"/>
                <a:ea typeface="ui-monospace"/>
              </a:rPr>
              <a:t>.head()</a:t>
            </a:r>
            <a:r>
              <a:rPr kumimoji="0" lang="en-US" altLang="en-US" sz="1100" b="0" i="0" u="none" strike="noStrike" cap="none" normalizeH="0" baseline="0" dirty="0">
                <a:ln>
                  <a:noFill/>
                </a:ln>
                <a:solidFill>
                  <a:srgbClr val="1D1C1B"/>
                </a:solidFill>
                <a:effectLst/>
                <a:latin typeface="+mj-lt"/>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rgbClr val="1D1C1B"/>
                </a:solidFill>
                <a:effectLst/>
                <a:latin typeface="+mj-lt"/>
              </a:rPr>
              <a:t>Use </a:t>
            </a:r>
            <a:r>
              <a:rPr kumimoji="0" lang="en-US" altLang="en-US" sz="1100" b="0" i="0" u="none" strike="noStrike" cap="none" normalizeH="0" baseline="0" dirty="0">
                <a:ln>
                  <a:noFill/>
                </a:ln>
                <a:solidFill>
                  <a:srgbClr val="1D1C1B"/>
                </a:solidFill>
                <a:effectLst/>
                <a:latin typeface="+mj-lt"/>
                <a:ea typeface="ui-monospace"/>
              </a:rPr>
              <a:t>.info()</a:t>
            </a:r>
            <a:r>
              <a:rPr kumimoji="0" lang="en-US" altLang="en-US" sz="1100" b="0" i="0" u="none" strike="noStrike" cap="none" normalizeH="0" baseline="0" dirty="0">
                <a:ln>
                  <a:noFill/>
                </a:ln>
                <a:solidFill>
                  <a:srgbClr val="1D1C1B"/>
                </a:solidFill>
                <a:effectLst/>
                <a:latin typeface="+mj-lt"/>
              </a:rPr>
              <a:t> to check for missing values and see the data types of each column.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rgbClr val="1D1C1B"/>
                </a:solidFill>
                <a:effectLst/>
                <a:latin typeface="+mj-lt"/>
              </a:rPr>
              <a:t>Use </a:t>
            </a:r>
            <a:r>
              <a:rPr kumimoji="0" lang="en-US" altLang="en-US" sz="1100" b="0" i="0" u="none" strike="noStrike" cap="none" normalizeH="0" baseline="0" dirty="0">
                <a:ln>
                  <a:noFill/>
                </a:ln>
                <a:solidFill>
                  <a:srgbClr val="1D1C1B"/>
                </a:solidFill>
                <a:effectLst/>
                <a:latin typeface="+mj-lt"/>
                <a:ea typeface="ui-monospace"/>
              </a:rPr>
              <a:t>.describe()</a:t>
            </a:r>
            <a:r>
              <a:rPr kumimoji="0" lang="en-US" altLang="en-US" sz="1100" b="0" i="0" u="none" strike="noStrike" cap="none" normalizeH="0" baseline="0" dirty="0">
                <a:ln>
                  <a:noFill/>
                </a:ln>
                <a:solidFill>
                  <a:srgbClr val="1D1C1B"/>
                </a:solidFill>
                <a:effectLst/>
                <a:latin typeface="+mj-lt"/>
              </a:rPr>
              <a:t> to get statistical summaries of the numerical columns (</a:t>
            </a:r>
            <a:r>
              <a:rPr kumimoji="0" lang="en-US" altLang="en-US" sz="1100" b="0" i="0" u="none" strike="noStrike" cap="none" normalizeH="0" baseline="0" dirty="0">
                <a:ln>
                  <a:noFill/>
                </a:ln>
                <a:solidFill>
                  <a:srgbClr val="1D1C1B"/>
                </a:solidFill>
                <a:effectLst/>
                <a:latin typeface="+mj-lt"/>
                <a:ea typeface="ui-monospace"/>
              </a:rPr>
              <a:t>age</a:t>
            </a:r>
            <a:r>
              <a:rPr kumimoji="0" lang="en-US" altLang="en-US" sz="1100" b="0" i="0" u="none" strike="noStrike" cap="none" normalizeH="0" baseline="0" dirty="0">
                <a:ln>
                  <a:noFill/>
                </a:ln>
                <a:solidFill>
                  <a:srgbClr val="1D1C1B"/>
                </a:solidFill>
                <a:effectLst/>
                <a:latin typeface="+mj-lt"/>
              </a:rPr>
              <a:t>, </a:t>
            </a:r>
            <a:r>
              <a:rPr kumimoji="0" lang="en-US" altLang="en-US" sz="1100" b="0" i="0" u="none" strike="noStrike" cap="none" normalizeH="0" baseline="0" dirty="0" err="1">
                <a:ln>
                  <a:noFill/>
                </a:ln>
                <a:solidFill>
                  <a:srgbClr val="1D1C1B"/>
                </a:solidFill>
                <a:effectLst/>
                <a:latin typeface="+mj-lt"/>
                <a:ea typeface="ui-monospace"/>
              </a:rPr>
              <a:t>bmi</a:t>
            </a:r>
            <a:r>
              <a:rPr kumimoji="0" lang="en-US" altLang="en-US" sz="1100" b="0" i="0" u="none" strike="noStrike" cap="none" normalizeH="0" baseline="0" dirty="0">
                <a:ln>
                  <a:noFill/>
                </a:ln>
                <a:solidFill>
                  <a:srgbClr val="1D1C1B"/>
                </a:solidFill>
                <a:effectLst/>
                <a:latin typeface="+mj-lt"/>
              </a:rPr>
              <a:t>, </a:t>
            </a:r>
            <a:r>
              <a:rPr kumimoji="0" lang="en-US" altLang="en-US" sz="1100" b="0" i="0" u="none" strike="noStrike" cap="none" normalizeH="0" baseline="0" dirty="0">
                <a:ln>
                  <a:noFill/>
                </a:ln>
                <a:solidFill>
                  <a:srgbClr val="1D1C1B"/>
                </a:solidFill>
                <a:effectLst/>
                <a:latin typeface="+mj-lt"/>
                <a:ea typeface="ui-monospace"/>
              </a:rPr>
              <a:t>children</a:t>
            </a:r>
            <a:r>
              <a:rPr kumimoji="0" lang="en-US" altLang="en-US" sz="1100" b="0" i="0" u="none" strike="noStrike" cap="none" normalizeH="0" baseline="0" dirty="0">
                <a:ln>
                  <a:noFill/>
                </a:ln>
                <a:solidFill>
                  <a:srgbClr val="1D1C1B"/>
                </a:solidFill>
                <a:effectLst/>
                <a:latin typeface="+mj-lt"/>
              </a:rPr>
              <a:t>, </a:t>
            </a:r>
            <a:r>
              <a:rPr kumimoji="0" lang="en-US" altLang="en-US" sz="1100" b="0" i="0" u="none" strike="noStrike" cap="none" normalizeH="0" baseline="0" dirty="0">
                <a:ln>
                  <a:noFill/>
                </a:ln>
                <a:solidFill>
                  <a:srgbClr val="1D1C1B"/>
                </a:solidFill>
                <a:effectLst/>
                <a:latin typeface="+mj-lt"/>
                <a:ea typeface="ui-monospace"/>
              </a:rPr>
              <a:t>charges</a:t>
            </a:r>
            <a:r>
              <a:rPr kumimoji="0" lang="en-US" altLang="en-US" sz="1100" b="0" i="0" u="none" strike="noStrike" cap="none" normalizeH="0" baseline="0" dirty="0">
                <a:ln>
                  <a:noFill/>
                </a:ln>
                <a:solidFill>
                  <a:srgbClr val="1D1C1B"/>
                </a:solidFill>
                <a:effectLst/>
                <a:latin typeface="+mj-lt"/>
              </a:rPr>
              <a:t>).</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100" b="1" i="0" u="none" strike="noStrike" cap="none" normalizeH="0" baseline="0" dirty="0">
                <a:ln>
                  <a:noFill/>
                </a:ln>
                <a:solidFill>
                  <a:srgbClr val="1D1C1B"/>
                </a:solidFill>
                <a:effectLst/>
                <a:latin typeface="+mj-lt"/>
              </a:rPr>
              <a:t>Handle Categorical Data:</a:t>
            </a:r>
            <a:endParaRPr kumimoji="0" lang="en-US" altLang="en-US" sz="1100" b="0" i="0" u="none" strike="noStrike" cap="none" normalizeH="0" baseline="0" dirty="0">
              <a:ln>
                <a:noFill/>
              </a:ln>
              <a:solidFill>
                <a:srgbClr val="1D1C1B"/>
              </a:solidFill>
              <a:effectLst/>
              <a:latin typeface="+mj-l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rgbClr val="1D1C1B"/>
                </a:solidFill>
                <a:effectLst/>
                <a:latin typeface="+mj-lt"/>
              </a:rPr>
              <a:t>Our models need numbers, not text. The columns </a:t>
            </a:r>
            <a:r>
              <a:rPr kumimoji="0" lang="en-US" altLang="en-US" sz="1100" b="0" i="0" u="none" strike="noStrike" cap="none" normalizeH="0" baseline="0" dirty="0">
                <a:ln>
                  <a:noFill/>
                </a:ln>
                <a:solidFill>
                  <a:srgbClr val="1D1C1B"/>
                </a:solidFill>
                <a:effectLst/>
                <a:latin typeface="+mj-lt"/>
                <a:ea typeface="ui-monospace"/>
              </a:rPr>
              <a:t>sex</a:t>
            </a:r>
            <a:r>
              <a:rPr kumimoji="0" lang="en-US" altLang="en-US" sz="1100" b="0" i="0" u="none" strike="noStrike" cap="none" normalizeH="0" baseline="0" dirty="0">
                <a:ln>
                  <a:noFill/>
                </a:ln>
                <a:solidFill>
                  <a:srgbClr val="1D1C1B"/>
                </a:solidFill>
                <a:effectLst/>
                <a:latin typeface="+mj-lt"/>
              </a:rPr>
              <a:t>, </a:t>
            </a:r>
            <a:r>
              <a:rPr kumimoji="0" lang="en-US" altLang="en-US" sz="1100" b="0" i="0" u="none" strike="noStrike" cap="none" normalizeH="0" baseline="0" dirty="0">
                <a:ln>
                  <a:noFill/>
                </a:ln>
                <a:solidFill>
                  <a:srgbClr val="1D1C1B"/>
                </a:solidFill>
                <a:effectLst/>
                <a:latin typeface="+mj-lt"/>
                <a:ea typeface="ui-monospace"/>
              </a:rPr>
              <a:t>smoker</a:t>
            </a:r>
            <a:r>
              <a:rPr kumimoji="0" lang="en-US" altLang="en-US" sz="1100" b="0" i="0" u="none" strike="noStrike" cap="none" normalizeH="0" baseline="0" dirty="0">
                <a:ln>
                  <a:noFill/>
                </a:ln>
                <a:solidFill>
                  <a:srgbClr val="1D1C1B"/>
                </a:solidFill>
                <a:effectLst/>
                <a:latin typeface="+mj-lt"/>
              </a:rPr>
              <a:t>, and </a:t>
            </a:r>
            <a:r>
              <a:rPr kumimoji="0" lang="en-US" altLang="en-US" sz="1100" b="0" i="0" u="none" strike="noStrike" cap="none" normalizeH="0" baseline="0" dirty="0">
                <a:ln>
                  <a:noFill/>
                </a:ln>
                <a:solidFill>
                  <a:srgbClr val="1D1C1B"/>
                </a:solidFill>
                <a:effectLst/>
                <a:latin typeface="+mj-lt"/>
                <a:ea typeface="ui-monospace"/>
              </a:rPr>
              <a:t>region</a:t>
            </a:r>
            <a:r>
              <a:rPr kumimoji="0" lang="en-US" altLang="en-US" sz="1100" b="0" i="0" u="none" strike="noStrike" cap="none" normalizeH="0" baseline="0" dirty="0">
                <a:ln>
                  <a:noFill/>
                </a:ln>
                <a:solidFill>
                  <a:srgbClr val="1D1C1B"/>
                </a:solidFill>
                <a:effectLst/>
                <a:latin typeface="+mj-lt"/>
              </a:rPr>
              <a:t> are categorical. We need to convert them</a:t>
            </a:r>
            <a:endParaRPr kumimoji="0" lang="en-US" altLang="en-US" sz="1100" i="0" u="none" strike="noStrike" cap="none" normalizeH="0" baseline="0" dirty="0">
              <a:ln>
                <a:noFill/>
              </a:ln>
              <a:solidFill>
                <a:srgbClr val="1D1C1B"/>
              </a:solidFill>
              <a:effectLst/>
              <a:latin typeface="+mj-lt"/>
            </a:endParaRPr>
          </a:p>
          <a:p>
            <a:pPr marL="0" indent="0" eaLnBrk="0" fontAlgn="base" hangingPunct="0">
              <a:lnSpc>
                <a:spcPct val="100000"/>
              </a:lnSpc>
              <a:spcBef>
                <a:spcPct val="0"/>
              </a:spcBef>
              <a:spcAft>
                <a:spcPct val="0"/>
              </a:spcAft>
            </a:pPr>
            <a:r>
              <a:rPr lang="en-GB" sz="1100" b="1" dirty="0">
                <a:latin typeface="+mj-lt"/>
              </a:rPr>
              <a:t>4. Define Features (X) and Target (y):</a:t>
            </a:r>
            <a:endParaRPr lang="en-GB" sz="1100" dirty="0">
              <a:latin typeface="+mj-lt"/>
            </a:endParaRPr>
          </a:p>
          <a:p>
            <a:pPr lvl="1"/>
            <a:r>
              <a:rPr lang="en-GB" sz="1100" dirty="0">
                <a:latin typeface="+mj-lt"/>
              </a:rPr>
              <a:t>The target y is the charges column.</a:t>
            </a:r>
          </a:p>
          <a:p>
            <a:pPr lvl="1"/>
            <a:r>
              <a:rPr lang="en-GB" sz="1100" dirty="0">
                <a:latin typeface="+mj-lt"/>
              </a:rPr>
              <a:t>The features X will be </a:t>
            </a:r>
            <a:r>
              <a:rPr lang="en-GB" sz="1100" b="1" dirty="0">
                <a:latin typeface="+mj-lt"/>
              </a:rPr>
              <a:t>all other columns</a:t>
            </a:r>
            <a:r>
              <a:rPr lang="en-GB" sz="1100" dirty="0">
                <a:latin typeface="+mj-lt"/>
              </a:rPr>
              <a:t> in your </a:t>
            </a:r>
            <a:r>
              <a:rPr lang="en-GB" sz="1100" dirty="0" err="1">
                <a:latin typeface="+mj-lt"/>
              </a:rPr>
              <a:t>df_processed</a:t>
            </a:r>
            <a:r>
              <a:rPr lang="en-GB" sz="1100" dirty="0">
                <a:latin typeface="+mj-lt"/>
              </a:rPr>
              <a:t> </a:t>
            </a:r>
            <a:r>
              <a:rPr lang="en-GB" sz="1100" dirty="0" err="1">
                <a:latin typeface="+mj-lt"/>
              </a:rPr>
              <a:t>DataFrame</a:t>
            </a:r>
            <a:r>
              <a:rPr lang="en-GB" sz="1100" dirty="0">
                <a:latin typeface="+mj-lt"/>
              </a:rPr>
              <a:t>.</a:t>
            </a:r>
          </a:p>
          <a:p>
            <a:r>
              <a:rPr lang="en-GB" sz="1100" b="1" dirty="0">
                <a:latin typeface="+mj-lt"/>
              </a:rPr>
              <a:t>5. Split the Data:</a:t>
            </a:r>
            <a:endParaRPr lang="en-GB" sz="1100" dirty="0">
              <a:latin typeface="+mj-lt"/>
            </a:endParaRPr>
          </a:p>
          <a:p>
            <a:pPr lvl="1"/>
            <a:r>
              <a:rPr lang="en-GB" sz="1100" dirty="0">
                <a:latin typeface="+mj-lt"/>
              </a:rPr>
              <a:t>Split your data into training and testing sets (</a:t>
            </a:r>
            <a:r>
              <a:rPr lang="en-GB" sz="1100" dirty="0" err="1">
                <a:latin typeface="+mj-lt"/>
              </a:rPr>
              <a:t>X_train</a:t>
            </a:r>
            <a:r>
              <a:rPr lang="en-GB" sz="1100" dirty="0">
                <a:latin typeface="+mj-lt"/>
              </a:rPr>
              <a:t>, </a:t>
            </a:r>
            <a:r>
              <a:rPr lang="en-GB" sz="1100" dirty="0" err="1">
                <a:latin typeface="+mj-lt"/>
              </a:rPr>
              <a:t>X_test</a:t>
            </a:r>
            <a:r>
              <a:rPr lang="en-GB" sz="1100" dirty="0">
                <a:latin typeface="+mj-lt"/>
              </a:rPr>
              <a:t>, </a:t>
            </a:r>
            <a:r>
              <a:rPr lang="en-GB" sz="1100" dirty="0" err="1">
                <a:latin typeface="+mj-lt"/>
              </a:rPr>
              <a:t>y_train</a:t>
            </a:r>
            <a:r>
              <a:rPr lang="en-GB" sz="1100" dirty="0">
                <a:latin typeface="+mj-lt"/>
              </a:rPr>
              <a:t>, </a:t>
            </a:r>
            <a:r>
              <a:rPr lang="en-GB" sz="1100" dirty="0" err="1">
                <a:latin typeface="+mj-lt"/>
              </a:rPr>
              <a:t>y_test</a:t>
            </a:r>
            <a:r>
              <a:rPr lang="en-GB" sz="1100" dirty="0">
                <a:latin typeface="+mj-lt"/>
              </a:rPr>
              <a:t>). Use a </a:t>
            </a:r>
            <a:r>
              <a:rPr lang="en-GB" sz="1100" dirty="0" err="1">
                <a:latin typeface="+mj-lt"/>
              </a:rPr>
              <a:t>test_size</a:t>
            </a:r>
            <a:r>
              <a:rPr lang="en-GB" sz="1100" dirty="0">
                <a:latin typeface="+mj-lt"/>
              </a:rPr>
              <a:t> of 0.2 and a </a:t>
            </a:r>
            <a:r>
              <a:rPr lang="en-GB" sz="1100" dirty="0" err="1">
                <a:latin typeface="+mj-lt"/>
              </a:rPr>
              <a:t>random_state</a:t>
            </a:r>
            <a:r>
              <a:rPr lang="en-GB" sz="1100" dirty="0">
                <a:latin typeface="+mj-lt"/>
              </a:rPr>
              <a:t> of 42 for consistency.</a:t>
            </a:r>
          </a:p>
          <a:p>
            <a:r>
              <a:rPr lang="en-GB" sz="1100" b="1" dirty="0">
                <a:latin typeface="+mj-lt"/>
              </a:rPr>
              <a:t>6. Train a Regression Model:</a:t>
            </a:r>
            <a:endParaRPr lang="en-GB" sz="1100" dirty="0">
              <a:latin typeface="+mj-lt"/>
            </a:endParaRPr>
          </a:p>
          <a:p>
            <a:pPr lvl="1"/>
            <a:r>
              <a:rPr lang="en-GB" sz="1100" dirty="0">
                <a:latin typeface="+mj-lt"/>
              </a:rPr>
              <a:t>Import </a:t>
            </a:r>
            <a:r>
              <a:rPr lang="en-GB" sz="1100" dirty="0" err="1">
                <a:latin typeface="+mj-lt"/>
              </a:rPr>
              <a:t>LinearRegression</a:t>
            </a:r>
            <a:r>
              <a:rPr lang="en-GB" sz="1100" dirty="0">
                <a:latin typeface="+mj-lt"/>
              </a:rPr>
              <a:t> from </a:t>
            </a:r>
            <a:r>
              <a:rPr lang="en-GB" sz="1100" dirty="0" err="1">
                <a:latin typeface="+mj-lt"/>
              </a:rPr>
              <a:t>sklearn.linear_model</a:t>
            </a:r>
            <a:r>
              <a:rPr lang="en-GB" sz="1100" dirty="0">
                <a:latin typeface="+mj-lt"/>
              </a:rPr>
              <a:t>.</a:t>
            </a:r>
          </a:p>
          <a:p>
            <a:pPr lvl="1"/>
            <a:r>
              <a:rPr lang="en-GB" sz="1100" dirty="0">
                <a:latin typeface="+mj-lt"/>
              </a:rPr>
              <a:t>Create an instance of the model and train it on your training data (.fit()).</a:t>
            </a:r>
          </a:p>
          <a:p>
            <a:r>
              <a:rPr lang="en-GB" sz="1100" b="1" dirty="0">
                <a:latin typeface="+mj-lt"/>
              </a:rPr>
              <a:t>7. Evaluate the Regression Model:</a:t>
            </a:r>
            <a:endParaRPr lang="en-GB" sz="1100" dirty="0">
              <a:latin typeface="+mj-lt"/>
            </a:endParaRPr>
          </a:p>
          <a:p>
            <a:pPr lvl="1"/>
            <a:r>
              <a:rPr lang="en-GB" sz="1100" dirty="0">
                <a:latin typeface="+mj-lt"/>
              </a:rPr>
              <a:t>Make predictions on your </a:t>
            </a:r>
            <a:r>
              <a:rPr lang="en-GB" sz="1100" dirty="0" err="1">
                <a:latin typeface="+mj-lt"/>
              </a:rPr>
              <a:t>X_test</a:t>
            </a:r>
            <a:r>
              <a:rPr lang="en-GB" sz="1100" dirty="0">
                <a:latin typeface="+mj-lt"/>
              </a:rPr>
              <a:t> data.</a:t>
            </a:r>
          </a:p>
          <a:p>
            <a:pPr lvl="1"/>
            <a:r>
              <a:rPr lang="en-GB" sz="1100" dirty="0">
                <a:latin typeface="+mj-lt"/>
              </a:rPr>
              <a:t>Import and calculate the </a:t>
            </a:r>
            <a:r>
              <a:rPr lang="en-GB" sz="1100" b="1" dirty="0">
                <a:latin typeface="+mj-lt"/>
              </a:rPr>
              <a:t>Root Mean Squared Error (RMSE)</a:t>
            </a:r>
            <a:r>
              <a:rPr lang="en-GB" sz="1100" dirty="0">
                <a:latin typeface="+mj-lt"/>
              </a:rPr>
              <a:t> to see, on average, how far off your predictions were in dollars.</a:t>
            </a:r>
          </a:p>
          <a:p>
            <a:pPr marL="0" indent="0" eaLnBrk="0" fontAlgn="base" hangingPunct="0">
              <a:lnSpc>
                <a:spcPct val="100000"/>
              </a:lnSpc>
              <a:spcBef>
                <a:spcPct val="0"/>
              </a:spcBef>
              <a:spcAft>
                <a:spcPct val="0"/>
              </a:spcAft>
              <a:buFontTx/>
              <a:buChar char="•"/>
            </a:pPr>
            <a:endParaRPr kumimoji="0" lang="en-US" altLang="en-US" sz="1100" b="0" i="0" u="none" strike="noStrike" cap="none" normalizeH="0" baseline="0" dirty="0">
              <a:ln>
                <a:noFill/>
              </a:ln>
              <a:solidFill>
                <a:srgbClr val="1D1C1B"/>
              </a:solidFill>
              <a:effectLst/>
              <a:latin typeface="+mj-lt"/>
            </a:endParaRPr>
          </a:p>
        </p:txBody>
      </p:sp>
    </p:spTree>
    <p:extLst>
      <p:ext uri="{BB962C8B-B14F-4D97-AF65-F5344CB8AC3E}">
        <p14:creationId xmlns:p14="http://schemas.microsoft.com/office/powerpoint/2010/main" val="18722877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32D86-09C1-F99B-D0BA-063348F042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BB5926-4421-BD24-B793-FBD4171FC391}"/>
              </a:ext>
            </a:extLst>
          </p:cNvPr>
          <p:cNvSpPr>
            <a:spLocks noGrp="1"/>
          </p:cNvSpPr>
          <p:nvPr>
            <p:ph type="title"/>
          </p:nvPr>
        </p:nvSpPr>
        <p:spPr/>
        <p:txBody>
          <a:bodyPr/>
          <a:lstStyle/>
          <a:p>
            <a:r>
              <a:rPr lang="en-US" dirty="0"/>
              <a:t>Hints (2) – Part 2</a:t>
            </a:r>
          </a:p>
        </p:txBody>
      </p:sp>
      <p:sp>
        <p:nvSpPr>
          <p:cNvPr id="7" name="TextBox 6">
            <a:extLst>
              <a:ext uri="{FF2B5EF4-FFF2-40B4-BE49-F238E27FC236}">
                <a16:creationId xmlns:a16="http://schemas.microsoft.com/office/drawing/2014/main" id="{1F15D521-1C34-4F01-04E2-5748445F20F5}"/>
              </a:ext>
            </a:extLst>
          </p:cNvPr>
          <p:cNvSpPr txBox="1"/>
          <p:nvPr/>
        </p:nvSpPr>
        <p:spPr>
          <a:xfrm>
            <a:off x="326264" y="774019"/>
            <a:ext cx="8281881" cy="3416320"/>
          </a:xfrm>
          <a:prstGeom prst="rect">
            <a:avLst/>
          </a:prstGeom>
          <a:noFill/>
        </p:spPr>
        <p:txBody>
          <a:bodyPr wrap="square">
            <a:spAutoFit/>
          </a:bodyPr>
          <a:lstStyle/>
          <a:p>
            <a:r>
              <a:rPr lang="en-GB" b="1" dirty="0"/>
              <a:t>1. Define Features (X) and Target (y):</a:t>
            </a:r>
            <a:endParaRPr lang="en-GB" dirty="0"/>
          </a:p>
          <a:p>
            <a:pPr lvl="1"/>
            <a:r>
              <a:rPr lang="en-GB" dirty="0"/>
              <a:t>The target y is now the </a:t>
            </a:r>
            <a:r>
              <a:rPr lang="en-GB" dirty="0" err="1"/>
              <a:t>smoker_yes</a:t>
            </a:r>
            <a:r>
              <a:rPr lang="en-GB" dirty="0"/>
              <a:t> column.</a:t>
            </a:r>
          </a:p>
          <a:p>
            <a:pPr lvl="1"/>
            <a:r>
              <a:rPr lang="en-GB" dirty="0"/>
              <a:t>The features X will be </a:t>
            </a:r>
            <a:r>
              <a:rPr lang="en-GB" b="1" dirty="0"/>
              <a:t>all other columns</a:t>
            </a:r>
            <a:r>
              <a:rPr lang="en-GB" dirty="0"/>
              <a:t> in </a:t>
            </a:r>
            <a:r>
              <a:rPr lang="en-GB" dirty="0" err="1"/>
              <a:t>df_processed</a:t>
            </a:r>
            <a:r>
              <a:rPr lang="en-GB" dirty="0"/>
              <a:t>, but be careful </a:t>
            </a:r>
            <a:r>
              <a:rPr lang="en-GB" b="1" dirty="0"/>
              <a:t>not to include charges</a:t>
            </a:r>
            <a:r>
              <a:rPr lang="en-GB" dirty="0"/>
              <a:t>. Why? Because charges is heavily influenced by smoking, including it would be like giving the model the answer!</a:t>
            </a:r>
          </a:p>
          <a:p>
            <a:endParaRPr lang="en-GB" b="1" dirty="0"/>
          </a:p>
          <a:p>
            <a:r>
              <a:rPr lang="en-GB" b="1" dirty="0"/>
              <a:t>2. Split the Data:</a:t>
            </a:r>
            <a:endParaRPr lang="en-GB" dirty="0"/>
          </a:p>
          <a:p>
            <a:pPr lvl="1"/>
            <a:r>
              <a:rPr lang="en-GB" dirty="0"/>
              <a:t>Split this new X and y into training and testing sets, again using </a:t>
            </a:r>
            <a:r>
              <a:rPr lang="en-GB" dirty="0" err="1"/>
              <a:t>test_size</a:t>
            </a:r>
            <a:r>
              <a:rPr lang="en-GB" dirty="0"/>
              <a:t>=0.2 and </a:t>
            </a:r>
            <a:r>
              <a:rPr lang="en-GB" dirty="0" err="1"/>
              <a:t>random_state</a:t>
            </a:r>
            <a:r>
              <a:rPr lang="en-GB" dirty="0"/>
              <a:t>=42.</a:t>
            </a:r>
          </a:p>
          <a:p>
            <a:pPr lvl="1"/>
            <a:endParaRPr lang="en-GB" dirty="0"/>
          </a:p>
          <a:p>
            <a:r>
              <a:rPr lang="en-GB" b="1" dirty="0"/>
              <a:t>3. Train a Classification Model:</a:t>
            </a:r>
            <a:endParaRPr lang="en-GB" dirty="0"/>
          </a:p>
          <a:p>
            <a:pPr lvl="1"/>
            <a:r>
              <a:rPr lang="en-GB" dirty="0"/>
              <a:t>Import </a:t>
            </a:r>
            <a:r>
              <a:rPr lang="en-GB" dirty="0" err="1"/>
              <a:t>LogisticRegression</a:t>
            </a:r>
            <a:r>
              <a:rPr lang="en-GB" dirty="0"/>
              <a:t> from </a:t>
            </a:r>
            <a:r>
              <a:rPr lang="en-GB" dirty="0" err="1"/>
              <a:t>sklearn.linear_model</a:t>
            </a:r>
            <a:r>
              <a:rPr lang="en-GB" dirty="0"/>
              <a:t>.</a:t>
            </a:r>
          </a:p>
          <a:p>
            <a:pPr lvl="1"/>
            <a:r>
              <a:rPr lang="en-GB" dirty="0"/>
              <a:t>Create and train the model on your new training data.</a:t>
            </a:r>
          </a:p>
          <a:p>
            <a:pPr lvl="1"/>
            <a:endParaRPr lang="en-GB" dirty="0"/>
          </a:p>
          <a:p>
            <a:r>
              <a:rPr lang="en-GB" b="1" dirty="0"/>
              <a:t>4. Evaluate the Classification Model:</a:t>
            </a:r>
            <a:endParaRPr lang="en-GB" dirty="0"/>
          </a:p>
          <a:p>
            <a:pPr lvl="1"/>
            <a:r>
              <a:rPr lang="en-GB" dirty="0"/>
              <a:t>Make predictions on your test set.</a:t>
            </a:r>
          </a:p>
          <a:p>
            <a:pPr lvl="1"/>
            <a:r>
              <a:rPr lang="en-GB" dirty="0"/>
              <a:t>Calculate the </a:t>
            </a:r>
            <a:r>
              <a:rPr lang="en-GB" b="1" dirty="0"/>
              <a:t>accuracy score</a:t>
            </a:r>
            <a:r>
              <a:rPr lang="en-GB" dirty="0"/>
              <a:t>.</a:t>
            </a:r>
          </a:p>
          <a:p>
            <a:pPr lvl="1"/>
            <a:r>
              <a:rPr lang="en-GB" dirty="0"/>
              <a:t>Generate and display a </a:t>
            </a:r>
            <a:r>
              <a:rPr lang="en-GB" b="1" dirty="0"/>
              <a:t>confusion matrix</a:t>
            </a:r>
            <a:r>
              <a:rPr lang="en-GB" dirty="0"/>
              <a:t> to see what kind of errors your model is making.</a:t>
            </a:r>
          </a:p>
        </p:txBody>
      </p:sp>
    </p:spTree>
    <p:extLst>
      <p:ext uri="{BB962C8B-B14F-4D97-AF65-F5344CB8AC3E}">
        <p14:creationId xmlns:p14="http://schemas.microsoft.com/office/powerpoint/2010/main" val="371476447"/>
      </p:ext>
    </p:extLst>
  </p:cSld>
  <p:clrMapOvr>
    <a:masterClrMapping/>
  </p:clrMapOvr>
</p:sld>
</file>

<file path=ppt/theme/theme1.xml><?xml version="1.0" encoding="utf-8"?>
<a:theme xmlns:a="http://schemas.openxmlformats.org/drawingml/2006/main" name="Office Theme">
  <a:themeElements>
    <a:clrScheme name="Yellow">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44187</TotalTime>
  <Words>5112</Words>
  <Application>Microsoft Office PowerPoint</Application>
  <PresentationFormat>On-screen Show (16:9)</PresentationFormat>
  <Paragraphs>275</Paragraphs>
  <Slides>46</Slides>
  <Notes>0</Notes>
  <HiddenSlides>0</HiddenSlides>
  <MMClips>0</MMClips>
  <ScaleCrop>false</ScaleCrop>
  <HeadingPairs>
    <vt:vector size="6" baseType="variant">
      <vt:variant>
        <vt:lpstr>Fonts Used</vt:lpstr>
      </vt:variant>
      <vt:variant>
        <vt:i4>7</vt:i4>
      </vt:variant>
      <vt:variant>
        <vt:lpstr>Theme</vt:lpstr>
      </vt:variant>
      <vt:variant>
        <vt:i4>5</vt:i4>
      </vt:variant>
      <vt:variant>
        <vt:lpstr>Slide Titles</vt:lpstr>
      </vt:variant>
      <vt:variant>
        <vt:i4>46</vt:i4>
      </vt:variant>
    </vt:vector>
  </HeadingPairs>
  <TitlesOfParts>
    <vt:vector size="58" baseType="lpstr">
      <vt:lpstr>Arial</vt:lpstr>
      <vt:lpstr>Calibri</vt:lpstr>
      <vt:lpstr>Calibri Light</vt:lpstr>
      <vt:lpstr>Corbel</vt:lpstr>
      <vt:lpstr>Roboto</vt:lpstr>
      <vt:lpstr>Rockwell</vt:lpstr>
      <vt:lpstr>Rockwell Condensed</vt:lpstr>
      <vt:lpstr>Office Theme</vt:lpstr>
      <vt:lpstr>Custom Design</vt:lpstr>
      <vt:lpstr>1_Custom Design</vt:lpstr>
      <vt:lpstr>2_Custom Design</vt:lpstr>
      <vt:lpstr>3_Custom Design</vt:lpstr>
      <vt:lpstr>FIN7830 Financial Computing with Python</vt:lpstr>
      <vt:lpstr>Agenda</vt:lpstr>
      <vt:lpstr>Topic Modeling </vt:lpstr>
      <vt:lpstr>Beyond Sentiment - What Are People Talking About?</vt:lpstr>
      <vt:lpstr>Introduction to Topic Modeling </vt:lpstr>
      <vt:lpstr>The Topic Modeling Workflow with Scikit-Learn </vt:lpstr>
      <vt:lpstr>The Algorithm: Latent Dirichlet Allocation (LDA) </vt:lpstr>
      <vt:lpstr>The Intuition of LDA (A Simplified Walkthrough)</vt:lpstr>
      <vt:lpstr>Step 1: Random Assignment </vt:lpstr>
      <vt:lpstr>Step 2: Iterative Improvement (The "Thinking" Part) </vt:lpstr>
      <vt:lpstr>Step 3: Convergence </vt:lpstr>
      <vt:lpstr>Step 4: The Final Output </vt:lpstr>
      <vt:lpstr>Recap: Where We Left Off (Topic 7)</vt:lpstr>
      <vt:lpstr>The Limitations</vt:lpstr>
      <vt:lpstr>PowerPoint Presentation</vt:lpstr>
      <vt:lpstr>The Answer: Machine Learning (ML)</vt:lpstr>
      <vt:lpstr>Supervised vs. Unsupervised Learning</vt:lpstr>
      <vt:lpstr>PowerPoint Presentation</vt:lpstr>
      <vt:lpstr>Supervised Learning (Our focus today)</vt:lpstr>
      <vt:lpstr>Supervised Machine Learning</vt:lpstr>
      <vt:lpstr>Supervised Learning: Classification vs. Regression  </vt:lpstr>
      <vt:lpstr>Regression</vt:lpstr>
      <vt:lpstr>The Core Machine Learning Workflow with Scikit-Learn </vt:lpstr>
      <vt:lpstr>5 Step Process for supervised learning</vt:lpstr>
      <vt:lpstr>Demo Exercise 1: A Simple Stock Price Prediction (Regression) </vt:lpstr>
      <vt:lpstr>Recap on metrics</vt:lpstr>
      <vt:lpstr>Explanation on the ouputs</vt:lpstr>
      <vt:lpstr>More Explanation</vt:lpstr>
      <vt:lpstr>The Interpretation would be…</vt:lpstr>
      <vt:lpstr>Your simple exercise 1</vt:lpstr>
      <vt:lpstr>Your Task 1</vt:lpstr>
      <vt:lpstr>Your Task 1</vt:lpstr>
      <vt:lpstr>Task 2: Discussion Questions</vt:lpstr>
      <vt:lpstr>Answers</vt:lpstr>
      <vt:lpstr>Answers</vt:lpstr>
      <vt:lpstr>Answers</vt:lpstr>
      <vt:lpstr>Demo Exercise 2: Introduction to ML Classification </vt:lpstr>
      <vt:lpstr>Step 1: Setup and Data Loading </vt:lpstr>
      <vt:lpstr>Step 2: Prepare the Data for Modeling </vt:lpstr>
      <vt:lpstr>Step 3: Train the Classification Model </vt:lpstr>
      <vt:lpstr>Step 4: Evaluation</vt:lpstr>
      <vt:lpstr>Step 4: Evaluation</vt:lpstr>
      <vt:lpstr>Confusion Matrix</vt:lpstr>
      <vt:lpstr>Capstone Exercise (in Class Submission)</vt:lpstr>
      <vt:lpstr>Hints (1) – Part 1</vt:lpstr>
      <vt:lpstr>Hints (2) – Part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Dimple R. THADANI</cp:lastModifiedBy>
  <cp:revision>140</cp:revision>
  <dcterms:created xsi:type="dcterms:W3CDTF">2019-07-26T04:07:43Z</dcterms:created>
  <dcterms:modified xsi:type="dcterms:W3CDTF">2025-11-19T07:19:06Z</dcterms:modified>
</cp:coreProperties>
</file>